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63" r:id="rId2"/>
    <p:sldId id="265" r:id="rId3"/>
    <p:sldId id="269" r:id="rId4"/>
    <p:sldId id="264" r:id="rId5"/>
    <p:sldId id="271" r:id="rId6"/>
    <p:sldId id="270" r:id="rId7"/>
    <p:sldId id="268" r:id="rId8"/>
    <p:sldId id="267" r:id="rId9"/>
    <p:sldId id="256" r:id="rId10"/>
    <p:sldId id="258" r:id="rId11"/>
    <p:sldId id="259" r:id="rId12"/>
    <p:sldId id="273" r:id="rId13"/>
    <p:sldId id="274" r:id="rId14"/>
    <p:sldId id="260" r:id="rId15"/>
    <p:sldId id="261" r:id="rId16"/>
    <p:sldId id="262" r:id="rId17"/>
    <p:sldId id="266" r:id="rId18"/>
    <p:sldId id="272"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94A50EC-F948-A541-8DBD-599AC2BB4F92}" v="83" dt="2026-09-10T04:27:47.98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229"/>
    <p:restoredTop sz="94700"/>
  </p:normalViewPr>
  <p:slideViewPr>
    <p:cSldViewPr snapToGrid="0">
      <p:cViewPr>
        <p:scale>
          <a:sx n="109" d="100"/>
          <a:sy n="109" d="100"/>
        </p:scale>
        <p:origin x="1840" y="202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138CD37-91C6-834A-B748-C0753FA6B29E}" type="datetimeFigureOut">
              <a:rPr lang="en-US" smtClean="0"/>
              <a:t>9/9/26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DF16C41-5F25-594B-B552-3B64207DDF32}" type="slidenum">
              <a:rPr lang="en-US" smtClean="0"/>
              <a:t>‹#›</a:t>
            </a:fld>
            <a:endParaRPr lang="en-US"/>
          </a:p>
        </p:txBody>
      </p:sp>
    </p:spTree>
    <p:extLst>
      <p:ext uri="{BB962C8B-B14F-4D97-AF65-F5344CB8AC3E}">
        <p14:creationId xmlns:p14="http://schemas.microsoft.com/office/powerpoint/2010/main" val="152047715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DF16C41-5F25-594B-B552-3B64207DDF32}" type="slidenum">
              <a:rPr lang="en-US" smtClean="0"/>
              <a:t>1</a:t>
            </a:fld>
            <a:endParaRPr lang="en-US"/>
          </a:p>
        </p:txBody>
      </p:sp>
    </p:spTree>
    <p:extLst>
      <p:ext uri="{BB962C8B-B14F-4D97-AF65-F5344CB8AC3E}">
        <p14:creationId xmlns:p14="http://schemas.microsoft.com/office/powerpoint/2010/main" val="417933231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https://www.youtube.com/watch?v=95XrWA6-UFM</a:t>
            </a:r>
          </a:p>
          <a:p>
            <a:r>
              <a:rPr lang="en-US"/>
              <a:t>https://www.youtube.com/watch?v=6_BcCthVvb8</a:t>
            </a:r>
          </a:p>
          <a:p>
            <a:r>
              <a:rPr lang="en-US"/>
              <a:t>https://www.youtube.com/watch?v=8HIoZV7qlwA</a:t>
            </a:r>
          </a:p>
          <a:p>
            <a:r>
              <a:rPr lang="en-US"/>
              <a:t>https://www.youtube.com/watch?v=HI2q3ci3Iuc</a:t>
            </a:r>
          </a:p>
        </p:txBody>
      </p:sp>
      <p:sp>
        <p:nvSpPr>
          <p:cNvPr id="4" name="Slide Number Placeholder 3"/>
          <p:cNvSpPr>
            <a:spLocks noGrp="1"/>
          </p:cNvSpPr>
          <p:nvPr>
            <p:ph type="sldNum" sz="quarter" idx="5"/>
          </p:nvPr>
        </p:nvSpPr>
        <p:spPr/>
        <p:txBody>
          <a:bodyPr/>
          <a:lstStyle/>
          <a:p>
            <a:fld id="{4DF16C41-5F25-594B-B552-3B64207DDF32}" type="slidenum">
              <a:rPr lang="en-US" smtClean="0"/>
              <a:t>2</a:t>
            </a:fld>
            <a:endParaRPr lang="en-US"/>
          </a:p>
        </p:txBody>
      </p:sp>
    </p:spTree>
    <p:extLst>
      <p:ext uri="{BB962C8B-B14F-4D97-AF65-F5344CB8AC3E}">
        <p14:creationId xmlns:p14="http://schemas.microsoft.com/office/powerpoint/2010/main" val="411642497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https://www.langchain.com/blog/how-to-build-a-custom-agent-harness</a:t>
            </a:r>
          </a:p>
          <a:p>
            <a:r>
              <a:rPr lang="en-US"/>
              <a:t>https://www.langchain.com/blog/choosing-the-right-multi-agent-architecture</a:t>
            </a:r>
          </a:p>
          <a:p>
            <a:r>
              <a:rPr lang="en-US"/>
              <a:t>https://www.langchain.com/blog/the-anatomy-of-an-agent-harness</a:t>
            </a:r>
          </a:p>
          <a:p>
            <a:r>
              <a:rPr lang="en-US"/>
              <a:t>https://www.langchain.com/blog/organizing-context-in-a-multi-agent-harness</a:t>
            </a:r>
          </a:p>
        </p:txBody>
      </p:sp>
      <p:sp>
        <p:nvSpPr>
          <p:cNvPr id="4" name="Slide Number Placeholder 3"/>
          <p:cNvSpPr>
            <a:spLocks noGrp="1"/>
          </p:cNvSpPr>
          <p:nvPr>
            <p:ph type="sldNum" sz="quarter" idx="5"/>
          </p:nvPr>
        </p:nvSpPr>
        <p:spPr/>
        <p:txBody>
          <a:bodyPr/>
          <a:lstStyle/>
          <a:p>
            <a:fld id="{4DF16C41-5F25-594B-B552-3B64207DDF32}" type="slidenum">
              <a:rPr lang="en-US" smtClean="0"/>
              <a:t>6</a:t>
            </a:fld>
            <a:endParaRPr lang="en-US"/>
          </a:p>
        </p:txBody>
      </p:sp>
    </p:spTree>
    <p:extLst>
      <p:ext uri="{BB962C8B-B14F-4D97-AF65-F5344CB8AC3E}">
        <p14:creationId xmlns:p14="http://schemas.microsoft.com/office/powerpoint/2010/main" val="201533687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61378E-C9B6-9746-EB72-EB3545713FB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5E82E623-D6BB-B35F-9E2B-07FB1AFA085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C62FAE6-BBA9-B49C-4FC6-15C249B69F26}"/>
              </a:ext>
            </a:extLst>
          </p:cNvPr>
          <p:cNvSpPr>
            <a:spLocks noGrp="1"/>
          </p:cNvSpPr>
          <p:nvPr>
            <p:ph type="dt" sz="half" idx="10"/>
          </p:nvPr>
        </p:nvSpPr>
        <p:spPr/>
        <p:txBody>
          <a:bodyPr/>
          <a:lstStyle/>
          <a:p>
            <a:fld id="{18974E4A-7E4C-EF45-9C1F-1075B2971592}" type="datetimeFigureOut">
              <a:rPr lang="en-US" smtClean="0"/>
              <a:t>9/9/26</a:t>
            </a:fld>
            <a:endParaRPr lang="en-US"/>
          </a:p>
        </p:txBody>
      </p:sp>
      <p:sp>
        <p:nvSpPr>
          <p:cNvPr id="5" name="Footer Placeholder 4">
            <a:extLst>
              <a:ext uri="{FF2B5EF4-FFF2-40B4-BE49-F238E27FC236}">
                <a16:creationId xmlns:a16="http://schemas.microsoft.com/office/drawing/2014/main" id="{ADAD5626-5A51-41BA-86C9-9F09BEB7532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2B31FDC-FA9D-BD78-8CAC-ADA32BA6461F}"/>
              </a:ext>
            </a:extLst>
          </p:cNvPr>
          <p:cNvSpPr>
            <a:spLocks noGrp="1"/>
          </p:cNvSpPr>
          <p:nvPr>
            <p:ph type="sldNum" sz="quarter" idx="12"/>
          </p:nvPr>
        </p:nvSpPr>
        <p:spPr/>
        <p:txBody>
          <a:bodyPr/>
          <a:lstStyle/>
          <a:p>
            <a:fld id="{D59309E0-C9D7-AF4F-A8CC-A382806019EB}" type="slidenum">
              <a:rPr lang="en-US" smtClean="0"/>
              <a:t>‹#›</a:t>
            </a:fld>
            <a:endParaRPr lang="en-US"/>
          </a:p>
        </p:txBody>
      </p:sp>
    </p:spTree>
    <p:extLst>
      <p:ext uri="{BB962C8B-B14F-4D97-AF65-F5344CB8AC3E}">
        <p14:creationId xmlns:p14="http://schemas.microsoft.com/office/powerpoint/2010/main" val="5129247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16B883-F322-7165-F4D2-38AEED29E23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6ACD751-247F-6E55-7D83-C8EEEAA557D2}"/>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51F8AC7-3A6E-C087-70AF-F88DE9D29293}"/>
              </a:ext>
            </a:extLst>
          </p:cNvPr>
          <p:cNvSpPr>
            <a:spLocks noGrp="1"/>
          </p:cNvSpPr>
          <p:nvPr>
            <p:ph type="dt" sz="half" idx="10"/>
          </p:nvPr>
        </p:nvSpPr>
        <p:spPr/>
        <p:txBody>
          <a:bodyPr/>
          <a:lstStyle/>
          <a:p>
            <a:fld id="{18974E4A-7E4C-EF45-9C1F-1075B2971592}" type="datetimeFigureOut">
              <a:rPr lang="en-US" smtClean="0"/>
              <a:t>9/9/26</a:t>
            </a:fld>
            <a:endParaRPr lang="en-US"/>
          </a:p>
        </p:txBody>
      </p:sp>
      <p:sp>
        <p:nvSpPr>
          <p:cNvPr id="5" name="Footer Placeholder 4">
            <a:extLst>
              <a:ext uri="{FF2B5EF4-FFF2-40B4-BE49-F238E27FC236}">
                <a16:creationId xmlns:a16="http://schemas.microsoft.com/office/drawing/2014/main" id="{535777CF-0397-9C24-AE04-871D9FC2C7A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C0B8409-CBC5-FD10-9035-416468449379}"/>
              </a:ext>
            </a:extLst>
          </p:cNvPr>
          <p:cNvSpPr>
            <a:spLocks noGrp="1"/>
          </p:cNvSpPr>
          <p:nvPr>
            <p:ph type="sldNum" sz="quarter" idx="12"/>
          </p:nvPr>
        </p:nvSpPr>
        <p:spPr/>
        <p:txBody>
          <a:bodyPr/>
          <a:lstStyle/>
          <a:p>
            <a:fld id="{D59309E0-C9D7-AF4F-A8CC-A382806019EB}" type="slidenum">
              <a:rPr lang="en-US" smtClean="0"/>
              <a:t>‹#›</a:t>
            </a:fld>
            <a:endParaRPr lang="en-US"/>
          </a:p>
        </p:txBody>
      </p:sp>
    </p:spTree>
    <p:extLst>
      <p:ext uri="{BB962C8B-B14F-4D97-AF65-F5344CB8AC3E}">
        <p14:creationId xmlns:p14="http://schemas.microsoft.com/office/powerpoint/2010/main" val="3045480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1B4BDA-64C7-5656-2B11-D9C60D0BBC7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7A0CF7D1-126A-70FF-91B3-A63B909F8060}"/>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7636B29-228F-D821-C7D3-CCA4E8E77D91}"/>
              </a:ext>
            </a:extLst>
          </p:cNvPr>
          <p:cNvSpPr>
            <a:spLocks noGrp="1"/>
          </p:cNvSpPr>
          <p:nvPr>
            <p:ph type="dt" sz="half" idx="10"/>
          </p:nvPr>
        </p:nvSpPr>
        <p:spPr/>
        <p:txBody>
          <a:bodyPr/>
          <a:lstStyle/>
          <a:p>
            <a:fld id="{18974E4A-7E4C-EF45-9C1F-1075B2971592}" type="datetimeFigureOut">
              <a:rPr lang="en-US" smtClean="0"/>
              <a:t>9/9/26</a:t>
            </a:fld>
            <a:endParaRPr lang="en-US"/>
          </a:p>
        </p:txBody>
      </p:sp>
      <p:sp>
        <p:nvSpPr>
          <p:cNvPr id="5" name="Footer Placeholder 4">
            <a:extLst>
              <a:ext uri="{FF2B5EF4-FFF2-40B4-BE49-F238E27FC236}">
                <a16:creationId xmlns:a16="http://schemas.microsoft.com/office/drawing/2014/main" id="{94C1C8C5-D991-2EF3-1CE6-4BD8C76BAEA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C610C4E-2E13-AE54-F098-F82449664CDE}"/>
              </a:ext>
            </a:extLst>
          </p:cNvPr>
          <p:cNvSpPr>
            <a:spLocks noGrp="1"/>
          </p:cNvSpPr>
          <p:nvPr>
            <p:ph type="sldNum" sz="quarter" idx="12"/>
          </p:nvPr>
        </p:nvSpPr>
        <p:spPr/>
        <p:txBody>
          <a:bodyPr/>
          <a:lstStyle/>
          <a:p>
            <a:fld id="{D59309E0-C9D7-AF4F-A8CC-A382806019EB}" type="slidenum">
              <a:rPr lang="en-US" smtClean="0"/>
              <a:t>‹#›</a:t>
            </a:fld>
            <a:endParaRPr lang="en-US"/>
          </a:p>
        </p:txBody>
      </p:sp>
    </p:spTree>
    <p:extLst>
      <p:ext uri="{BB962C8B-B14F-4D97-AF65-F5344CB8AC3E}">
        <p14:creationId xmlns:p14="http://schemas.microsoft.com/office/powerpoint/2010/main" val="401952347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DEDD2C-684E-2F9E-ADC1-ED236FEDDAC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556B427-2B57-AE42-2529-34DD5343383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770367E-83EF-C40E-E6E2-BF021682091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8B84502-B4E9-BA10-4475-AA8D5797EC3E}"/>
              </a:ext>
            </a:extLst>
          </p:cNvPr>
          <p:cNvSpPr>
            <a:spLocks noGrp="1"/>
          </p:cNvSpPr>
          <p:nvPr>
            <p:ph type="dt" sz="half" idx="10"/>
          </p:nvPr>
        </p:nvSpPr>
        <p:spPr/>
        <p:txBody>
          <a:bodyPr/>
          <a:lstStyle/>
          <a:p>
            <a:fld id="{18974E4A-7E4C-EF45-9C1F-1075B2971592}" type="datetimeFigureOut">
              <a:rPr lang="en-US" smtClean="0"/>
              <a:t>9/9/26</a:t>
            </a:fld>
            <a:endParaRPr lang="en-US"/>
          </a:p>
        </p:txBody>
      </p:sp>
      <p:sp>
        <p:nvSpPr>
          <p:cNvPr id="6" name="Footer Placeholder 5">
            <a:extLst>
              <a:ext uri="{FF2B5EF4-FFF2-40B4-BE49-F238E27FC236}">
                <a16:creationId xmlns:a16="http://schemas.microsoft.com/office/drawing/2014/main" id="{39F76192-0570-E425-61DD-EFC3193EFEA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6013B4B-A932-8E7C-7BB5-17133D84DC0C}"/>
              </a:ext>
            </a:extLst>
          </p:cNvPr>
          <p:cNvSpPr>
            <a:spLocks noGrp="1"/>
          </p:cNvSpPr>
          <p:nvPr>
            <p:ph type="sldNum" sz="quarter" idx="12"/>
          </p:nvPr>
        </p:nvSpPr>
        <p:spPr/>
        <p:txBody>
          <a:bodyPr/>
          <a:lstStyle/>
          <a:p>
            <a:fld id="{D59309E0-C9D7-AF4F-A8CC-A382806019EB}" type="slidenum">
              <a:rPr lang="en-US" smtClean="0"/>
              <a:t>‹#›</a:t>
            </a:fld>
            <a:endParaRPr lang="en-US"/>
          </a:p>
        </p:txBody>
      </p:sp>
    </p:spTree>
    <p:extLst>
      <p:ext uri="{BB962C8B-B14F-4D97-AF65-F5344CB8AC3E}">
        <p14:creationId xmlns:p14="http://schemas.microsoft.com/office/powerpoint/2010/main" val="225392634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7FD65D-FA38-FF56-C18C-F991CC8C873B}"/>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FC5683E-D6A5-D10B-3ABB-D278A8D50D2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69EA39E-81A5-059A-1926-10B855E1798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D967F43-6667-C5A0-2081-16E18371DA3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D9B5AC1-FA0E-B36C-888E-6095DE724E5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508D3B3-9FEC-EC09-52A5-580805144597}"/>
              </a:ext>
            </a:extLst>
          </p:cNvPr>
          <p:cNvSpPr>
            <a:spLocks noGrp="1"/>
          </p:cNvSpPr>
          <p:nvPr>
            <p:ph type="dt" sz="half" idx="10"/>
          </p:nvPr>
        </p:nvSpPr>
        <p:spPr/>
        <p:txBody>
          <a:bodyPr/>
          <a:lstStyle/>
          <a:p>
            <a:fld id="{18974E4A-7E4C-EF45-9C1F-1075B2971592}" type="datetimeFigureOut">
              <a:rPr lang="en-US" smtClean="0"/>
              <a:t>9/9/26</a:t>
            </a:fld>
            <a:endParaRPr lang="en-US"/>
          </a:p>
        </p:txBody>
      </p:sp>
      <p:sp>
        <p:nvSpPr>
          <p:cNvPr id="8" name="Footer Placeholder 7">
            <a:extLst>
              <a:ext uri="{FF2B5EF4-FFF2-40B4-BE49-F238E27FC236}">
                <a16:creationId xmlns:a16="http://schemas.microsoft.com/office/drawing/2014/main" id="{0B6CA664-EC63-771B-2DE3-9BA4C9A89C2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1B7E44C-2956-CA7E-FD12-0D73F9D32486}"/>
              </a:ext>
            </a:extLst>
          </p:cNvPr>
          <p:cNvSpPr>
            <a:spLocks noGrp="1"/>
          </p:cNvSpPr>
          <p:nvPr>
            <p:ph type="sldNum" sz="quarter" idx="12"/>
          </p:nvPr>
        </p:nvSpPr>
        <p:spPr/>
        <p:txBody>
          <a:bodyPr/>
          <a:lstStyle/>
          <a:p>
            <a:fld id="{D59309E0-C9D7-AF4F-A8CC-A382806019EB}" type="slidenum">
              <a:rPr lang="en-US" smtClean="0"/>
              <a:t>‹#›</a:t>
            </a:fld>
            <a:endParaRPr lang="en-US"/>
          </a:p>
        </p:txBody>
      </p:sp>
    </p:spTree>
    <p:extLst>
      <p:ext uri="{BB962C8B-B14F-4D97-AF65-F5344CB8AC3E}">
        <p14:creationId xmlns:p14="http://schemas.microsoft.com/office/powerpoint/2010/main" val="252248434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B707CF-C829-C3D4-7FFF-B8214016DFA1}"/>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89487E04-FD44-0E5D-35FF-8BEA0EABAB86}"/>
              </a:ext>
            </a:extLst>
          </p:cNvPr>
          <p:cNvSpPr>
            <a:spLocks noGrp="1"/>
          </p:cNvSpPr>
          <p:nvPr>
            <p:ph type="dt" sz="half" idx="10"/>
          </p:nvPr>
        </p:nvSpPr>
        <p:spPr/>
        <p:txBody>
          <a:bodyPr/>
          <a:lstStyle/>
          <a:p>
            <a:fld id="{18974E4A-7E4C-EF45-9C1F-1075B2971592}" type="datetimeFigureOut">
              <a:rPr lang="en-US" smtClean="0"/>
              <a:t>9/9/26</a:t>
            </a:fld>
            <a:endParaRPr lang="en-US"/>
          </a:p>
        </p:txBody>
      </p:sp>
      <p:sp>
        <p:nvSpPr>
          <p:cNvPr id="4" name="Footer Placeholder 3">
            <a:extLst>
              <a:ext uri="{FF2B5EF4-FFF2-40B4-BE49-F238E27FC236}">
                <a16:creationId xmlns:a16="http://schemas.microsoft.com/office/drawing/2014/main" id="{8513C6E8-D814-51BF-40E4-103498A62BF6}"/>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E145369E-ED36-37AA-079C-B0420AA626FA}"/>
              </a:ext>
            </a:extLst>
          </p:cNvPr>
          <p:cNvSpPr>
            <a:spLocks noGrp="1"/>
          </p:cNvSpPr>
          <p:nvPr>
            <p:ph type="sldNum" sz="quarter" idx="12"/>
          </p:nvPr>
        </p:nvSpPr>
        <p:spPr/>
        <p:txBody>
          <a:bodyPr/>
          <a:lstStyle/>
          <a:p>
            <a:fld id="{D59309E0-C9D7-AF4F-A8CC-A382806019EB}" type="slidenum">
              <a:rPr lang="en-US" smtClean="0"/>
              <a:t>‹#›</a:t>
            </a:fld>
            <a:endParaRPr lang="en-US"/>
          </a:p>
        </p:txBody>
      </p:sp>
    </p:spTree>
    <p:extLst>
      <p:ext uri="{BB962C8B-B14F-4D97-AF65-F5344CB8AC3E}">
        <p14:creationId xmlns:p14="http://schemas.microsoft.com/office/powerpoint/2010/main" val="5080795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89FF471-4E75-8394-B1E9-87E4120F5B07}"/>
              </a:ext>
            </a:extLst>
          </p:cNvPr>
          <p:cNvSpPr>
            <a:spLocks noGrp="1"/>
          </p:cNvSpPr>
          <p:nvPr>
            <p:ph type="dt" sz="half" idx="10"/>
          </p:nvPr>
        </p:nvSpPr>
        <p:spPr/>
        <p:txBody>
          <a:bodyPr/>
          <a:lstStyle/>
          <a:p>
            <a:fld id="{18974E4A-7E4C-EF45-9C1F-1075B2971592}" type="datetimeFigureOut">
              <a:rPr lang="en-US" smtClean="0"/>
              <a:t>9/9/26</a:t>
            </a:fld>
            <a:endParaRPr lang="en-US"/>
          </a:p>
        </p:txBody>
      </p:sp>
      <p:sp>
        <p:nvSpPr>
          <p:cNvPr id="3" name="Footer Placeholder 2">
            <a:extLst>
              <a:ext uri="{FF2B5EF4-FFF2-40B4-BE49-F238E27FC236}">
                <a16:creationId xmlns:a16="http://schemas.microsoft.com/office/drawing/2014/main" id="{22F92310-2C28-64E9-5108-31034B792BCD}"/>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0257516-B795-C73A-8EED-FBC4EAA118D5}"/>
              </a:ext>
            </a:extLst>
          </p:cNvPr>
          <p:cNvSpPr>
            <a:spLocks noGrp="1"/>
          </p:cNvSpPr>
          <p:nvPr>
            <p:ph type="sldNum" sz="quarter" idx="12"/>
          </p:nvPr>
        </p:nvSpPr>
        <p:spPr/>
        <p:txBody>
          <a:bodyPr/>
          <a:lstStyle/>
          <a:p>
            <a:fld id="{D59309E0-C9D7-AF4F-A8CC-A382806019EB}" type="slidenum">
              <a:rPr lang="en-US" smtClean="0"/>
              <a:t>‹#›</a:t>
            </a:fld>
            <a:endParaRPr lang="en-US"/>
          </a:p>
        </p:txBody>
      </p:sp>
    </p:spTree>
    <p:extLst>
      <p:ext uri="{BB962C8B-B14F-4D97-AF65-F5344CB8AC3E}">
        <p14:creationId xmlns:p14="http://schemas.microsoft.com/office/powerpoint/2010/main" val="138632679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17D097-5933-3F61-72F7-824EAD4A4F3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48ED7D8-D4DE-7771-300B-0920B685C06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A49C9CA9-905C-0E0E-9650-B09526395E0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F7A733D-C181-AB49-B33F-C1E5316261F3}"/>
              </a:ext>
            </a:extLst>
          </p:cNvPr>
          <p:cNvSpPr>
            <a:spLocks noGrp="1"/>
          </p:cNvSpPr>
          <p:nvPr>
            <p:ph type="dt" sz="half" idx="10"/>
          </p:nvPr>
        </p:nvSpPr>
        <p:spPr/>
        <p:txBody>
          <a:bodyPr/>
          <a:lstStyle/>
          <a:p>
            <a:fld id="{18974E4A-7E4C-EF45-9C1F-1075B2971592}" type="datetimeFigureOut">
              <a:rPr lang="en-US" smtClean="0"/>
              <a:t>9/9/26</a:t>
            </a:fld>
            <a:endParaRPr lang="en-US"/>
          </a:p>
        </p:txBody>
      </p:sp>
      <p:sp>
        <p:nvSpPr>
          <p:cNvPr id="6" name="Footer Placeholder 5">
            <a:extLst>
              <a:ext uri="{FF2B5EF4-FFF2-40B4-BE49-F238E27FC236}">
                <a16:creationId xmlns:a16="http://schemas.microsoft.com/office/drawing/2014/main" id="{DDFA67C6-D7CF-0258-6A3D-BBC61CACFCA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9FFA266-DB19-C434-BBD4-E7A06D60AA55}"/>
              </a:ext>
            </a:extLst>
          </p:cNvPr>
          <p:cNvSpPr>
            <a:spLocks noGrp="1"/>
          </p:cNvSpPr>
          <p:nvPr>
            <p:ph type="sldNum" sz="quarter" idx="12"/>
          </p:nvPr>
        </p:nvSpPr>
        <p:spPr/>
        <p:txBody>
          <a:bodyPr/>
          <a:lstStyle/>
          <a:p>
            <a:fld id="{D59309E0-C9D7-AF4F-A8CC-A382806019EB}" type="slidenum">
              <a:rPr lang="en-US" smtClean="0"/>
              <a:t>‹#›</a:t>
            </a:fld>
            <a:endParaRPr lang="en-US"/>
          </a:p>
        </p:txBody>
      </p:sp>
    </p:spTree>
    <p:extLst>
      <p:ext uri="{BB962C8B-B14F-4D97-AF65-F5344CB8AC3E}">
        <p14:creationId xmlns:p14="http://schemas.microsoft.com/office/powerpoint/2010/main" val="384909636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7B2ECF-A3D1-F655-A2BC-CEDB419B3EE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6EF7A1BC-9204-0CC1-EBB5-BD21313685B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6B71273-5C2B-15E9-B9E3-16C81ACF79C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A4A6CC0-EDC7-E095-703C-3314CA0B4928}"/>
              </a:ext>
            </a:extLst>
          </p:cNvPr>
          <p:cNvSpPr>
            <a:spLocks noGrp="1"/>
          </p:cNvSpPr>
          <p:nvPr>
            <p:ph type="dt" sz="half" idx="10"/>
          </p:nvPr>
        </p:nvSpPr>
        <p:spPr/>
        <p:txBody>
          <a:bodyPr/>
          <a:lstStyle/>
          <a:p>
            <a:fld id="{18974E4A-7E4C-EF45-9C1F-1075B2971592}" type="datetimeFigureOut">
              <a:rPr lang="en-US" smtClean="0"/>
              <a:t>9/9/26</a:t>
            </a:fld>
            <a:endParaRPr lang="en-US"/>
          </a:p>
        </p:txBody>
      </p:sp>
      <p:sp>
        <p:nvSpPr>
          <p:cNvPr id="6" name="Footer Placeholder 5">
            <a:extLst>
              <a:ext uri="{FF2B5EF4-FFF2-40B4-BE49-F238E27FC236}">
                <a16:creationId xmlns:a16="http://schemas.microsoft.com/office/drawing/2014/main" id="{820369DF-6475-F171-7E28-00C75F2059E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4259D13-CC54-CDE7-B4DA-CF9729FE1C44}"/>
              </a:ext>
            </a:extLst>
          </p:cNvPr>
          <p:cNvSpPr>
            <a:spLocks noGrp="1"/>
          </p:cNvSpPr>
          <p:nvPr>
            <p:ph type="sldNum" sz="quarter" idx="12"/>
          </p:nvPr>
        </p:nvSpPr>
        <p:spPr/>
        <p:txBody>
          <a:bodyPr/>
          <a:lstStyle/>
          <a:p>
            <a:fld id="{D59309E0-C9D7-AF4F-A8CC-A382806019EB}" type="slidenum">
              <a:rPr lang="en-US" smtClean="0"/>
              <a:t>‹#›</a:t>
            </a:fld>
            <a:endParaRPr lang="en-US"/>
          </a:p>
        </p:txBody>
      </p:sp>
    </p:spTree>
    <p:extLst>
      <p:ext uri="{BB962C8B-B14F-4D97-AF65-F5344CB8AC3E}">
        <p14:creationId xmlns:p14="http://schemas.microsoft.com/office/powerpoint/2010/main" val="40931435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B0A639-1F2B-1959-CD77-C2B4415A557E}"/>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2EF3C48-0216-8EBF-8A97-F254EC9D9ED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4C2F8D9-DCB2-01B1-20DD-D2A825723B39}"/>
              </a:ext>
            </a:extLst>
          </p:cNvPr>
          <p:cNvSpPr>
            <a:spLocks noGrp="1"/>
          </p:cNvSpPr>
          <p:nvPr>
            <p:ph type="dt" sz="half" idx="10"/>
          </p:nvPr>
        </p:nvSpPr>
        <p:spPr/>
        <p:txBody>
          <a:bodyPr/>
          <a:lstStyle/>
          <a:p>
            <a:fld id="{18974E4A-7E4C-EF45-9C1F-1075B2971592}" type="datetimeFigureOut">
              <a:rPr lang="en-US" smtClean="0"/>
              <a:t>9/9/26</a:t>
            </a:fld>
            <a:endParaRPr lang="en-US"/>
          </a:p>
        </p:txBody>
      </p:sp>
      <p:sp>
        <p:nvSpPr>
          <p:cNvPr id="5" name="Footer Placeholder 4">
            <a:extLst>
              <a:ext uri="{FF2B5EF4-FFF2-40B4-BE49-F238E27FC236}">
                <a16:creationId xmlns:a16="http://schemas.microsoft.com/office/drawing/2014/main" id="{C2ED2E32-0C50-1E99-CBC6-1A3B92BDEE6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88CE8F4-91B3-7BCA-C3F2-637B652CA707}"/>
              </a:ext>
            </a:extLst>
          </p:cNvPr>
          <p:cNvSpPr>
            <a:spLocks noGrp="1"/>
          </p:cNvSpPr>
          <p:nvPr>
            <p:ph type="sldNum" sz="quarter" idx="12"/>
          </p:nvPr>
        </p:nvSpPr>
        <p:spPr/>
        <p:txBody>
          <a:bodyPr/>
          <a:lstStyle/>
          <a:p>
            <a:fld id="{D59309E0-C9D7-AF4F-A8CC-A382806019EB}" type="slidenum">
              <a:rPr lang="en-US" smtClean="0"/>
              <a:t>‹#›</a:t>
            </a:fld>
            <a:endParaRPr lang="en-US"/>
          </a:p>
        </p:txBody>
      </p:sp>
    </p:spTree>
    <p:extLst>
      <p:ext uri="{BB962C8B-B14F-4D97-AF65-F5344CB8AC3E}">
        <p14:creationId xmlns:p14="http://schemas.microsoft.com/office/powerpoint/2010/main" val="426900171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9BDC169-395D-3836-D410-8786FF3521B2}"/>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D2838F93-01E9-655C-41FF-22B6EF1ED40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B5063B1-041C-7159-77BC-A70DFEC39C78}"/>
              </a:ext>
            </a:extLst>
          </p:cNvPr>
          <p:cNvSpPr>
            <a:spLocks noGrp="1"/>
          </p:cNvSpPr>
          <p:nvPr>
            <p:ph type="dt" sz="half" idx="10"/>
          </p:nvPr>
        </p:nvSpPr>
        <p:spPr/>
        <p:txBody>
          <a:bodyPr/>
          <a:lstStyle/>
          <a:p>
            <a:fld id="{18974E4A-7E4C-EF45-9C1F-1075B2971592}" type="datetimeFigureOut">
              <a:rPr lang="en-US" smtClean="0"/>
              <a:t>9/9/26</a:t>
            </a:fld>
            <a:endParaRPr lang="en-US"/>
          </a:p>
        </p:txBody>
      </p:sp>
      <p:sp>
        <p:nvSpPr>
          <p:cNvPr id="5" name="Footer Placeholder 4">
            <a:extLst>
              <a:ext uri="{FF2B5EF4-FFF2-40B4-BE49-F238E27FC236}">
                <a16:creationId xmlns:a16="http://schemas.microsoft.com/office/drawing/2014/main" id="{FC1CDD0A-533B-FDFB-9925-05DC7A045F2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B95B46D-35E9-79D4-59D2-CEA952F6C197}"/>
              </a:ext>
            </a:extLst>
          </p:cNvPr>
          <p:cNvSpPr>
            <a:spLocks noGrp="1"/>
          </p:cNvSpPr>
          <p:nvPr>
            <p:ph type="sldNum" sz="quarter" idx="12"/>
          </p:nvPr>
        </p:nvSpPr>
        <p:spPr/>
        <p:txBody>
          <a:bodyPr/>
          <a:lstStyle/>
          <a:p>
            <a:fld id="{D59309E0-C9D7-AF4F-A8CC-A382806019EB}" type="slidenum">
              <a:rPr lang="en-US" smtClean="0"/>
              <a:t>‹#›</a:t>
            </a:fld>
            <a:endParaRPr lang="en-US"/>
          </a:p>
        </p:txBody>
      </p:sp>
    </p:spTree>
    <p:extLst>
      <p:ext uri="{BB962C8B-B14F-4D97-AF65-F5344CB8AC3E}">
        <p14:creationId xmlns:p14="http://schemas.microsoft.com/office/powerpoint/2010/main" val="90374226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965ADD3-1157-DA3E-58EF-4C34DE99C0E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1468AB7-7135-5782-9772-B090BE21FF6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CC4A742-F61D-C005-B2CA-8D7B40B7AA5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18974E4A-7E4C-EF45-9C1F-1075B2971592}" type="datetimeFigureOut">
              <a:rPr lang="en-US" smtClean="0"/>
              <a:t>9/9/26</a:t>
            </a:fld>
            <a:endParaRPr lang="en-US"/>
          </a:p>
        </p:txBody>
      </p:sp>
      <p:sp>
        <p:nvSpPr>
          <p:cNvPr id="5" name="Footer Placeholder 4">
            <a:extLst>
              <a:ext uri="{FF2B5EF4-FFF2-40B4-BE49-F238E27FC236}">
                <a16:creationId xmlns:a16="http://schemas.microsoft.com/office/drawing/2014/main" id="{6A15416F-6BD1-12D5-FB65-E7313AB18495}"/>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B4D58EE7-A664-4A3B-6C03-6B9C04B42C2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D59309E0-C9D7-AF4F-A8CC-A382806019EB}" type="slidenum">
              <a:rPr lang="en-US" smtClean="0"/>
              <a:t>‹#›</a:t>
            </a:fld>
            <a:endParaRPr lang="en-US"/>
          </a:p>
        </p:txBody>
      </p:sp>
    </p:spTree>
    <p:extLst>
      <p:ext uri="{BB962C8B-B14F-4D97-AF65-F5344CB8AC3E}">
        <p14:creationId xmlns:p14="http://schemas.microsoft.com/office/powerpoint/2010/main" val="188766420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8" Type="http://schemas.openxmlformats.org/officeDocument/2006/relationships/hyperlink" Target="https://developers.cloudflare.com/agents/runtime/agents-api/" TargetMode="External"/><Relationship Id="rId13" Type="http://schemas.openxmlformats.org/officeDocument/2006/relationships/hyperlink" Target="https://developers.cloudflare.com/agents/runtime/communication/routing/" TargetMode="External"/><Relationship Id="rId18" Type="http://schemas.openxmlformats.org/officeDocument/2006/relationships/hyperlink" Target="https://www.ycombinator.com/" TargetMode="External"/><Relationship Id="rId26" Type="http://schemas.openxmlformats.org/officeDocument/2006/relationships/image" Target="../media/image6.png"/><Relationship Id="rId3" Type="http://schemas.openxmlformats.org/officeDocument/2006/relationships/hyperlink" Target="https://blog.cloudflare.com/build-your-own-vulnerability-harness/" TargetMode="External"/><Relationship Id="rId21" Type="http://schemas.openxmlformats.org/officeDocument/2006/relationships/hyperlink" Target="https://github.com/yc-software/qm" TargetMode="External"/><Relationship Id="rId7" Type="http://schemas.openxmlformats.org/officeDocument/2006/relationships/hyperlink" Target="https://developers.cloudflare.com/agents/harnesses/" TargetMode="External"/><Relationship Id="rId12" Type="http://schemas.openxmlformats.org/officeDocument/2006/relationships/hyperlink" Target="https://developers.cloudflare.com/agents/runtime/lifecycle/sessions/" TargetMode="External"/><Relationship Id="rId17" Type="http://schemas.openxmlformats.org/officeDocument/2006/relationships/hyperlink" Target="https://developers.cloudflare.com/agents/runtime/operations/observability/" TargetMode="External"/><Relationship Id="rId25" Type="http://schemas.openxmlformats.org/officeDocument/2006/relationships/hyperlink" Target="https://www.youtube.com/watch?v=HI2q3ci3Iuc" TargetMode="External"/><Relationship Id="rId2" Type="http://schemas.openxmlformats.org/officeDocument/2006/relationships/notesSlide" Target="../notesSlides/notesSlide2.xml"/><Relationship Id="rId16" Type="http://schemas.openxmlformats.org/officeDocument/2006/relationships/hyperlink" Target="https://developers.cloudflare.com/agents/runtime/execution/durable-execution/" TargetMode="External"/><Relationship Id="rId20" Type="http://schemas.openxmlformats.org/officeDocument/2006/relationships/hyperlink" Target="https://github.com/yc-software/pi" TargetMode="External"/><Relationship Id="rId1" Type="http://schemas.openxmlformats.org/officeDocument/2006/relationships/slideLayout" Target="../slideLayouts/slideLayout2.xml"/><Relationship Id="rId6" Type="http://schemas.openxmlformats.org/officeDocument/2006/relationships/hyperlink" Target="https://developers.cloudflare.com/workers/testing/test-harness/configure/" TargetMode="External"/><Relationship Id="rId11" Type="http://schemas.openxmlformats.org/officeDocument/2006/relationships/hyperlink" Target="https://developers.cloudflare.com/agents/runtime/lifecycle/state/" TargetMode="External"/><Relationship Id="rId24" Type="http://schemas.openxmlformats.org/officeDocument/2006/relationships/image" Target="../media/image5.png"/><Relationship Id="rId5" Type="http://schemas.openxmlformats.org/officeDocument/2006/relationships/hyperlink" Target="https://blog.cloudflare.com/agents-platform-flue-sdk/" TargetMode="External"/><Relationship Id="rId15" Type="http://schemas.openxmlformats.org/officeDocument/2006/relationships/hyperlink" Target="https://developers.cloudflare.com/agents/runtime/execution/schedule-tasks/" TargetMode="External"/><Relationship Id="rId23" Type="http://schemas.openxmlformats.org/officeDocument/2006/relationships/image" Target="../media/image4.png"/><Relationship Id="rId10" Type="http://schemas.openxmlformats.org/officeDocument/2006/relationships/hyperlink" Target="https://developers.cloudflare.com/agents/runtime/lifecycle/agent-class/" TargetMode="External"/><Relationship Id="rId19" Type="http://schemas.openxmlformats.org/officeDocument/2006/relationships/image" Target="../media/image3.png"/><Relationship Id="rId4" Type="http://schemas.openxmlformats.org/officeDocument/2006/relationships/hyperlink" Target="https://github.com/cloudflare/security-audit-skill" TargetMode="External"/><Relationship Id="rId9" Type="http://schemas.openxmlformats.org/officeDocument/2006/relationships/image" Target="../media/image2.png"/><Relationship Id="rId14" Type="http://schemas.openxmlformats.org/officeDocument/2006/relationships/hyperlink" Target="https://developers.cloudflare.com/agents/runtime/communication/websockets/" TargetMode="External"/><Relationship Id="rId22" Type="http://schemas.openxmlformats.org/officeDocument/2006/relationships/hyperlink" Target="https://www.ibm.com/think/perspectives/beyond-conversational-ai-why-forward-deployed-engineers-need-harness-for-real-execution"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hyperlink" Target="https://www.langchain.com/blog/deep-agents-vs-langchain-vs-langgraph"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12.png"/><Relationship Id="rId7" Type="http://schemas.openxmlformats.org/officeDocument/2006/relationships/image" Target="../media/image14.png"/><Relationship Id="rId2" Type="http://schemas.openxmlformats.org/officeDocument/2006/relationships/image" Target="../media/image11.png"/><Relationship Id="rId1" Type="http://schemas.openxmlformats.org/officeDocument/2006/relationships/slideLayout" Target="../slideLayouts/slideLayout2.xml"/><Relationship Id="rId6" Type="http://schemas.openxmlformats.org/officeDocument/2006/relationships/hyperlink" Target="https://www.youtube.com/watch?v=HI2q3ci3Iuc" TargetMode="External"/><Relationship Id="rId5" Type="http://schemas.openxmlformats.org/officeDocument/2006/relationships/hyperlink" Target="https://info.langchain.com/deep-agent?utm_campaign=evergreen_deep_agent_cv&amp;utm_campaign_id=23762885252&amp;utm_ad_group_id=193395386857&amp;utm_ad_id=810487493739&amp;utm_network=g&amp;utm_term=langchain%20deep%20agents&amp;utm_campaign=evergreen_agents_cv&amp;utm_source=google&amp;utm_medium=cpc&amp;hsa_acc=7906965105&amp;hsa_cam=23762885252&amp;hsa_grp=193395386857&amp;hsa_ad=810487493739&amp;hsa_src=g&amp;hsa_tgt=kwd-2436440199333&amp;hsa_kw=langchain%20deep%20agents&amp;hsa_mt=e&amp;hsa_net=adwords&amp;hsa_ver=3&amp;gad_source=1&amp;gad_campaignid=23762885252&amp;gbraid=0AAAAA-Pkieu2TQEUn6CFkmVFPChxjk_WM&amp;gclid=Cj0KCQjwh4TVBhCWARIsAG0czmobff5XRY-Z3w6O4JwjCZz5p1-LA2A0fY7iB7ny7aakiiambE4HqUoaAhGwEALw_wcB" TargetMode="External"/><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BE1DDF93-F2BD-5473-33BC-543947B51D84}"/>
              </a:ext>
            </a:extLst>
          </p:cNvPr>
          <p:cNvPicPr>
            <a:picLocks noChangeAspect="1"/>
          </p:cNvPicPr>
          <p:nvPr/>
        </p:nvPicPr>
        <p:blipFill>
          <a:blip r:embed="rId3"/>
          <a:stretch>
            <a:fillRect/>
          </a:stretch>
        </p:blipFill>
        <p:spPr>
          <a:xfrm>
            <a:off x="2209800" y="1589256"/>
            <a:ext cx="7772400" cy="3679487"/>
          </a:xfrm>
          <a:prstGeom prst="rect">
            <a:avLst/>
          </a:prstGeom>
        </p:spPr>
      </p:pic>
      <p:sp>
        <p:nvSpPr>
          <p:cNvPr id="5" name="TextBox 4">
            <a:extLst>
              <a:ext uri="{FF2B5EF4-FFF2-40B4-BE49-F238E27FC236}">
                <a16:creationId xmlns:a16="http://schemas.microsoft.com/office/drawing/2014/main" id="{50BC1D64-3ECA-DFEA-ECE7-0C40D64297A7}"/>
              </a:ext>
            </a:extLst>
          </p:cNvPr>
          <p:cNvSpPr txBox="1"/>
          <p:nvPr/>
        </p:nvSpPr>
        <p:spPr>
          <a:xfrm>
            <a:off x="2908663" y="609600"/>
            <a:ext cx="4221477" cy="369332"/>
          </a:xfrm>
          <a:prstGeom prst="rect">
            <a:avLst/>
          </a:prstGeom>
          <a:noFill/>
        </p:spPr>
        <p:txBody>
          <a:bodyPr wrap="none" rtlCol="0">
            <a:spAutoFit/>
          </a:bodyPr>
          <a:lstStyle/>
          <a:p>
            <a:r>
              <a:rPr lang="en-US"/>
              <a:t>NodeJS / JavaScript: Bundler, Framework</a:t>
            </a:r>
          </a:p>
        </p:txBody>
      </p:sp>
      <p:sp>
        <p:nvSpPr>
          <p:cNvPr id="6" name="TextBox 5">
            <a:extLst>
              <a:ext uri="{FF2B5EF4-FFF2-40B4-BE49-F238E27FC236}">
                <a16:creationId xmlns:a16="http://schemas.microsoft.com/office/drawing/2014/main" id="{92305950-D02E-DE7B-AB14-913B48428945}"/>
              </a:ext>
            </a:extLst>
          </p:cNvPr>
          <p:cNvSpPr txBox="1"/>
          <p:nvPr/>
        </p:nvSpPr>
        <p:spPr>
          <a:xfrm>
            <a:off x="4093029" y="5947954"/>
            <a:ext cx="4362092" cy="369332"/>
          </a:xfrm>
          <a:prstGeom prst="rect">
            <a:avLst/>
          </a:prstGeom>
          <a:noFill/>
        </p:spPr>
        <p:txBody>
          <a:bodyPr wrap="none" rtlCol="0">
            <a:spAutoFit/>
          </a:bodyPr>
          <a:lstStyle/>
          <a:p>
            <a:r>
              <a:rPr lang="en-US"/>
              <a:t>Same thing is happening to Agent Harness</a:t>
            </a:r>
          </a:p>
        </p:txBody>
      </p:sp>
    </p:spTree>
    <p:extLst>
      <p:ext uri="{BB962C8B-B14F-4D97-AF65-F5344CB8AC3E}">
        <p14:creationId xmlns:p14="http://schemas.microsoft.com/office/powerpoint/2010/main" val="195667537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5F157B3D-56C7-FFEC-59EE-55117F3AE1C4}"/>
              </a:ext>
            </a:extLst>
          </p:cNvPr>
          <p:cNvSpPr txBox="1"/>
          <p:nvPr/>
        </p:nvSpPr>
        <p:spPr>
          <a:xfrm>
            <a:off x="261257" y="147763"/>
            <a:ext cx="4598631" cy="369332"/>
          </a:xfrm>
          <a:prstGeom prst="rect">
            <a:avLst/>
          </a:prstGeom>
          <a:noFill/>
        </p:spPr>
        <p:txBody>
          <a:bodyPr wrap="none" rtlCol="0">
            <a:spAutoFit/>
          </a:bodyPr>
          <a:lstStyle/>
          <a:p>
            <a:r>
              <a:rPr lang="en-US"/>
              <a:t>Don’t confused AI harness with Test Harness</a:t>
            </a:r>
          </a:p>
        </p:txBody>
      </p:sp>
      <p:sp>
        <p:nvSpPr>
          <p:cNvPr id="8" name="TextBox 7">
            <a:extLst>
              <a:ext uri="{FF2B5EF4-FFF2-40B4-BE49-F238E27FC236}">
                <a16:creationId xmlns:a16="http://schemas.microsoft.com/office/drawing/2014/main" id="{05999701-6A10-60FF-4509-DAD676D63C26}"/>
              </a:ext>
            </a:extLst>
          </p:cNvPr>
          <p:cNvSpPr txBox="1"/>
          <p:nvPr/>
        </p:nvSpPr>
        <p:spPr>
          <a:xfrm>
            <a:off x="474835" y="1039228"/>
            <a:ext cx="3577890" cy="1107996"/>
          </a:xfrm>
          <a:prstGeom prst="rect">
            <a:avLst/>
          </a:prstGeom>
          <a:noFill/>
        </p:spPr>
        <p:txBody>
          <a:bodyPr wrap="square">
            <a:spAutoFit/>
          </a:bodyPr>
          <a:lstStyle/>
          <a:p>
            <a:pPr marL="285750" indent="-285750">
              <a:buFont typeface="Arial" panose="020B0604020202020204" pitchFamily="34" charset="0"/>
              <a:buChar char="•"/>
            </a:pPr>
            <a:r>
              <a:rPr lang="en-US" sz="1100">
                <a:hlinkClick r:id="rId3"/>
              </a:rPr>
              <a:t>Build your own vulnerability harness</a:t>
            </a:r>
            <a:endParaRPr lang="en-US" sz="1100"/>
          </a:p>
          <a:p>
            <a:pPr marL="285750" indent="-285750">
              <a:buFont typeface="Arial" panose="020B0604020202020204" pitchFamily="34" charset="0"/>
              <a:buChar char="•"/>
            </a:pPr>
            <a:r>
              <a:rPr lang="en-US" sz="1100">
                <a:hlinkClick r:id="rId4"/>
              </a:rPr>
              <a:t>Github Opensource security-audit-skill</a:t>
            </a:r>
            <a:endParaRPr lang="en-US" sz="1100"/>
          </a:p>
          <a:p>
            <a:pPr marL="285750" indent="-285750">
              <a:buFont typeface="Arial" panose="020B0604020202020204" pitchFamily="34" charset="0"/>
              <a:buChar char="•"/>
            </a:pPr>
            <a:r>
              <a:rPr lang="en-US" sz="1100">
                <a:hlinkClick r:id="rId5"/>
              </a:rPr>
              <a:t>Agent Platform SDK</a:t>
            </a:r>
            <a:endParaRPr lang="en-US" sz="1100"/>
          </a:p>
          <a:p>
            <a:pPr marL="285750" indent="-285750">
              <a:buFont typeface="Arial" panose="020B0604020202020204" pitchFamily="34" charset="0"/>
              <a:buChar char="•"/>
            </a:pPr>
            <a:r>
              <a:rPr lang="en-US" sz="1100">
                <a:hlinkClick r:id="rId6"/>
              </a:rPr>
              <a:t>Test Harness</a:t>
            </a:r>
            <a:endParaRPr lang="en-US" sz="1100"/>
          </a:p>
          <a:p>
            <a:pPr marL="285750" indent="-285750">
              <a:buFont typeface="Arial" panose="020B0604020202020204" pitchFamily="34" charset="0"/>
              <a:buChar char="•"/>
            </a:pPr>
            <a:r>
              <a:rPr lang="en-US" sz="1100">
                <a:hlinkClick r:id="rId7"/>
              </a:rPr>
              <a:t>Agent Harness</a:t>
            </a:r>
            <a:endParaRPr lang="en-US" sz="1100"/>
          </a:p>
          <a:p>
            <a:pPr marL="285750" indent="-285750">
              <a:buFont typeface="Arial" panose="020B0604020202020204" pitchFamily="34" charset="0"/>
              <a:buChar char="•"/>
            </a:pPr>
            <a:r>
              <a:rPr lang="en-US" sz="1100">
                <a:hlinkClick r:id="rId8"/>
              </a:rPr>
              <a:t>Agent API (Message API / Agent SDK runtime)</a:t>
            </a:r>
            <a:endParaRPr lang="en-US" sz="1100"/>
          </a:p>
        </p:txBody>
      </p:sp>
      <p:pic>
        <p:nvPicPr>
          <p:cNvPr id="11" name="Picture 10">
            <a:extLst>
              <a:ext uri="{FF2B5EF4-FFF2-40B4-BE49-F238E27FC236}">
                <a16:creationId xmlns:a16="http://schemas.microsoft.com/office/drawing/2014/main" id="{0FDDC6A2-4DE0-188B-2734-56E6E6EFA498}"/>
              </a:ext>
            </a:extLst>
          </p:cNvPr>
          <p:cNvPicPr>
            <a:picLocks noChangeAspect="1"/>
          </p:cNvPicPr>
          <p:nvPr/>
        </p:nvPicPr>
        <p:blipFill>
          <a:blip r:embed="rId9"/>
          <a:stretch>
            <a:fillRect/>
          </a:stretch>
        </p:blipFill>
        <p:spPr>
          <a:xfrm>
            <a:off x="400846" y="485054"/>
            <a:ext cx="964361" cy="478609"/>
          </a:xfrm>
          <a:prstGeom prst="rect">
            <a:avLst/>
          </a:prstGeom>
        </p:spPr>
      </p:pic>
      <p:sp>
        <p:nvSpPr>
          <p:cNvPr id="12" name="TextBox 11">
            <a:extLst>
              <a:ext uri="{FF2B5EF4-FFF2-40B4-BE49-F238E27FC236}">
                <a16:creationId xmlns:a16="http://schemas.microsoft.com/office/drawing/2014/main" id="{CD4A1E7B-0EE1-EF32-9492-BBC9CAA746B6}"/>
              </a:ext>
            </a:extLst>
          </p:cNvPr>
          <p:cNvSpPr txBox="1"/>
          <p:nvPr/>
        </p:nvSpPr>
        <p:spPr>
          <a:xfrm>
            <a:off x="1541669" y="624273"/>
            <a:ext cx="3185359" cy="307777"/>
          </a:xfrm>
          <a:prstGeom prst="rect">
            <a:avLst/>
          </a:prstGeom>
          <a:noFill/>
        </p:spPr>
        <p:txBody>
          <a:bodyPr wrap="none" rtlCol="0">
            <a:spAutoFit/>
          </a:bodyPr>
          <a:lstStyle/>
          <a:p>
            <a:r>
              <a:rPr lang="en-US" sz="1400"/>
              <a:t>Cloudflare is invested in Agent harness</a:t>
            </a:r>
          </a:p>
        </p:txBody>
      </p:sp>
      <p:sp>
        <p:nvSpPr>
          <p:cNvPr id="14" name="TextBox 13">
            <a:extLst>
              <a:ext uri="{FF2B5EF4-FFF2-40B4-BE49-F238E27FC236}">
                <a16:creationId xmlns:a16="http://schemas.microsoft.com/office/drawing/2014/main" id="{1989E6A3-77FE-09BD-E7D0-559C720C5DA6}"/>
              </a:ext>
            </a:extLst>
          </p:cNvPr>
          <p:cNvSpPr txBox="1"/>
          <p:nvPr/>
        </p:nvSpPr>
        <p:spPr>
          <a:xfrm>
            <a:off x="474835" y="2182230"/>
            <a:ext cx="4024727" cy="2123658"/>
          </a:xfrm>
          <a:prstGeom prst="rect">
            <a:avLst/>
          </a:prstGeom>
          <a:noFill/>
        </p:spPr>
        <p:txBody>
          <a:bodyPr wrap="square">
            <a:spAutoFit/>
          </a:bodyPr>
          <a:lstStyle/>
          <a:p>
            <a:pPr indent="0" algn="l">
              <a:buNone/>
            </a:pPr>
            <a:r>
              <a:rPr lang="en-US" sz="1100" b="1" i="0" spc="-23">
                <a:effectLst/>
                <a:latin typeface="+mn-lt"/>
              </a:rPr>
              <a:t>How harnesses fit</a:t>
            </a:r>
          </a:p>
          <a:p>
            <a:pPr indent="0" algn="l">
              <a:buNone/>
            </a:pPr>
            <a:r>
              <a:rPr lang="en-US" sz="1100" b="0" i="0">
                <a:effectLst/>
                <a:latin typeface="+mn-lt"/>
              </a:rPr>
              <a:t>Harnesses sit on top of the Agents SDK runtime:</a:t>
            </a:r>
          </a:p>
          <a:p>
            <a:pPr marL="171450" lvl="0" indent="-171450" algn="l">
              <a:buFont typeface="Arial" panose="020B0604020202020204" pitchFamily="34" charset="0"/>
              <a:buChar char="•"/>
            </a:pPr>
            <a:r>
              <a:rPr lang="en-US" sz="1100" b="1" i="0">
                <a:effectLst/>
                <a:latin typeface="+mn-lt"/>
              </a:rPr>
              <a:t>The runtime</a:t>
            </a:r>
            <a:r>
              <a:rPr lang="en-US" sz="1100" b="0" i="0">
                <a:effectLst/>
                <a:latin typeface="+mn-lt"/>
              </a:rPr>
              <a:t> gives the agent durable infrastructure: the </a:t>
            </a:r>
            <a:r>
              <a:rPr lang="en-US" sz="1100" b="0" i="0">
                <a:effectLst/>
                <a:latin typeface="+mn-lt"/>
                <a:hlinkClick r:id="rId10"/>
              </a:rPr>
              <a:t>Agent class</a:t>
            </a:r>
            <a:r>
              <a:rPr lang="en-US" sz="1100" b="0" i="0">
                <a:effectLst/>
                <a:latin typeface="+mn-lt"/>
              </a:rPr>
              <a:t>, </a:t>
            </a:r>
            <a:r>
              <a:rPr lang="en-US" sz="1100" b="0" i="0">
                <a:effectLst/>
                <a:latin typeface="+mn-lt"/>
                <a:hlinkClick r:id="rId11"/>
              </a:rPr>
              <a:t>state</a:t>
            </a:r>
            <a:r>
              <a:rPr lang="en-US" sz="1100" b="0" i="0">
                <a:effectLst/>
                <a:latin typeface="+mn-lt"/>
              </a:rPr>
              <a:t>, </a:t>
            </a:r>
            <a:r>
              <a:rPr lang="en-US" sz="1100" b="0" i="0">
                <a:effectLst/>
                <a:latin typeface="+mn-lt"/>
                <a:hlinkClick r:id="rId12"/>
              </a:rPr>
              <a:t>sessions</a:t>
            </a:r>
            <a:r>
              <a:rPr lang="en-US" sz="1100" b="0" i="0">
                <a:effectLst/>
                <a:latin typeface="+mn-lt"/>
              </a:rPr>
              <a:t>, </a:t>
            </a:r>
            <a:r>
              <a:rPr lang="en-US" sz="1100" b="0" i="0">
                <a:effectLst/>
                <a:latin typeface="+mn-lt"/>
                <a:hlinkClick r:id="rId13"/>
              </a:rPr>
              <a:t>routing</a:t>
            </a:r>
            <a:r>
              <a:rPr lang="en-US" sz="1100" b="0" i="0">
                <a:effectLst/>
                <a:latin typeface="+mn-lt"/>
              </a:rPr>
              <a:t>, </a:t>
            </a:r>
            <a:r>
              <a:rPr lang="en-US" sz="1100" b="0" i="0">
                <a:effectLst/>
                <a:latin typeface="+mn-lt"/>
                <a:hlinkClick r:id="rId14"/>
              </a:rPr>
              <a:t>WebSockets</a:t>
            </a:r>
            <a:r>
              <a:rPr lang="en-US" sz="1100" b="0" i="0">
                <a:effectLst/>
                <a:latin typeface="+mn-lt"/>
              </a:rPr>
              <a:t>, </a:t>
            </a:r>
            <a:r>
              <a:rPr lang="en-US" sz="1100" b="0" i="0">
                <a:effectLst/>
                <a:latin typeface="+mn-lt"/>
                <a:hlinkClick r:id="rId15"/>
              </a:rPr>
              <a:t>scheduling</a:t>
            </a:r>
            <a:r>
              <a:rPr lang="en-US" sz="1100" b="0" i="0">
                <a:effectLst/>
                <a:latin typeface="+mn-lt"/>
              </a:rPr>
              <a:t>, </a:t>
            </a:r>
            <a:r>
              <a:rPr lang="en-US" sz="1100" b="0" i="0">
                <a:effectLst/>
                <a:latin typeface="+mn-lt"/>
                <a:hlinkClick r:id="rId16"/>
              </a:rPr>
              <a:t>fibers</a:t>
            </a:r>
            <a:r>
              <a:rPr lang="en-US" sz="1100" b="0" i="0">
                <a:effectLst/>
                <a:latin typeface="+mn-lt"/>
              </a:rPr>
              <a:t>, and </a:t>
            </a:r>
            <a:r>
              <a:rPr lang="en-US" sz="1100" b="0" i="0">
                <a:effectLst/>
                <a:latin typeface="+mn-lt"/>
                <a:hlinkClick r:id="rId17"/>
              </a:rPr>
              <a:t>observability</a:t>
            </a:r>
            <a:r>
              <a:rPr lang="en-US" sz="1100" b="0" i="0">
                <a:effectLst/>
                <a:latin typeface="+mn-lt"/>
              </a:rPr>
              <a:t>.</a:t>
            </a:r>
          </a:p>
          <a:p>
            <a:pPr marL="171450" lvl="0" indent="-171450" algn="l">
              <a:buFont typeface="Arial" panose="020B0604020202020204" pitchFamily="34" charset="0"/>
              <a:buChar char="•"/>
            </a:pPr>
            <a:r>
              <a:rPr lang="en-US" sz="1100" b="1" i="0">
                <a:effectLst/>
                <a:latin typeface="+mn-lt"/>
              </a:rPr>
              <a:t>The harness</a:t>
            </a:r>
            <a:r>
              <a:rPr lang="en-US" sz="1100" b="0" i="0">
                <a:effectLst/>
                <a:latin typeface="+mn-lt"/>
              </a:rPr>
              <a:t> gives the agent behavior: model calls, prompt construction, tool selection, stream handling, memory strategy, and lifecycle hooks.</a:t>
            </a:r>
          </a:p>
          <a:p>
            <a:pPr indent="0" algn="l">
              <a:buNone/>
            </a:pPr>
            <a:endParaRPr lang="en-US" sz="1100" b="0" i="0">
              <a:effectLst/>
              <a:latin typeface="+mn-lt"/>
            </a:endParaRPr>
          </a:p>
          <a:p>
            <a:pPr indent="0" algn="l">
              <a:buNone/>
            </a:pPr>
            <a:r>
              <a:rPr lang="en-US" sz="1100" b="0" i="0">
                <a:effectLst/>
                <a:latin typeface="+mn-lt"/>
              </a:rPr>
              <a:t>The runtime </a:t>
            </a:r>
            <a:r>
              <a:rPr lang="en-US" sz="1100" b="1" i="0">
                <a:effectLst/>
                <a:latin typeface="+mn-lt"/>
              </a:rPr>
              <a:t>answers</a:t>
            </a:r>
            <a:r>
              <a:rPr lang="en-US" sz="1100" b="0" i="0">
                <a:effectLst/>
                <a:latin typeface="+mn-lt"/>
              </a:rPr>
              <a:t> “where does this agent live and how does it stay durable?” The harness </a:t>
            </a:r>
            <a:r>
              <a:rPr lang="en-US" sz="1100" b="1" i="0">
                <a:effectLst/>
                <a:latin typeface="+mn-lt"/>
              </a:rPr>
              <a:t>answers</a:t>
            </a:r>
            <a:r>
              <a:rPr lang="en-US" sz="1100" b="0" i="0">
                <a:effectLst/>
                <a:latin typeface="+mn-lt"/>
              </a:rPr>
              <a:t> “what does this agent do on each turn?”</a:t>
            </a:r>
            <a:endParaRPr lang="en-US" sz="1100" b="0" i="0">
              <a:effectLst/>
              <a:latin typeface="Inter Variable"/>
            </a:endParaRPr>
          </a:p>
        </p:txBody>
      </p:sp>
      <p:sp>
        <p:nvSpPr>
          <p:cNvPr id="20" name="TextBox 19">
            <a:extLst>
              <a:ext uri="{FF2B5EF4-FFF2-40B4-BE49-F238E27FC236}">
                <a16:creationId xmlns:a16="http://schemas.microsoft.com/office/drawing/2014/main" id="{AF425C9D-2EA6-F0BC-1AEB-C1F3C519787B}"/>
              </a:ext>
            </a:extLst>
          </p:cNvPr>
          <p:cNvSpPr txBox="1"/>
          <p:nvPr/>
        </p:nvSpPr>
        <p:spPr>
          <a:xfrm>
            <a:off x="6096000" y="624273"/>
            <a:ext cx="5704114" cy="369332"/>
          </a:xfrm>
          <a:prstGeom prst="rect">
            <a:avLst/>
          </a:prstGeom>
          <a:noFill/>
        </p:spPr>
        <p:txBody>
          <a:bodyPr wrap="square">
            <a:spAutoFit/>
          </a:bodyPr>
          <a:lstStyle/>
          <a:p>
            <a:pPr marL="0" marR="0" indent="0" algn="l">
              <a:lnSpc>
                <a:spcPct val="100000"/>
              </a:lnSpc>
              <a:spcBef>
                <a:spcPts val="225"/>
              </a:spcBef>
              <a:buNone/>
            </a:pPr>
            <a:r>
              <a:rPr lang="en-US" sz="1800" b="0" i="0" u="none" strike="noStrike">
                <a:solidFill>
                  <a:schemeClr val="tx1"/>
                </a:solidFill>
                <a:effectLst/>
                <a:latin typeface="+mn-lt"/>
                <a:hlinkClick r:id="rId18"/>
              </a:rPr>
              <a:t>Y Combinator</a:t>
            </a:r>
            <a:endParaRPr lang="en-US" sz="1650" b="0" i="0" u="none" strike="noStrike">
              <a:solidFill>
                <a:srgbClr val="99C3FF"/>
              </a:solidFill>
              <a:effectLst/>
              <a:latin typeface="Google Sans"/>
              <a:hlinkClick r:id="rId18"/>
            </a:endParaRPr>
          </a:p>
        </p:txBody>
      </p:sp>
      <p:pic>
        <p:nvPicPr>
          <p:cNvPr id="21" name="Picture 20" descr="Y Combinator - Wikipedia">
            <a:extLst>
              <a:ext uri="{FF2B5EF4-FFF2-40B4-BE49-F238E27FC236}">
                <a16:creationId xmlns:a16="http://schemas.microsoft.com/office/drawing/2014/main" id="{5686BEF2-D502-44A5-D307-3C1CDBC14E21}"/>
              </a:ext>
            </a:extLst>
          </p:cNvPr>
          <p:cNvPicPr>
            <a:picLocks noChangeAspect="1"/>
          </p:cNvPicPr>
          <p:nvPr/>
        </p:nvPicPr>
        <p:blipFill>
          <a:blip r:embed="rId19"/>
          <a:stretch>
            <a:fillRect/>
          </a:stretch>
        </p:blipFill>
        <p:spPr>
          <a:xfrm>
            <a:off x="5613289" y="587453"/>
            <a:ext cx="386916" cy="386916"/>
          </a:xfrm>
          <a:prstGeom prst="rect">
            <a:avLst/>
          </a:prstGeom>
        </p:spPr>
      </p:pic>
      <p:sp>
        <p:nvSpPr>
          <p:cNvPr id="22" name="TextBox 21">
            <a:extLst>
              <a:ext uri="{FF2B5EF4-FFF2-40B4-BE49-F238E27FC236}">
                <a16:creationId xmlns:a16="http://schemas.microsoft.com/office/drawing/2014/main" id="{CCFE6E5C-D40B-37CE-0016-3F6E6F974A2C}"/>
              </a:ext>
            </a:extLst>
          </p:cNvPr>
          <p:cNvSpPr txBox="1"/>
          <p:nvPr/>
        </p:nvSpPr>
        <p:spPr>
          <a:xfrm>
            <a:off x="6000205" y="974369"/>
            <a:ext cx="5625737" cy="430887"/>
          </a:xfrm>
          <a:prstGeom prst="rect">
            <a:avLst/>
          </a:prstGeom>
          <a:noFill/>
        </p:spPr>
        <p:txBody>
          <a:bodyPr wrap="square" rtlCol="0">
            <a:spAutoFit/>
          </a:bodyPr>
          <a:lstStyle/>
          <a:p>
            <a:pPr marL="285750" indent="-285750">
              <a:buFont typeface="Arial" panose="020B0604020202020204" pitchFamily="34" charset="0"/>
              <a:buChar char="•"/>
            </a:pPr>
            <a:r>
              <a:rPr lang="en-US" sz="1100">
                <a:hlinkClick r:id="rId20"/>
              </a:rPr>
              <a:t>Pi Agent Harness</a:t>
            </a:r>
            <a:r>
              <a:rPr lang="en-US" sz="1100"/>
              <a:t> - AI agent toolkit: unified LLM API, agent loop, TUI, coding agent CLI</a:t>
            </a:r>
          </a:p>
          <a:p>
            <a:pPr marL="285750" indent="-285750">
              <a:buFont typeface="Arial" panose="020B0604020202020204" pitchFamily="34" charset="0"/>
              <a:buChar char="•"/>
            </a:pPr>
            <a:r>
              <a:rPr lang="en-US" sz="1100"/>
              <a:t>A multiplayer agent harness for work. In Slack and on the web. </a:t>
            </a:r>
            <a:r>
              <a:rPr lang="en-US" sz="1100">
                <a:hlinkClick r:id="rId21"/>
              </a:rPr>
              <a:t>QM</a:t>
            </a:r>
            <a:endParaRPr lang="en-US" sz="1100"/>
          </a:p>
        </p:txBody>
      </p:sp>
      <p:sp>
        <p:nvSpPr>
          <p:cNvPr id="24" name="TextBox 23">
            <a:extLst>
              <a:ext uri="{FF2B5EF4-FFF2-40B4-BE49-F238E27FC236}">
                <a16:creationId xmlns:a16="http://schemas.microsoft.com/office/drawing/2014/main" id="{4BACACE0-FD68-4209-B2B3-208F500792AD}"/>
              </a:ext>
            </a:extLst>
          </p:cNvPr>
          <p:cNvSpPr txBox="1"/>
          <p:nvPr/>
        </p:nvSpPr>
        <p:spPr>
          <a:xfrm>
            <a:off x="6339840" y="1502658"/>
            <a:ext cx="4737464" cy="1323439"/>
          </a:xfrm>
          <a:prstGeom prst="rect">
            <a:avLst/>
          </a:prstGeom>
          <a:noFill/>
        </p:spPr>
        <p:txBody>
          <a:bodyPr wrap="square">
            <a:spAutoFit/>
          </a:bodyPr>
          <a:lstStyle/>
          <a:p>
            <a:pPr indent="0" algn="l">
              <a:spcAft>
                <a:spcPts val="1200"/>
              </a:spcAft>
              <a:buNone/>
            </a:pPr>
            <a:r>
              <a:rPr lang="en-US" sz="1000" b="0" i="0">
                <a:solidFill>
                  <a:schemeClr val="tx1"/>
                </a:solidFill>
                <a:effectLst/>
                <a:latin typeface="+mn-lt"/>
              </a:rPr>
              <a:t>Most agents are designed like personal assistants. You can make one work for a whole company, but it quickly gets complex. QM is designed for startups. Employees each get their own isolated workspace and work independently without affecting each other, and they can also collaborate with the agent in channels, group messages, and projects.</a:t>
            </a:r>
          </a:p>
          <a:p>
            <a:pPr indent="0" algn="l">
              <a:spcAft>
                <a:spcPts val="1200"/>
              </a:spcAft>
              <a:buNone/>
            </a:pPr>
            <a:r>
              <a:rPr lang="en-US" sz="1000" b="0" i="0">
                <a:solidFill>
                  <a:schemeClr val="tx1"/>
                </a:solidFill>
                <a:effectLst/>
                <a:latin typeface="+mn-lt"/>
              </a:rPr>
              <a:t>Each person and each room has its own scoped memory, files, keychain view, permissions, crons, web apps, and durable sandbox.</a:t>
            </a:r>
            <a:endParaRPr lang="en-US" sz="1000" b="0" i="0">
              <a:solidFill>
                <a:srgbClr val="D1D7E0"/>
              </a:solidFill>
              <a:effectLst/>
              <a:latin typeface="Mona Sans VF"/>
            </a:endParaRPr>
          </a:p>
        </p:txBody>
      </p:sp>
      <p:sp>
        <p:nvSpPr>
          <p:cNvPr id="25" name="TextBox 24">
            <a:extLst>
              <a:ext uri="{FF2B5EF4-FFF2-40B4-BE49-F238E27FC236}">
                <a16:creationId xmlns:a16="http://schemas.microsoft.com/office/drawing/2014/main" id="{B8913D80-F645-5136-2EA0-A868A954564C}"/>
              </a:ext>
            </a:extLst>
          </p:cNvPr>
          <p:cNvSpPr txBox="1"/>
          <p:nvPr/>
        </p:nvSpPr>
        <p:spPr>
          <a:xfrm>
            <a:off x="1150257" y="4442125"/>
            <a:ext cx="3492389" cy="923330"/>
          </a:xfrm>
          <a:prstGeom prst="rect">
            <a:avLst/>
          </a:prstGeom>
          <a:noFill/>
        </p:spPr>
        <p:txBody>
          <a:bodyPr wrap="square" rtlCol="0">
            <a:spAutoFit/>
          </a:bodyPr>
          <a:lstStyle/>
          <a:p>
            <a:r>
              <a:rPr lang="en-US">
                <a:hlinkClick r:id="rId22"/>
              </a:rPr>
              <a:t>Beyond conversational AI: Why forward-deployed engineers need a harness for real execution</a:t>
            </a:r>
            <a:endParaRPr lang="en-US"/>
          </a:p>
        </p:txBody>
      </p:sp>
      <p:pic>
        <p:nvPicPr>
          <p:cNvPr id="26" name="Picture 25">
            <a:extLst>
              <a:ext uri="{FF2B5EF4-FFF2-40B4-BE49-F238E27FC236}">
                <a16:creationId xmlns:a16="http://schemas.microsoft.com/office/drawing/2014/main" id="{54EEC261-35A5-7AD9-94DB-B19A8428852C}"/>
              </a:ext>
            </a:extLst>
          </p:cNvPr>
          <p:cNvPicPr>
            <a:picLocks noChangeAspect="1"/>
          </p:cNvPicPr>
          <p:nvPr/>
        </p:nvPicPr>
        <p:blipFill>
          <a:blip r:embed="rId23"/>
          <a:stretch>
            <a:fillRect/>
          </a:stretch>
        </p:blipFill>
        <p:spPr>
          <a:xfrm>
            <a:off x="261257" y="4643440"/>
            <a:ext cx="889000" cy="520700"/>
          </a:xfrm>
          <a:prstGeom prst="rect">
            <a:avLst/>
          </a:prstGeom>
        </p:spPr>
      </p:pic>
      <p:pic>
        <p:nvPicPr>
          <p:cNvPr id="27" name="Picture 26">
            <a:extLst>
              <a:ext uri="{FF2B5EF4-FFF2-40B4-BE49-F238E27FC236}">
                <a16:creationId xmlns:a16="http://schemas.microsoft.com/office/drawing/2014/main" id="{2451FD67-BAD2-21AB-D6CC-D195E5279F8E}"/>
              </a:ext>
            </a:extLst>
          </p:cNvPr>
          <p:cNvPicPr>
            <a:picLocks noChangeAspect="1"/>
          </p:cNvPicPr>
          <p:nvPr/>
        </p:nvPicPr>
        <p:blipFill>
          <a:blip r:embed="rId24"/>
          <a:stretch>
            <a:fillRect/>
          </a:stretch>
        </p:blipFill>
        <p:spPr>
          <a:xfrm>
            <a:off x="383429" y="5714043"/>
            <a:ext cx="622300" cy="609600"/>
          </a:xfrm>
          <a:prstGeom prst="rect">
            <a:avLst/>
          </a:prstGeom>
        </p:spPr>
      </p:pic>
      <p:sp>
        <p:nvSpPr>
          <p:cNvPr id="28" name="TextBox 27">
            <a:extLst>
              <a:ext uri="{FF2B5EF4-FFF2-40B4-BE49-F238E27FC236}">
                <a16:creationId xmlns:a16="http://schemas.microsoft.com/office/drawing/2014/main" id="{E8B071F8-E1E0-F0B5-F09F-632C3165336D}"/>
              </a:ext>
            </a:extLst>
          </p:cNvPr>
          <p:cNvSpPr txBox="1"/>
          <p:nvPr/>
        </p:nvSpPr>
        <p:spPr>
          <a:xfrm>
            <a:off x="1091323" y="5714043"/>
            <a:ext cx="4223657" cy="800219"/>
          </a:xfrm>
          <a:prstGeom prst="rect">
            <a:avLst/>
          </a:prstGeom>
          <a:noFill/>
        </p:spPr>
        <p:txBody>
          <a:bodyPr wrap="square" rtlCol="0">
            <a:spAutoFit/>
          </a:bodyPr>
          <a:lstStyle/>
          <a:p>
            <a:r>
              <a:rPr lang="en-US"/>
              <a:t>Sequoia Capital</a:t>
            </a:r>
          </a:p>
          <a:p>
            <a:r>
              <a:rPr lang="en-US" sz="1400" b="1">
                <a:hlinkClick r:id="rId25"/>
              </a:rPr>
              <a:t>When to Build Your Own Agent Harness - Harrison Chase -  co-founder / CEO of LangChain</a:t>
            </a:r>
            <a:endParaRPr lang="en-US" sz="1400" b="1"/>
          </a:p>
        </p:txBody>
      </p:sp>
      <p:sp>
        <p:nvSpPr>
          <p:cNvPr id="29" name="TextBox 28">
            <a:extLst>
              <a:ext uri="{FF2B5EF4-FFF2-40B4-BE49-F238E27FC236}">
                <a16:creationId xmlns:a16="http://schemas.microsoft.com/office/drawing/2014/main" id="{AA2016BC-E0FD-15AD-7B15-D966D88BDF2F}"/>
              </a:ext>
            </a:extLst>
          </p:cNvPr>
          <p:cNvSpPr txBox="1"/>
          <p:nvPr/>
        </p:nvSpPr>
        <p:spPr>
          <a:xfrm>
            <a:off x="6270172" y="3091992"/>
            <a:ext cx="5529942" cy="600164"/>
          </a:xfrm>
          <a:prstGeom prst="rect">
            <a:avLst/>
          </a:prstGeom>
          <a:noFill/>
        </p:spPr>
        <p:txBody>
          <a:bodyPr wrap="square" rtlCol="0">
            <a:spAutoFit/>
          </a:bodyPr>
          <a:lstStyle/>
          <a:p>
            <a:r>
              <a:rPr lang="en-US" sz="1100"/>
              <a:t>Satya Nadella - Microsoft</a:t>
            </a:r>
          </a:p>
          <a:p>
            <a:r>
              <a:rPr lang="en-US" sz="1100"/>
              <a:t>Create your own continuous learning loop (i.e hill climbing machine) that will allow your AI investments to compound the value of your firm</a:t>
            </a:r>
          </a:p>
        </p:txBody>
      </p:sp>
      <p:pic>
        <p:nvPicPr>
          <p:cNvPr id="31" name="Picture 30">
            <a:extLst>
              <a:ext uri="{FF2B5EF4-FFF2-40B4-BE49-F238E27FC236}">
                <a16:creationId xmlns:a16="http://schemas.microsoft.com/office/drawing/2014/main" id="{6763B501-7ADC-CF99-0723-FF65A4189872}"/>
              </a:ext>
            </a:extLst>
          </p:cNvPr>
          <p:cNvPicPr>
            <a:picLocks noChangeAspect="1"/>
          </p:cNvPicPr>
          <p:nvPr/>
        </p:nvPicPr>
        <p:blipFill>
          <a:blip r:embed="rId26"/>
          <a:stretch>
            <a:fillRect/>
          </a:stretch>
        </p:blipFill>
        <p:spPr>
          <a:xfrm>
            <a:off x="5628951" y="3080216"/>
            <a:ext cx="538038" cy="544117"/>
          </a:xfrm>
          <a:prstGeom prst="rect">
            <a:avLst/>
          </a:prstGeom>
        </p:spPr>
      </p:pic>
    </p:spTree>
    <p:extLst>
      <p:ext uri="{BB962C8B-B14F-4D97-AF65-F5344CB8AC3E}">
        <p14:creationId xmlns:p14="http://schemas.microsoft.com/office/powerpoint/2010/main" val="10743602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9A3F33FD-1E22-480C-AE46-017CDAD38BB9}"/>
              </a:ext>
            </a:extLst>
          </p:cNvPr>
          <p:cNvSpPr txBox="1"/>
          <p:nvPr/>
        </p:nvSpPr>
        <p:spPr>
          <a:xfrm>
            <a:off x="598605" y="628357"/>
            <a:ext cx="2345514" cy="369332"/>
          </a:xfrm>
          <a:prstGeom prst="rect">
            <a:avLst/>
          </a:prstGeom>
          <a:noFill/>
        </p:spPr>
        <p:txBody>
          <a:bodyPr wrap="none" rtlCol="0">
            <a:spAutoFit/>
          </a:bodyPr>
          <a:lstStyle/>
          <a:p>
            <a:r>
              <a:rPr lang="en-US" b="1"/>
              <a:t>Harness Engineering</a:t>
            </a:r>
          </a:p>
        </p:txBody>
      </p:sp>
      <p:sp>
        <p:nvSpPr>
          <p:cNvPr id="5" name="TextBox 4">
            <a:extLst>
              <a:ext uri="{FF2B5EF4-FFF2-40B4-BE49-F238E27FC236}">
                <a16:creationId xmlns:a16="http://schemas.microsoft.com/office/drawing/2014/main" id="{46C3C1EE-B62A-5F83-3D63-DF89601F5DC2}"/>
              </a:ext>
            </a:extLst>
          </p:cNvPr>
          <p:cNvSpPr txBox="1"/>
          <p:nvPr/>
        </p:nvSpPr>
        <p:spPr>
          <a:xfrm>
            <a:off x="583473" y="4367182"/>
            <a:ext cx="4721292" cy="2031325"/>
          </a:xfrm>
          <a:prstGeom prst="rect">
            <a:avLst/>
          </a:prstGeom>
          <a:noFill/>
        </p:spPr>
        <p:txBody>
          <a:bodyPr wrap="none" rtlCol="0">
            <a:spAutoFit/>
          </a:bodyPr>
          <a:lstStyle/>
          <a:p>
            <a:r>
              <a:rPr lang="en-US" b="1"/>
              <a:t>Simple harness</a:t>
            </a:r>
          </a:p>
          <a:p>
            <a:pPr marL="285750" indent="-285750">
              <a:buFontTx/>
              <a:buChar char="-"/>
            </a:pPr>
            <a:r>
              <a:rPr lang="en-US"/>
              <a:t>LangChain</a:t>
            </a:r>
          </a:p>
          <a:p>
            <a:r>
              <a:rPr lang="en-US" b="1"/>
              <a:t>Off the shelf Harness</a:t>
            </a:r>
          </a:p>
          <a:p>
            <a:r>
              <a:rPr lang="en-US"/>
              <a:t>- Github Copilot, Codex, Claude Code, Cursor</a:t>
            </a:r>
          </a:p>
          <a:p>
            <a:endParaRPr lang="en-US"/>
          </a:p>
          <a:p>
            <a:r>
              <a:rPr lang="en-US"/>
              <a:t>&gt; fine tuning harness</a:t>
            </a:r>
          </a:p>
          <a:p>
            <a:r>
              <a:rPr lang="en-US"/>
              <a:t>&gt; Create custom harness</a:t>
            </a:r>
          </a:p>
        </p:txBody>
      </p:sp>
      <p:sp>
        <p:nvSpPr>
          <p:cNvPr id="6" name="TextBox 5">
            <a:extLst>
              <a:ext uri="{FF2B5EF4-FFF2-40B4-BE49-F238E27FC236}">
                <a16:creationId xmlns:a16="http://schemas.microsoft.com/office/drawing/2014/main" id="{9103CB47-0873-C571-FF7F-F753FD154F8A}"/>
              </a:ext>
            </a:extLst>
          </p:cNvPr>
          <p:cNvSpPr txBox="1"/>
          <p:nvPr/>
        </p:nvSpPr>
        <p:spPr>
          <a:xfrm>
            <a:off x="6461761" y="5059680"/>
            <a:ext cx="5146766" cy="1200329"/>
          </a:xfrm>
          <a:prstGeom prst="rect">
            <a:avLst/>
          </a:prstGeom>
          <a:noFill/>
        </p:spPr>
        <p:txBody>
          <a:bodyPr wrap="square" rtlCol="0">
            <a:spAutoFit/>
          </a:bodyPr>
          <a:lstStyle/>
          <a:p>
            <a:r>
              <a:rPr lang="en-US"/>
              <a:t>In distribution in verse out of distribution – customize out of distribution add to harness and keeping in distribution close to the model (model harness)</a:t>
            </a:r>
          </a:p>
        </p:txBody>
      </p:sp>
      <p:sp>
        <p:nvSpPr>
          <p:cNvPr id="9" name="TextBox 8">
            <a:extLst>
              <a:ext uri="{FF2B5EF4-FFF2-40B4-BE49-F238E27FC236}">
                <a16:creationId xmlns:a16="http://schemas.microsoft.com/office/drawing/2014/main" id="{B435A390-A4CD-E5E0-65CB-39F4314AC41B}"/>
              </a:ext>
            </a:extLst>
          </p:cNvPr>
          <p:cNvSpPr txBox="1"/>
          <p:nvPr/>
        </p:nvSpPr>
        <p:spPr>
          <a:xfrm>
            <a:off x="6307016" y="1282700"/>
            <a:ext cx="4606389" cy="369332"/>
          </a:xfrm>
          <a:prstGeom prst="rect">
            <a:avLst/>
          </a:prstGeom>
          <a:noFill/>
        </p:spPr>
        <p:txBody>
          <a:bodyPr wrap="none" rtlCol="0">
            <a:spAutoFit/>
          </a:bodyPr>
          <a:lstStyle/>
          <a:p>
            <a:r>
              <a:rPr lang="en-US"/>
              <a:t>Agent API / Message API / Agent SDK runtime</a:t>
            </a:r>
          </a:p>
        </p:txBody>
      </p:sp>
      <p:sp>
        <p:nvSpPr>
          <p:cNvPr id="10" name="TextBox 9">
            <a:extLst>
              <a:ext uri="{FF2B5EF4-FFF2-40B4-BE49-F238E27FC236}">
                <a16:creationId xmlns:a16="http://schemas.microsoft.com/office/drawing/2014/main" id="{1CEFAFD3-F272-798C-0F15-2DBD1AC54F2D}"/>
              </a:ext>
            </a:extLst>
          </p:cNvPr>
          <p:cNvSpPr txBox="1"/>
          <p:nvPr/>
        </p:nvSpPr>
        <p:spPr>
          <a:xfrm>
            <a:off x="6428491" y="1749434"/>
            <a:ext cx="4606390" cy="2292935"/>
          </a:xfrm>
          <a:prstGeom prst="rect">
            <a:avLst/>
          </a:prstGeom>
          <a:noFill/>
        </p:spPr>
        <p:txBody>
          <a:bodyPr wrap="square" rtlCol="0">
            <a:spAutoFit/>
          </a:bodyPr>
          <a:lstStyle/>
          <a:p>
            <a:pPr marL="171450" lvl="0" indent="-171450">
              <a:buFont typeface="Arial" panose="020B0604020202020204" pitchFamily="34" charset="0"/>
              <a:buChar char="•"/>
            </a:pPr>
            <a:r>
              <a:rPr lang="en-US" sz="1100" b="1"/>
              <a:t>The Core Endpoint:</a:t>
            </a:r>
            <a:r>
              <a:rPr lang="en-US" sz="1100"/>
              <a:t> The true backend of the system is the Core, which houses the primary business logic, database models, and internal APIs.</a:t>
            </a:r>
          </a:p>
          <a:p>
            <a:pPr marL="171450" lvl="0" indent="-171450">
              <a:buFont typeface="Arial" panose="020B0604020202020204" pitchFamily="34" charset="0"/>
              <a:buChar char="•"/>
            </a:pPr>
            <a:r>
              <a:rPr lang="en-US" sz="1100" b="1"/>
              <a:t>Agent API / Message API:</a:t>
            </a:r>
            <a:r>
              <a:rPr lang="en-US" sz="1100"/>
              <a:t> These represent the raw communication layer (such as REST or gRPC calls) exposed by the Core. They are the actual network endpoints used to send messages, manage state, and receive agent responses.</a:t>
            </a:r>
          </a:p>
          <a:p>
            <a:pPr marL="171450" lvl="0" indent="-171450">
              <a:buFont typeface="Arial" panose="020B0604020202020204" pitchFamily="34" charset="0"/>
              <a:buChar char="•"/>
            </a:pPr>
            <a:r>
              <a:rPr lang="en-US" sz="1100" b="1"/>
              <a:t>Agent SDK Runtime:</a:t>
            </a:r>
            <a:r>
              <a:rPr lang="en-US" sz="1100"/>
              <a:t> The SDK wraps the Core and its raw APIs into language-specific libraries, such as Python, TypeScript, or Go. It abstracts away the direct API calls, natively handling authentication, retries, and typing so you can interact with the agent using standard code.</a:t>
            </a:r>
          </a:p>
          <a:p>
            <a:pPr marL="171450" indent="-171450">
              <a:buFont typeface="Arial" panose="020B0604020202020204" pitchFamily="34" charset="0"/>
              <a:buChar char="•"/>
            </a:pPr>
            <a:endParaRPr lang="en-US" sz="1100"/>
          </a:p>
        </p:txBody>
      </p:sp>
    </p:spTree>
    <p:extLst>
      <p:ext uri="{BB962C8B-B14F-4D97-AF65-F5344CB8AC3E}">
        <p14:creationId xmlns:p14="http://schemas.microsoft.com/office/powerpoint/2010/main" val="318017968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45767566-D0C5-8DEC-3732-6DD266B31F95}"/>
              </a:ext>
            </a:extLst>
          </p:cNvPr>
          <p:cNvPicPr>
            <a:picLocks noChangeAspect="1"/>
          </p:cNvPicPr>
          <p:nvPr/>
        </p:nvPicPr>
        <p:blipFill>
          <a:blip r:embed="rId2"/>
          <a:stretch>
            <a:fillRect/>
          </a:stretch>
        </p:blipFill>
        <p:spPr>
          <a:xfrm>
            <a:off x="2392680" y="1800543"/>
            <a:ext cx="7772400" cy="3256914"/>
          </a:xfrm>
          <a:prstGeom prst="rect">
            <a:avLst/>
          </a:prstGeom>
        </p:spPr>
      </p:pic>
      <p:sp>
        <p:nvSpPr>
          <p:cNvPr id="5" name="TextBox 4">
            <a:extLst>
              <a:ext uri="{FF2B5EF4-FFF2-40B4-BE49-F238E27FC236}">
                <a16:creationId xmlns:a16="http://schemas.microsoft.com/office/drawing/2014/main" id="{4C441654-5F25-565D-A1F3-69C23822EE14}"/>
              </a:ext>
            </a:extLst>
          </p:cNvPr>
          <p:cNvSpPr txBox="1"/>
          <p:nvPr/>
        </p:nvSpPr>
        <p:spPr>
          <a:xfrm>
            <a:off x="2307771" y="1062446"/>
            <a:ext cx="4833374" cy="369332"/>
          </a:xfrm>
          <a:prstGeom prst="rect">
            <a:avLst/>
          </a:prstGeom>
          <a:noFill/>
        </p:spPr>
        <p:txBody>
          <a:bodyPr wrap="none" rtlCol="0">
            <a:spAutoFit/>
          </a:bodyPr>
          <a:lstStyle/>
          <a:p>
            <a:r>
              <a:rPr lang="en-US"/>
              <a:t>So many opinions, but only facts should matter</a:t>
            </a:r>
          </a:p>
        </p:txBody>
      </p:sp>
    </p:spTree>
    <p:extLst>
      <p:ext uri="{BB962C8B-B14F-4D97-AF65-F5344CB8AC3E}">
        <p14:creationId xmlns:p14="http://schemas.microsoft.com/office/powerpoint/2010/main" val="37831530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495187E4-96AF-4D33-3B77-A3EA85E06C98}"/>
              </a:ext>
            </a:extLst>
          </p:cNvPr>
          <p:cNvSpPr txBox="1"/>
          <p:nvPr/>
        </p:nvSpPr>
        <p:spPr>
          <a:xfrm>
            <a:off x="1606062" y="433753"/>
            <a:ext cx="8644824" cy="369332"/>
          </a:xfrm>
          <a:prstGeom prst="rect">
            <a:avLst/>
          </a:prstGeom>
          <a:noFill/>
        </p:spPr>
        <p:txBody>
          <a:bodyPr wrap="square" rtlCol="0">
            <a:spAutoFit/>
          </a:bodyPr>
          <a:lstStyle/>
          <a:p>
            <a:pPr algn="ctr"/>
            <a:r>
              <a:rPr lang="en-US"/>
              <a:t>Work Backwards from Desired Agent Behavior to Harness Engineering</a:t>
            </a:r>
          </a:p>
        </p:txBody>
      </p:sp>
      <p:sp>
        <p:nvSpPr>
          <p:cNvPr id="6" name="TextBox 5">
            <a:extLst>
              <a:ext uri="{FF2B5EF4-FFF2-40B4-BE49-F238E27FC236}">
                <a16:creationId xmlns:a16="http://schemas.microsoft.com/office/drawing/2014/main" id="{88E752F1-28FD-A4D9-569F-9C789E78E385}"/>
              </a:ext>
            </a:extLst>
          </p:cNvPr>
          <p:cNvSpPr txBox="1"/>
          <p:nvPr/>
        </p:nvSpPr>
        <p:spPr>
          <a:xfrm>
            <a:off x="2954214" y="1025914"/>
            <a:ext cx="6529755" cy="646331"/>
          </a:xfrm>
          <a:prstGeom prst="rect">
            <a:avLst/>
          </a:prstGeom>
          <a:noFill/>
        </p:spPr>
        <p:txBody>
          <a:bodyPr wrap="square">
            <a:spAutoFit/>
          </a:bodyPr>
          <a:lstStyle/>
          <a:p>
            <a:r>
              <a:rPr lang="en-US" sz="1800" b="0" i="0">
                <a:solidFill>
                  <a:schemeClr val="tx1"/>
                </a:solidFill>
                <a:effectLst/>
                <a:latin typeface="+mn-lt"/>
              </a:rPr>
              <a:t>Behavior we want (or want to fix) → Harness Design to help the model achieve this.</a:t>
            </a:r>
            <a:endParaRPr lang="en-US"/>
          </a:p>
        </p:txBody>
      </p:sp>
      <p:pic>
        <p:nvPicPr>
          <p:cNvPr id="7" name="Picture 6">
            <a:extLst>
              <a:ext uri="{FF2B5EF4-FFF2-40B4-BE49-F238E27FC236}">
                <a16:creationId xmlns:a16="http://schemas.microsoft.com/office/drawing/2014/main" id="{59CBB3FE-6D93-657D-D628-D5C8A37B3704}"/>
              </a:ext>
            </a:extLst>
          </p:cNvPr>
          <p:cNvPicPr>
            <a:picLocks noChangeAspect="1"/>
          </p:cNvPicPr>
          <p:nvPr/>
        </p:nvPicPr>
        <p:blipFill>
          <a:blip r:embed="rId2"/>
          <a:stretch>
            <a:fillRect/>
          </a:stretch>
        </p:blipFill>
        <p:spPr>
          <a:xfrm>
            <a:off x="134816" y="1983038"/>
            <a:ext cx="7262446" cy="4768714"/>
          </a:xfrm>
          <a:prstGeom prst="rect">
            <a:avLst/>
          </a:prstGeom>
        </p:spPr>
      </p:pic>
      <p:pic>
        <p:nvPicPr>
          <p:cNvPr id="8" name="Picture 7">
            <a:extLst>
              <a:ext uri="{FF2B5EF4-FFF2-40B4-BE49-F238E27FC236}">
                <a16:creationId xmlns:a16="http://schemas.microsoft.com/office/drawing/2014/main" id="{B7B460BA-6FD2-D099-23EC-CC2D53FAD5E2}"/>
              </a:ext>
            </a:extLst>
          </p:cNvPr>
          <p:cNvPicPr>
            <a:picLocks noChangeAspect="1"/>
          </p:cNvPicPr>
          <p:nvPr/>
        </p:nvPicPr>
        <p:blipFill>
          <a:blip r:embed="rId3"/>
          <a:stretch>
            <a:fillRect/>
          </a:stretch>
        </p:blipFill>
        <p:spPr>
          <a:xfrm>
            <a:off x="7997092" y="2161379"/>
            <a:ext cx="3718569" cy="4412032"/>
          </a:xfrm>
          <a:prstGeom prst="rect">
            <a:avLst/>
          </a:prstGeom>
        </p:spPr>
      </p:pic>
    </p:spTree>
    <p:extLst>
      <p:ext uri="{BB962C8B-B14F-4D97-AF65-F5344CB8AC3E}">
        <p14:creationId xmlns:p14="http://schemas.microsoft.com/office/powerpoint/2010/main" val="334942190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C5FDF0-9DA8-AEAE-E361-899D9024C112}"/>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7E92054C-D604-B9C0-E6DF-8326D051D0BF}"/>
              </a:ext>
            </a:extLst>
          </p:cNvPr>
          <p:cNvSpPr txBox="1"/>
          <p:nvPr/>
        </p:nvSpPr>
        <p:spPr>
          <a:xfrm>
            <a:off x="501412" y="287551"/>
            <a:ext cx="4721292" cy="2031325"/>
          </a:xfrm>
          <a:prstGeom prst="rect">
            <a:avLst/>
          </a:prstGeom>
          <a:noFill/>
        </p:spPr>
        <p:txBody>
          <a:bodyPr wrap="none" rtlCol="0">
            <a:spAutoFit/>
          </a:bodyPr>
          <a:lstStyle/>
          <a:p>
            <a:r>
              <a:rPr lang="en-US" b="1"/>
              <a:t>Simple harness</a:t>
            </a:r>
          </a:p>
          <a:p>
            <a:pPr marL="285750" indent="-285750">
              <a:buFontTx/>
              <a:buChar char="-"/>
            </a:pPr>
            <a:r>
              <a:rPr lang="en-US"/>
              <a:t>LangChain</a:t>
            </a:r>
          </a:p>
          <a:p>
            <a:r>
              <a:rPr lang="en-US" b="1"/>
              <a:t>Off the shelf Harness</a:t>
            </a:r>
          </a:p>
          <a:p>
            <a:r>
              <a:rPr lang="en-US"/>
              <a:t>- Github Copilot, Codex, Claude Code, Cursor</a:t>
            </a:r>
          </a:p>
          <a:p>
            <a:endParaRPr lang="en-US"/>
          </a:p>
          <a:p>
            <a:r>
              <a:rPr lang="en-US"/>
              <a:t>&gt; fine tuning harness</a:t>
            </a:r>
          </a:p>
          <a:p>
            <a:r>
              <a:rPr lang="en-US"/>
              <a:t>&gt; Create custom harness</a:t>
            </a:r>
          </a:p>
        </p:txBody>
      </p:sp>
      <p:sp>
        <p:nvSpPr>
          <p:cNvPr id="6" name="TextBox 5">
            <a:extLst>
              <a:ext uri="{FF2B5EF4-FFF2-40B4-BE49-F238E27FC236}">
                <a16:creationId xmlns:a16="http://schemas.microsoft.com/office/drawing/2014/main" id="{01C5CE93-4B03-02F2-AFBC-4990C7321A22}"/>
              </a:ext>
            </a:extLst>
          </p:cNvPr>
          <p:cNvSpPr txBox="1"/>
          <p:nvPr/>
        </p:nvSpPr>
        <p:spPr>
          <a:xfrm>
            <a:off x="6426592" y="287551"/>
            <a:ext cx="5146766" cy="1200329"/>
          </a:xfrm>
          <a:prstGeom prst="rect">
            <a:avLst/>
          </a:prstGeom>
          <a:noFill/>
        </p:spPr>
        <p:txBody>
          <a:bodyPr wrap="square" rtlCol="0">
            <a:spAutoFit/>
          </a:bodyPr>
          <a:lstStyle/>
          <a:p>
            <a:r>
              <a:rPr lang="en-US"/>
              <a:t>In distribution in verse out of distribution – customize out of distribution add to harness and keeping in distribution close to the model (model harness)</a:t>
            </a:r>
          </a:p>
        </p:txBody>
      </p:sp>
      <p:sp>
        <p:nvSpPr>
          <p:cNvPr id="2" name="TextBox 1">
            <a:extLst>
              <a:ext uri="{FF2B5EF4-FFF2-40B4-BE49-F238E27FC236}">
                <a16:creationId xmlns:a16="http://schemas.microsoft.com/office/drawing/2014/main" id="{A9F41DD3-FF07-1E35-DF4A-E2AC9551073D}"/>
              </a:ext>
            </a:extLst>
          </p:cNvPr>
          <p:cNvSpPr txBox="1"/>
          <p:nvPr/>
        </p:nvSpPr>
        <p:spPr>
          <a:xfrm>
            <a:off x="691662" y="6119446"/>
            <a:ext cx="4231799" cy="369332"/>
          </a:xfrm>
          <a:prstGeom prst="rect">
            <a:avLst/>
          </a:prstGeom>
          <a:noFill/>
        </p:spPr>
        <p:txBody>
          <a:bodyPr wrap="none" rtlCol="0">
            <a:spAutoFit/>
          </a:bodyPr>
          <a:lstStyle/>
          <a:p>
            <a:r>
              <a:rPr lang="en-US">
                <a:hlinkClick r:id="rId3"/>
              </a:rPr>
              <a:t>Deep Agents vs LangChain vs LangGraph</a:t>
            </a:r>
            <a:endParaRPr lang="en-US"/>
          </a:p>
        </p:txBody>
      </p:sp>
      <p:pic>
        <p:nvPicPr>
          <p:cNvPr id="3" name="Picture 2">
            <a:extLst>
              <a:ext uri="{FF2B5EF4-FFF2-40B4-BE49-F238E27FC236}">
                <a16:creationId xmlns:a16="http://schemas.microsoft.com/office/drawing/2014/main" id="{D17832B4-A6C3-A357-E164-E9402BF891F7}"/>
              </a:ext>
            </a:extLst>
          </p:cNvPr>
          <p:cNvPicPr>
            <a:picLocks noChangeAspect="1"/>
          </p:cNvPicPr>
          <p:nvPr/>
        </p:nvPicPr>
        <p:blipFill>
          <a:blip r:embed="rId4"/>
          <a:stretch>
            <a:fillRect/>
          </a:stretch>
        </p:blipFill>
        <p:spPr>
          <a:xfrm>
            <a:off x="6207493" y="1852568"/>
            <a:ext cx="5584963" cy="4451544"/>
          </a:xfrm>
          <a:prstGeom prst="rect">
            <a:avLst/>
          </a:prstGeom>
        </p:spPr>
      </p:pic>
    </p:spTree>
    <p:extLst>
      <p:ext uri="{BB962C8B-B14F-4D97-AF65-F5344CB8AC3E}">
        <p14:creationId xmlns:p14="http://schemas.microsoft.com/office/powerpoint/2010/main" val="363915587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descr="What is an AI Agent Harness? 5 Core Pillars and How to build">
            <a:extLst>
              <a:ext uri="{FF2B5EF4-FFF2-40B4-BE49-F238E27FC236}">
                <a16:creationId xmlns:a16="http://schemas.microsoft.com/office/drawing/2014/main" id="{6DCCB7F4-0291-9EA5-E758-A918184DB1B7}"/>
              </a:ext>
            </a:extLst>
          </p:cNvPr>
          <p:cNvPicPr>
            <a:picLocks noChangeAspect="1"/>
          </p:cNvPicPr>
          <p:nvPr/>
        </p:nvPicPr>
        <p:blipFill>
          <a:blip r:embed="rId2"/>
          <a:stretch>
            <a:fillRect/>
          </a:stretch>
        </p:blipFill>
        <p:spPr>
          <a:xfrm>
            <a:off x="5895469" y="4159977"/>
            <a:ext cx="4345811" cy="2444519"/>
          </a:xfrm>
          <a:prstGeom prst="rect">
            <a:avLst/>
          </a:prstGeom>
        </p:spPr>
      </p:pic>
      <p:pic>
        <p:nvPicPr>
          <p:cNvPr id="5" name="Picture 4">
            <a:extLst>
              <a:ext uri="{FF2B5EF4-FFF2-40B4-BE49-F238E27FC236}">
                <a16:creationId xmlns:a16="http://schemas.microsoft.com/office/drawing/2014/main" id="{7998960E-423C-5A2C-706F-EBDE0A18DF55}"/>
              </a:ext>
            </a:extLst>
          </p:cNvPr>
          <p:cNvPicPr>
            <a:picLocks noChangeAspect="1"/>
          </p:cNvPicPr>
          <p:nvPr/>
        </p:nvPicPr>
        <p:blipFill>
          <a:blip r:embed="rId3"/>
          <a:stretch>
            <a:fillRect/>
          </a:stretch>
        </p:blipFill>
        <p:spPr>
          <a:xfrm>
            <a:off x="5895469" y="755214"/>
            <a:ext cx="5871987" cy="3276855"/>
          </a:xfrm>
          <a:prstGeom prst="rect">
            <a:avLst/>
          </a:prstGeom>
        </p:spPr>
      </p:pic>
      <p:pic>
        <p:nvPicPr>
          <p:cNvPr id="6" name="Picture 5">
            <a:extLst>
              <a:ext uri="{FF2B5EF4-FFF2-40B4-BE49-F238E27FC236}">
                <a16:creationId xmlns:a16="http://schemas.microsoft.com/office/drawing/2014/main" id="{80AC9D29-904F-8EC8-3705-473CBF48C778}"/>
              </a:ext>
            </a:extLst>
          </p:cNvPr>
          <p:cNvPicPr>
            <a:picLocks noChangeAspect="1"/>
          </p:cNvPicPr>
          <p:nvPr/>
        </p:nvPicPr>
        <p:blipFill>
          <a:blip r:embed="rId4"/>
          <a:stretch>
            <a:fillRect/>
          </a:stretch>
        </p:blipFill>
        <p:spPr>
          <a:xfrm>
            <a:off x="243840" y="755214"/>
            <a:ext cx="5222665" cy="3276855"/>
          </a:xfrm>
          <a:prstGeom prst="rect">
            <a:avLst/>
          </a:prstGeom>
        </p:spPr>
      </p:pic>
      <p:sp>
        <p:nvSpPr>
          <p:cNvPr id="7" name="TextBox 6">
            <a:extLst>
              <a:ext uri="{FF2B5EF4-FFF2-40B4-BE49-F238E27FC236}">
                <a16:creationId xmlns:a16="http://schemas.microsoft.com/office/drawing/2014/main" id="{8685E5E8-DA23-956E-C079-1B940709F5A9}"/>
              </a:ext>
            </a:extLst>
          </p:cNvPr>
          <p:cNvSpPr txBox="1"/>
          <p:nvPr/>
        </p:nvSpPr>
        <p:spPr>
          <a:xfrm>
            <a:off x="243840" y="4122423"/>
            <a:ext cx="1818126" cy="261610"/>
          </a:xfrm>
          <a:prstGeom prst="rect">
            <a:avLst/>
          </a:prstGeom>
          <a:noFill/>
        </p:spPr>
        <p:txBody>
          <a:bodyPr wrap="none" rtlCol="0">
            <a:spAutoFit/>
          </a:bodyPr>
          <a:lstStyle/>
          <a:p>
            <a:r>
              <a:rPr lang="en-US" sz="1100"/>
              <a:t>Langchain: simple harness</a:t>
            </a:r>
          </a:p>
        </p:txBody>
      </p:sp>
      <p:sp>
        <p:nvSpPr>
          <p:cNvPr id="8" name="TextBox 7">
            <a:extLst>
              <a:ext uri="{FF2B5EF4-FFF2-40B4-BE49-F238E27FC236}">
                <a16:creationId xmlns:a16="http://schemas.microsoft.com/office/drawing/2014/main" id="{5BC3DD6C-92B2-99DA-0C34-0609EC6E1CBF}"/>
              </a:ext>
            </a:extLst>
          </p:cNvPr>
          <p:cNvSpPr txBox="1"/>
          <p:nvPr/>
        </p:nvSpPr>
        <p:spPr>
          <a:xfrm>
            <a:off x="2590800" y="4122423"/>
            <a:ext cx="2786340" cy="261610"/>
          </a:xfrm>
          <a:prstGeom prst="rect">
            <a:avLst/>
          </a:prstGeom>
          <a:noFill/>
        </p:spPr>
        <p:txBody>
          <a:bodyPr wrap="none" rtlCol="0">
            <a:spAutoFit/>
          </a:bodyPr>
          <a:lstStyle/>
          <a:p>
            <a:r>
              <a:rPr lang="en-US" sz="1100"/>
              <a:t>Langchain Deep Agent: </a:t>
            </a:r>
            <a:r>
              <a:rPr lang="en-US" sz="1100">
                <a:hlinkClick r:id="rId5"/>
              </a:rPr>
              <a:t>Agentic Framework</a:t>
            </a:r>
            <a:endParaRPr lang="en-US" sz="1100"/>
          </a:p>
        </p:txBody>
      </p:sp>
      <p:sp>
        <p:nvSpPr>
          <p:cNvPr id="9" name="TextBox 8">
            <a:extLst>
              <a:ext uri="{FF2B5EF4-FFF2-40B4-BE49-F238E27FC236}">
                <a16:creationId xmlns:a16="http://schemas.microsoft.com/office/drawing/2014/main" id="{89E0F263-5D6A-0777-B62E-E9130F5E2DA2}"/>
              </a:ext>
            </a:extLst>
          </p:cNvPr>
          <p:cNvSpPr txBox="1"/>
          <p:nvPr/>
        </p:nvSpPr>
        <p:spPr>
          <a:xfrm>
            <a:off x="322217" y="6339840"/>
            <a:ext cx="886846" cy="369332"/>
          </a:xfrm>
          <a:prstGeom prst="rect">
            <a:avLst/>
          </a:prstGeom>
          <a:noFill/>
        </p:spPr>
        <p:txBody>
          <a:bodyPr wrap="none" rtlCol="0">
            <a:spAutoFit/>
          </a:bodyPr>
          <a:lstStyle/>
          <a:p>
            <a:r>
              <a:rPr lang="en-US">
                <a:hlinkClick r:id="rId6"/>
              </a:rPr>
              <a:t>Source</a:t>
            </a:r>
            <a:endParaRPr lang="en-US"/>
          </a:p>
        </p:txBody>
      </p:sp>
      <p:sp>
        <p:nvSpPr>
          <p:cNvPr id="10" name="TextBox 9">
            <a:extLst>
              <a:ext uri="{FF2B5EF4-FFF2-40B4-BE49-F238E27FC236}">
                <a16:creationId xmlns:a16="http://schemas.microsoft.com/office/drawing/2014/main" id="{7773B116-5AA7-9AEE-2D0E-91291FD465DB}"/>
              </a:ext>
            </a:extLst>
          </p:cNvPr>
          <p:cNvSpPr txBox="1"/>
          <p:nvPr/>
        </p:nvSpPr>
        <p:spPr>
          <a:xfrm>
            <a:off x="2743200" y="4728754"/>
            <a:ext cx="2786340" cy="1200329"/>
          </a:xfrm>
          <a:prstGeom prst="rect">
            <a:avLst/>
          </a:prstGeom>
          <a:noFill/>
        </p:spPr>
        <p:txBody>
          <a:bodyPr wrap="square" rtlCol="0">
            <a:spAutoFit/>
          </a:bodyPr>
          <a:lstStyle/>
          <a:p>
            <a:r>
              <a:rPr lang="en-US"/>
              <a:t>Middleware constructs / Plugins / hooks</a:t>
            </a:r>
          </a:p>
          <a:p>
            <a:r>
              <a:rPr lang="en-US"/>
              <a:t>Customizable Agents</a:t>
            </a:r>
          </a:p>
          <a:p>
            <a:r>
              <a:rPr lang="en-US"/>
              <a:t>Agent Profile</a:t>
            </a:r>
          </a:p>
        </p:txBody>
      </p:sp>
      <p:pic>
        <p:nvPicPr>
          <p:cNvPr id="11" name="Picture 10">
            <a:extLst>
              <a:ext uri="{FF2B5EF4-FFF2-40B4-BE49-F238E27FC236}">
                <a16:creationId xmlns:a16="http://schemas.microsoft.com/office/drawing/2014/main" id="{DEDE9E42-4CE5-F4A5-897A-D4E8B58F7840}"/>
              </a:ext>
            </a:extLst>
          </p:cNvPr>
          <p:cNvPicPr>
            <a:picLocks noChangeAspect="1"/>
          </p:cNvPicPr>
          <p:nvPr/>
        </p:nvPicPr>
        <p:blipFill>
          <a:blip r:embed="rId7"/>
          <a:stretch>
            <a:fillRect/>
          </a:stretch>
        </p:blipFill>
        <p:spPr>
          <a:xfrm>
            <a:off x="6668590" y="7098028"/>
            <a:ext cx="7772400" cy="3973086"/>
          </a:xfrm>
          <a:prstGeom prst="rect">
            <a:avLst/>
          </a:prstGeom>
        </p:spPr>
      </p:pic>
      <p:pic>
        <p:nvPicPr>
          <p:cNvPr id="12" name="Picture 11">
            <a:extLst>
              <a:ext uri="{FF2B5EF4-FFF2-40B4-BE49-F238E27FC236}">
                <a16:creationId xmlns:a16="http://schemas.microsoft.com/office/drawing/2014/main" id="{14B6CB07-771A-A250-4834-8E82F88E48E9}"/>
              </a:ext>
            </a:extLst>
          </p:cNvPr>
          <p:cNvPicPr>
            <a:picLocks noChangeAspect="1"/>
          </p:cNvPicPr>
          <p:nvPr/>
        </p:nvPicPr>
        <p:blipFill>
          <a:blip r:embed="rId8"/>
          <a:stretch>
            <a:fillRect/>
          </a:stretch>
        </p:blipFill>
        <p:spPr>
          <a:xfrm>
            <a:off x="-2248988" y="7098028"/>
            <a:ext cx="7772400" cy="4219960"/>
          </a:xfrm>
          <a:prstGeom prst="rect">
            <a:avLst/>
          </a:prstGeom>
        </p:spPr>
      </p:pic>
      <p:sp>
        <p:nvSpPr>
          <p:cNvPr id="13" name="TextBox 12">
            <a:extLst>
              <a:ext uri="{FF2B5EF4-FFF2-40B4-BE49-F238E27FC236}">
                <a16:creationId xmlns:a16="http://schemas.microsoft.com/office/drawing/2014/main" id="{A971C898-E35F-CA6F-58EC-A755EA046F20}"/>
              </a:ext>
            </a:extLst>
          </p:cNvPr>
          <p:cNvSpPr txBox="1"/>
          <p:nvPr/>
        </p:nvSpPr>
        <p:spPr>
          <a:xfrm>
            <a:off x="2855172" y="7265326"/>
            <a:ext cx="1983685" cy="369332"/>
          </a:xfrm>
          <a:prstGeom prst="rect">
            <a:avLst/>
          </a:prstGeom>
          <a:noFill/>
        </p:spPr>
        <p:txBody>
          <a:bodyPr wrap="none" rtlCol="0">
            <a:spAutoFit/>
          </a:bodyPr>
          <a:lstStyle/>
          <a:p>
            <a:r>
              <a:rPr lang="en-US">
                <a:solidFill>
                  <a:srgbClr val="FF0000"/>
                </a:solidFill>
              </a:rPr>
              <a:t>Go into harnesses</a:t>
            </a:r>
          </a:p>
        </p:txBody>
      </p:sp>
    </p:spTree>
    <p:extLst>
      <p:ext uri="{BB962C8B-B14F-4D97-AF65-F5344CB8AC3E}">
        <p14:creationId xmlns:p14="http://schemas.microsoft.com/office/powerpoint/2010/main" val="246616246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F1E85033-984E-427C-C0A6-A79462EAADCF}"/>
              </a:ext>
            </a:extLst>
          </p:cNvPr>
          <p:cNvSpPr txBox="1"/>
          <p:nvPr/>
        </p:nvSpPr>
        <p:spPr>
          <a:xfrm>
            <a:off x="261257" y="259471"/>
            <a:ext cx="6096000" cy="369332"/>
          </a:xfrm>
          <a:prstGeom prst="rect">
            <a:avLst/>
          </a:prstGeom>
          <a:noFill/>
        </p:spPr>
        <p:txBody>
          <a:bodyPr wrap="square">
            <a:spAutoFit/>
          </a:bodyPr>
          <a:lstStyle/>
          <a:p>
            <a:r>
              <a:rPr lang="en-US"/>
              <a:t>ARC-AGI (The AI Benchmark)</a:t>
            </a:r>
          </a:p>
        </p:txBody>
      </p:sp>
      <p:sp>
        <p:nvSpPr>
          <p:cNvPr id="7" name="TextBox 6">
            <a:extLst>
              <a:ext uri="{FF2B5EF4-FFF2-40B4-BE49-F238E27FC236}">
                <a16:creationId xmlns:a16="http://schemas.microsoft.com/office/drawing/2014/main" id="{26D7040A-0F49-180E-FC66-64F2A3A91C57}"/>
              </a:ext>
            </a:extLst>
          </p:cNvPr>
          <p:cNvSpPr txBox="1"/>
          <p:nvPr/>
        </p:nvSpPr>
        <p:spPr>
          <a:xfrm>
            <a:off x="261257" y="713155"/>
            <a:ext cx="6096000" cy="1200329"/>
          </a:xfrm>
          <a:prstGeom prst="rect">
            <a:avLst/>
          </a:prstGeom>
          <a:noFill/>
        </p:spPr>
        <p:txBody>
          <a:bodyPr wrap="square">
            <a:spAutoFit/>
          </a:bodyPr>
          <a:lstStyle/>
          <a:p>
            <a:r>
              <a:rPr lang="en-US"/>
              <a:t>Abstraction and Reasoning Corpus for Artificial General Intelligence (ARC-AGI)</a:t>
            </a:r>
          </a:p>
          <a:p>
            <a:r>
              <a:rPr lang="en-US"/>
              <a:t>a prominent benchmark created by AI researcher François Chollet in 2019.</a:t>
            </a:r>
          </a:p>
        </p:txBody>
      </p:sp>
      <p:sp>
        <p:nvSpPr>
          <p:cNvPr id="9" name="TextBox 8">
            <a:extLst>
              <a:ext uri="{FF2B5EF4-FFF2-40B4-BE49-F238E27FC236}">
                <a16:creationId xmlns:a16="http://schemas.microsoft.com/office/drawing/2014/main" id="{A3A5A035-5354-D177-EA30-BD061B8B0A09}"/>
              </a:ext>
            </a:extLst>
          </p:cNvPr>
          <p:cNvSpPr txBox="1"/>
          <p:nvPr/>
        </p:nvSpPr>
        <p:spPr>
          <a:xfrm>
            <a:off x="365760" y="1997836"/>
            <a:ext cx="6096000" cy="3416320"/>
          </a:xfrm>
          <a:prstGeom prst="rect">
            <a:avLst/>
          </a:prstGeom>
          <a:noFill/>
        </p:spPr>
        <p:txBody>
          <a:bodyPr wrap="square">
            <a:spAutoFit/>
          </a:bodyPr>
          <a:lstStyle/>
          <a:p>
            <a:pPr marL="342900" lvl="0" indent="-342900">
              <a:buFont typeface="Arial" panose="020B0604020202020204" pitchFamily="34" charset="0"/>
              <a:buChar char="•"/>
            </a:pPr>
            <a:r>
              <a:rPr lang="en-US" b="1"/>
              <a:t>The Goal:</a:t>
            </a:r>
            <a:r>
              <a:rPr lang="en-US"/>
              <a:t> It measures "fluid intelligence"—an AI's ability to reason, solve novel problems, and adapt to completely new situations it wasn't explicitly trained on.</a:t>
            </a:r>
          </a:p>
          <a:p>
            <a:pPr marL="342900" lvl="0" indent="-342900">
              <a:buFont typeface="Arial" panose="020B0604020202020204" pitchFamily="34" charset="0"/>
              <a:buChar char="•"/>
            </a:pPr>
            <a:r>
              <a:rPr lang="en-US" b="1"/>
              <a:t>How it Works:</a:t>
            </a:r>
            <a:r>
              <a:rPr lang="en-US"/>
              <a:t> Rather than testing an AI on memorized data (like passing a medical exam), it presents visual, grid-based logic puzzles that are easy for humans but historically extremely difficult for AI systems.</a:t>
            </a:r>
          </a:p>
          <a:p>
            <a:pPr marL="342900" lvl="0" indent="-342900">
              <a:buFont typeface="Arial" panose="020B0604020202020204" pitchFamily="34" charset="0"/>
              <a:buChar char="•"/>
            </a:pPr>
            <a:r>
              <a:rPr lang="en-US" b="1"/>
              <a:t>Why it Matters:</a:t>
            </a:r>
            <a:r>
              <a:rPr lang="en-US"/>
              <a:t> It is widely considered one of the only benchmarks that accurately measures actual progress toward true Artificial General Intelligence. It focuses on how efficiently an AI can learn new skills, rather than relying on brute-force data recall.</a:t>
            </a:r>
          </a:p>
        </p:txBody>
      </p:sp>
    </p:spTree>
    <p:extLst>
      <p:ext uri="{BB962C8B-B14F-4D97-AF65-F5344CB8AC3E}">
        <p14:creationId xmlns:p14="http://schemas.microsoft.com/office/powerpoint/2010/main" val="23477507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D8570EE1-553F-6C05-5E48-A1127066FBA6}"/>
              </a:ext>
            </a:extLst>
          </p:cNvPr>
          <p:cNvSpPr txBox="1"/>
          <p:nvPr/>
        </p:nvSpPr>
        <p:spPr>
          <a:xfrm>
            <a:off x="-1416978" y="182880"/>
            <a:ext cx="11302409" cy="9094797"/>
          </a:xfrm>
          <a:prstGeom prst="rect">
            <a:avLst/>
          </a:prstGeom>
          <a:noFill/>
        </p:spPr>
        <p:txBody>
          <a:bodyPr wrap="square" rtlCol="0">
            <a:spAutoFit/>
          </a:bodyPr>
          <a:lstStyle/>
          <a:p>
            <a:r>
              <a:rPr lang="en-US" sz="900" b="1"/>
              <a:t>Protocol Interoperability:</a:t>
            </a:r>
            <a:r>
              <a:rPr lang="en-US" sz="900"/>
              <a:t> Harnesses utilize the Language Server Protocol (LSP) to gain deep language intelligence, such as real-time AST parsing and diagnostics, and the Model Context Protocol (MCP) to dynamically connect to external APIs, databases, and local tools.</a:t>
            </a:r>
          </a:p>
          <a:p>
            <a:r>
              <a:rPr lang="en-US" sz="900" b="1"/>
              <a:t>Security &amp; Sandboxing:</a:t>
            </a:r>
            <a:r>
              <a:rPr lang="en-US" sz="900"/>
              <a:t> They rely on runtime isolation layers like MicroVMs and container sandboxes (e.g., Docker Sandboxes). This creates a hard security boundary that allows agents to perform unattended code execution, often called "YOLO mode," without risking the host machine.</a:t>
            </a:r>
          </a:p>
          <a:p>
            <a:r>
              <a:rPr lang="en-US" sz="900" b="1">
                <a:highlight>
                  <a:srgbClr val="FFFF00"/>
                </a:highlight>
              </a:rPr>
              <a:t>Runtime or </a:t>
            </a:r>
            <a:r>
              <a:rPr lang="en-US" sz="900">
                <a:highlight>
                  <a:srgbClr val="FFFF00"/>
                </a:highlight>
              </a:rPr>
              <a:t>Workspace or Sandbox </a:t>
            </a:r>
            <a:r>
              <a:rPr lang="en-US" sz="900" b="1">
                <a:highlight>
                  <a:srgbClr val="FFFF00"/>
                </a:highlight>
              </a:rPr>
              <a:t> isolation layers:</a:t>
            </a:r>
            <a:r>
              <a:rPr lang="en-US" sz="900">
                <a:highlight>
                  <a:srgbClr val="FFFF00"/>
                </a:highlight>
              </a:rPr>
              <a:t> Dedicated, isolated, Environments like Docker Sandboxes that mount specific workspaces into dedicated microVMs.</a:t>
            </a:r>
          </a:p>
          <a:p>
            <a:r>
              <a:rPr lang="en-US" sz="900" b="1">
                <a:highlight>
                  <a:srgbClr val="FFFF00"/>
                </a:highlight>
              </a:rPr>
              <a:t>Hard security boundaries:</a:t>
            </a:r>
            <a:r>
              <a:rPr lang="en-US" sz="900">
                <a:highlight>
                  <a:srgbClr val="FFFF00"/>
                </a:highlight>
              </a:rPr>
              <a:t> Strict perimeters established to allow processes to execute code safely and unattended without risking the broader host system.</a:t>
            </a:r>
          </a:p>
          <a:p>
            <a:r>
              <a:rPr lang="en-US" sz="900" b="1">
                <a:highlight>
                  <a:srgbClr val="FFFF00"/>
                </a:highlight>
              </a:rPr>
              <a:t>Isolated execution environments:</a:t>
            </a:r>
            <a:r>
              <a:rPr lang="en-US" sz="900">
                <a:highlight>
                  <a:srgbClr val="FFFF00"/>
                </a:highlight>
              </a:rPr>
              <a:t> Secure microVMs or containers provisioned to keep operations completely separated from other systems.</a:t>
            </a:r>
          </a:p>
          <a:p>
            <a:r>
              <a:rPr lang="en-US" sz="900" b="1">
                <a:highlight>
                  <a:srgbClr val="FFFF00"/>
                </a:highlight>
              </a:rPr>
              <a:t>Container-in-container capabilities:</a:t>
            </a:r>
            <a:r>
              <a:rPr lang="en-US" sz="900">
                <a:highlight>
                  <a:srgbClr val="FFFF00"/>
                </a:highlight>
              </a:rPr>
              <a:t> Sandboxing features that allow isolated environments to spin up their own nested, firewall-restricted containers.</a:t>
            </a:r>
          </a:p>
          <a:p>
            <a:r>
              <a:rPr lang="en-US" sz="900" b="1">
                <a:highlight>
                  <a:srgbClr val="FFFF00"/>
                </a:highlight>
              </a:rPr>
              <a:t>Multi-tenancy </a:t>
            </a:r>
            <a:r>
              <a:rPr lang="en-US" sz="900">
                <a:highlight>
                  <a:srgbClr val="FFFF00"/>
                </a:highlight>
              </a:rPr>
              <a:t>Isolates users, organizations, projects, policies, secrets, memory, artifacts, and compute.</a:t>
            </a:r>
          </a:p>
          <a:p>
            <a:r>
              <a:rPr lang="en-US" sz="900" b="1">
                <a:highlight>
                  <a:srgbClr val="FFFF00"/>
                </a:highlight>
              </a:rPr>
              <a:t>Granular, agent-specific security boundaries</a:t>
            </a:r>
            <a:r>
              <a:rPr lang="en-US" sz="900">
                <a:highlight>
                  <a:srgbClr val="FFFF00"/>
                </a:highlight>
              </a:rPr>
              <a:t>: A term used to describe the isolated, instance-specific permission policies (such as those in a permissions.yaml file) that dictate exactly what a specific tenant or agent is allowed to access.</a:t>
            </a:r>
          </a:p>
          <a:p>
            <a:r>
              <a:rPr lang="en-US" sz="900" b="1"/>
              <a:t>Editor &amp; IPC Integrations:</a:t>
            </a:r>
            <a:r>
              <a:rPr lang="en-US" sz="900"/>
              <a:t> To bridge communication between the CLI and the editor UI without hanging the terminal, harnesses tap into Inter-Process Communication (IPC) sockets like VSCODE_IPC_HOOK_CLI or utilize "wait" patterns (e.g., code --wait) to capture user input or authentication credentials natively.</a:t>
            </a:r>
          </a:p>
          <a:p>
            <a:r>
              <a:rPr lang="en-US" sz="900" b="1"/>
              <a:t>Path-Gated Rules:</a:t>
            </a:r>
            <a:r>
              <a:rPr lang="en-US" sz="900"/>
              <a:t> Instead of loading every instruction globally, harnesses use directory-specific gateways (such as .cursor/rules/*.mdc or .github/instructions/) to trigger specialized contextual prompts only when an agent edits a matching folder.</a:t>
            </a:r>
          </a:p>
          <a:p>
            <a:r>
              <a:rPr lang="en-US" sz="900" b="1"/>
              <a:t>State &amp; Memory Persistence:</a:t>
            </a:r>
            <a:r>
              <a:rPr lang="en-US" sz="900"/>
              <a:t> Autonomous harnesses heavily prioritize state tracking to prevent context window exhaustion and "lost in the middle" recall issues. They manage this through rolling summaries, chronological transcript logs (history.jsonl), and persistent state files (state.json) that track active directives across sessions.</a:t>
            </a:r>
          </a:p>
          <a:p>
            <a:r>
              <a:rPr lang="en-US" sz="900" b="1"/>
              <a:t>Routing Architectures:</a:t>
            </a:r>
            <a:r>
              <a:rPr lang="en-US" sz="900"/>
              <a:t> Developers must intentionally design the harness to balance deterministic, script-based workflows with dynamic LLM-driven autonomous routing (like the ReAct or Plan-and-Execute patterns) to prevent agents from hallucinating dead-end paths or getting stuck in infinite loops in production.</a:t>
            </a:r>
          </a:p>
          <a:p>
            <a:r>
              <a:rPr lang="en-US" sz="900" b="1"/>
              <a:t>Tool Abstraction: </a:t>
            </a:r>
            <a:r>
              <a:rPr lang="en-US" sz="900"/>
              <a:t>Typed wrappers around shell, filesystem, Git, HTTP, browser, databases, cloud APIs, etc. instead of unrestricted raw execution.</a:t>
            </a:r>
          </a:p>
          <a:p>
            <a:r>
              <a:rPr lang="en-US" sz="900" b="1"/>
              <a:t>Discovery: </a:t>
            </a:r>
            <a:r>
              <a:rPr lang="en-US" sz="900"/>
              <a:t>Lets agents discover available capabilities progressively rather than loading every tool/schema into context.</a:t>
            </a:r>
          </a:p>
          <a:p>
            <a:r>
              <a:rPr lang="en-US" sz="900" b="1"/>
              <a:t>Permissioning</a:t>
            </a:r>
            <a:r>
              <a:rPr lang="en-US" sz="900"/>
              <a:t>: allow / deny / ask / scoped policies per tool, command, path, user, agent, repository, or environment.</a:t>
            </a:r>
          </a:p>
          <a:p>
            <a:r>
              <a:rPr lang="en-US" sz="900" b="1"/>
              <a:t>Delegation: </a:t>
            </a:r>
            <a:r>
              <a:rPr lang="en-US" sz="900"/>
              <a:t>Gives subagents temporary, restricted capabilities rather than inheriting the parent agent's full authority.</a:t>
            </a:r>
          </a:p>
          <a:p>
            <a:r>
              <a:rPr lang="en-US" sz="900" b="1"/>
              <a:t>Interception: </a:t>
            </a:r>
            <a:r>
              <a:rPr lang="en-US" sz="900"/>
              <a:t>Inspects proposed shell/tool operations before execution; blocks dangerous patterns or rewrites them into safer operations.</a:t>
            </a:r>
          </a:p>
          <a:p>
            <a:r>
              <a:rPr lang="en-US" sz="900" b="1"/>
              <a:t>Resource</a:t>
            </a:r>
            <a:r>
              <a:rPr lang="en-US" sz="900"/>
              <a:t> </a:t>
            </a:r>
            <a:r>
              <a:rPr lang="en-US" sz="900" b="1"/>
              <a:t>Governance: </a:t>
            </a:r>
            <a:r>
              <a:rPr lang="en-US" sz="900"/>
              <a:t>Limits tokens, model spend, execution time, disk, memory, processes, API calls, network traffic, and concurrency.</a:t>
            </a:r>
          </a:p>
          <a:p>
            <a:r>
              <a:rPr lang="en-US" sz="900" b="1"/>
              <a:t>Network Governance: </a:t>
            </a:r>
            <a:r>
              <a:rPr lang="en-US" sz="900"/>
              <a:t>Domain allowlists, egress controls, proxying, DNS restrictions, credential-aware routing, and offline execution.</a:t>
            </a:r>
          </a:p>
          <a:p>
            <a:r>
              <a:rPr lang="en-US" sz="900" b="1"/>
              <a:t>Filesystem Virtualization: </a:t>
            </a:r>
            <a:r>
              <a:rPr lang="en-US" sz="900"/>
              <a:t>Worktrees, overlays, temporary directories, snapshots, read-only mounts, scoped writable paths, and rollback.</a:t>
            </a:r>
          </a:p>
          <a:p>
            <a:r>
              <a:rPr lang="en-US" sz="900" b="1"/>
              <a:t>Environment Management: </a:t>
            </a:r>
            <a:r>
              <a:rPr lang="en-US" sz="900"/>
              <a:t>Creates reproducible runtime environments and injects only the dependencies/configuration required for a task.</a:t>
            </a:r>
          </a:p>
          <a:p>
            <a:r>
              <a:rPr lang="en-US" sz="900" b="1"/>
              <a:t>Secrets Management: </a:t>
            </a:r>
            <a:r>
              <a:rPr lang="en-US" sz="900"/>
              <a:t>Injects credentials just-in-time without putting secrets directly into prompts or agent-visible state.</a:t>
            </a:r>
          </a:p>
          <a:p>
            <a:r>
              <a:rPr lang="en-US" sz="900" b="1"/>
              <a:t>Identity / RBAC / ABAC: </a:t>
            </a:r>
            <a:r>
              <a:rPr lang="en-US" sz="900"/>
              <a:t>Determines what a user, agent, subagent, skill, or workflow is authorized to perform.</a:t>
            </a:r>
          </a:p>
          <a:p>
            <a:r>
              <a:rPr lang="en-US" sz="900" b="1"/>
              <a:t>Policy Engine: </a:t>
            </a:r>
            <a:r>
              <a:rPr lang="en-US" sz="900"/>
              <a:t>Evaluates organizational rules independently of the LLM: compliance, security, data handling, deployment, licensing, etc.</a:t>
            </a:r>
          </a:p>
          <a:p>
            <a:r>
              <a:rPr lang="en-US" sz="900" b="1"/>
              <a:t>Human-in-the-Loop: </a:t>
            </a:r>
            <a:r>
              <a:rPr lang="en-US" sz="900"/>
              <a:t>Pause → inspect → approve/reject/edit → resume, with escalation based on risk rather than every operation.</a:t>
            </a:r>
          </a:p>
          <a:p>
            <a:r>
              <a:rPr lang="en-US" sz="900" b="1"/>
              <a:t>Checkpointing: </a:t>
            </a:r>
            <a:r>
              <a:rPr lang="en-US" sz="900"/>
              <a:t>Serializes execution state so a task can resume after crashes, restarts, model failures, or human intervention.</a:t>
            </a:r>
          </a:p>
          <a:p>
            <a:r>
              <a:rPr lang="en-US" sz="900" b="1"/>
              <a:t>Branching / Rewind: </a:t>
            </a:r>
            <a:r>
              <a:rPr lang="en-US" sz="900"/>
              <a:t>Forks from checkpoints, tries alternatives, compares results, or rewinds to a known-good state.</a:t>
            </a:r>
          </a:p>
          <a:p>
            <a:r>
              <a:rPr lang="en-US" sz="900" b="1"/>
              <a:t>Durable Execution: </a:t>
            </a:r>
            <a:r>
              <a:rPr lang="en-US" sz="900"/>
              <a:t>Turns a 3-hour agent run into a recoverable workflow instead of one giant fragile LLM conversation.</a:t>
            </a:r>
          </a:p>
          <a:p>
            <a:r>
              <a:rPr lang="en-US" sz="900" b="1"/>
              <a:t>Compensation / Rollback: </a:t>
            </a:r>
            <a:r>
              <a:rPr lang="en-US" sz="900"/>
              <a:t>Defines reverse operations when an agent partially completes a multi-step transaction.</a:t>
            </a:r>
          </a:p>
          <a:p>
            <a:r>
              <a:rPr lang="en-US" sz="900" b="1"/>
              <a:t>Artifact Management: </a:t>
            </a:r>
            <a:r>
              <a:rPr lang="en-US" sz="900"/>
              <a:t>Treats generated code, plans, reports, patches, screenshots, logs, test results, etc. as first-class versioned artifacts.</a:t>
            </a:r>
          </a:p>
          <a:p>
            <a:r>
              <a:rPr lang="en-US" sz="900" b="1"/>
              <a:t>Context Engineering: </a:t>
            </a:r>
            <a:r>
              <a:rPr lang="en-US" sz="900"/>
              <a:t>Selects what goes into the model context instead of blindly appending conversation history.</a:t>
            </a:r>
          </a:p>
          <a:p>
            <a:r>
              <a:rPr lang="en-US" sz="900" b="1"/>
              <a:t>Context Compression: </a:t>
            </a:r>
            <a:r>
              <a:rPr lang="en-US" sz="900"/>
              <a:t>Summarizes, deduplicates, ranks, chunks, expires, and retrieves information according to relevance.</a:t>
            </a:r>
          </a:p>
          <a:p>
            <a:r>
              <a:rPr lang="en-US" sz="900" b="1"/>
              <a:t>Progressive Disclosure: </a:t>
            </a:r>
            <a:r>
              <a:rPr lang="en-US" sz="900"/>
              <a:t>Exposes capability contracts first and implementation details only when required.</a:t>
            </a:r>
          </a:p>
          <a:p>
            <a:r>
              <a:rPr lang="en-US" sz="900" b="1"/>
              <a:t>Repository Intelligence: </a:t>
            </a:r>
            <a:r>
              <a:rPr lang="en-US" sz="900"/>
              <a:t>Builds structural maps of repositories: languages, packages, dependencies, ownership, symbols, tests, build systems, etc.</a:t>
            </a:r>
          </a:p>
          <a:p>
            <a:r>
              <a:rPr lang="en-US" sz="900" b="1"/>
              <a:t>Semantic Retrieval: </a:t>
            </a:r>
            <a:r>
              <a:rPr lang="en-US" sz="900"/>
              <a:t>RAG over code, documentation, tickets, architecture decisions, prior executions, and organizational knowledge.</a:t>
            </a:r>
          </a:p>
          <a:p>
            <a:r>
              <a:rPr lang="en-US" sz="900" b="1"/>
              <a:t>Model Routing: </a:t>
            </a:r>
            <a:r>
              <a:rPr lang="en-US" sz="900"/>
              <a:t>Routes simple operations to cheap/fast models and difficult reasoning to stronger models.</a:t>
            </a:r>
          </a:p>
          <a:p>
            <a:r>
              <a:rPr lang="en-US" sz="900" b="1"/>
              <a:t>Agent Routing: </a:t>
            </a:r>
            <a:r>
              <a:rPr lang="en-US" sz="900"/>
              <a:t>Delegates work to specialized agents such as planner, coder, reviewer, tester, security reviewer, researcher, etc.</a:t>
            </a:r>
          </a:p>
          <a:p>
            <a:r>
              <a:rPr lang="en-US" sz="900" b="1"/>
              <a:t>Skill Routing: </a:t>
            </a:r>
            <a:r>
              <a:rPr lang="en-US" sz="900"/>
              <a:t>Maps intent → skill → tools rather than requiring the model to rediscover procedures every run.</a:t>
            </a:r>
          </a:p>
          <a:p>
            <a:r>
              <a:rPr lang="en-US" sz="900" b="1"/>
              <a:t>Task Decomposition: </a:t>
            </a:r>
            <a:r>
              <a:rPr lang="en-US" sz="900"/>
              <a:t>Converts an objective into tasks, dependencies, DAGs, milestones, and executable units.</a:t>
            </a:r>
          </a:p>
          <a:p>
            <a:r>
              <a:rPr lang="en-US" sz="900" b="1"/>
              <a:t>Parallel Execution: </a:t>
            </a:r>
            <a:r>
              <a:rPr lang="en-US" sz="900"/>
              <a:t>Runs independent agents/tasks concurrently while controlling shared state and merge conflicts.</a:t>
            </a:r>
          </a:p>
          <a:p>
            <a:r>
              <a:rPr lang="en-US" sz="900" b="1"/>
              <a:t>Agent Coordination: </a:t>
            </a:r>
            <a:r>
              <a:rPr lang="en-US" sz="900"/>
              <a:t>Mailboxes, queues, blackboards, event buses, structured messages, ownership, locks, and synchronization.</a:t>
            </a:r>
          </a:p>
          <a:p>
            <a:r>
              <a:rPr lang="en-US" sz="900" b="1"/>
              <a:t>Conflict Resolution: </a:t>
            </a:r>
            <a:r>
              <a:rPr lang="en-US" sz="900"/>
              <a:t>Handles multiple agents modifying the same files/resources or producing incompatible conclusions.</a:t>
            </a:r>
          </a:p>
          <a:p>
            <a:r>
              <a:rPr lang="en-US" sz="900" b="1"/>
              <a:t>Verification: </a:t>
            </a:r>
            <a:r>
              <a:rPr lang="en-US" sz="900"/>
              <a:t>Separates generation from validation: tests, schemas, static analysis, policy checks, security scans, visual checks, etc.</a:t>
            </a:r>
          </a:p>
          <a:p>
            <a:r>
              <a:rPr lang="en-US" sz="900" b="1"/>
              <a:t>Structured Outputs: </a:t>
            </a:r>
            <a:r>
              <a:rPr lang="en-US" sz="900"/>
              <a:t>Enforces JSON Schema, Zod, Pydantic, protobuf, typed events, or other contracts instead of trusting prose.</a:t>
            </a:r>
          </a:p>
          <a:p>
            <a:r>
              <a:rPr lang="en-US" sz="900" b="1"/>
              <a:t>Self-Correction Loops</a:t>
            </a:r>
            <a:r>
              <a:rPr lang="en-US" sz="900"/>
              <a:t>: generate → validate → diagnose → repair → validate with bounded retry policies.</a:t>
            </a:r>
          </a:p>
          <a:p>
            <a:r>
              <a:rPr lang="en-US" sz="900" b="1"/>
              <a:t>Quality Gates: </a:t>
            </a:r>
            <a:r>
              <a:rPr lang="en-US" sz="900"/>
              <a:t>Prevents advancement until required tests, linting, security checks, coverage, approvals, or validations succeed.</a:t>
            </a:r>
          </a:p>
          <a:p>
            <a:r>
              <a:rPr lang="en-US" sz="900" b="1"/>
              <a:t>Stop Conditions: </a:t>
            </a:r>
            <a:r>
              <a:rPr lang="en-US" sz="900"/>
              <a:t>Defines success, failure, retry, escalation, timeout, maximum iterations, and budget exhaustion.</a:t>
            </a:r>
          </a:p>
          <a:p>
            <a:r>
              <a:rPr lang="en-US" sz="900" b="1"/>
              <a:t>Observability </a:t>
            </a:r>
            <a:r>
              <a:rPr lang="en-US" sz="900"/>
              <a:t>Traces prompts, models, tool calls, tokens, latency, state transitions, artifacts, errors, and decisions.</a:t>
            </a:r>
          </a:p>
          <a:p>
            <a:r>
              <a:rPr lang="en-US" sz="900" b="1"/>
              <a:t>Replay: </a:t>
            </a:r>
            <a:r>
              <a:rPr lang="en-US" sz="900"/>
              <a:t>Reconstructs an execution from its event history for debugging, auditing, or regression testing.</a:t>
            </a:r>
          </a:p>
          <a:p>
            <a:r>
              <a:rPr lang="en-US" sz="900" b="1"/>
              <a:t>Provenance: </a:t>
            </a:r>
            <a:r>
              <a:rPr lang="en-US" sz="900"/>
              <a:t>Records where generated information / code came from and which inputs influenced a decision.</a:t>
            </a:r>
          </a:p>
          <a:p>
            <a:r>
              <a:rPr lang="en-US" sz="900" b="1"/>
              <a:t>Event System</a:t>
            </a:r>
            <a:r>
              <a:rPr lang="en-US" sz="900"/>
              <a:t>: Emits events such as task.started, tool.called, approval.required, artifact.created, task.completed</a:t>
            </a:r>
          </a:p>
          <a:p>
            <a:r>
              <a:rPr lang="en-US" sz="900" b="1"/>
              <a:t>Hooks / Middleware: </a:t>
            </a:r>
            <a:r>
              <a:rPr lang="en-US" sz="900"/>
              <a:t>Provides interception points before/after prompts, model calls, tool execution, writes, commits, deployments, etc.</a:t>
            </a:r>
          </a:p>
          <a:p>
            <a:r>
              <a:rPr lang="en-US" sz="900" b="1"/>
              <a:t>Session Management</a:t>
            </a:r>
            <a:r>
              <a:rPr lang="en-US" sz="900"/>
              <a:t>Maintains multiple independent task/session/workspace contexts and lets them resume later.</a:t>
            </a:r>
          </a:p>
          <a:p>
            <a:r>
              <a:rPr lang="en-US" sz="900" b="1"/>
              <a:t>Scheduling</a:t>
            </a:r>
            <a:r>
              <a:rPr lang="en-US" sz="900"/>
              <a:t>Runs agents periodically, at a specific time, from queues, or in response to external events.</a:t>
            </a:r>
          </a:p>
          <a:p>
            <a:r>
              <a:rPr lang="en-US" sz="900" b="1"/>
              <a:t>Triggers / Webhooks</a:t>
            </a:r>
            <a:r>
              <a:rPr lang="en-US" sz="900"/>
              <a:t>Starts workflows from GitHub, Jira, Slack, CI, monitoring alerts, email, APIs, filesystem changes, etc.</a:t>
            </a:r>
          </a:p>
          <a:p>
            <a:r>
              <a:rPr lang="en-US" sz="900" b="1"/>
              <a:t>Background Execution</a:t>
            </a:r>
            <a:r>
              <a:rPr lang="en-US" sz="900"/>
              <a:t>Allows long-running tasks to continue independently of an interactive CLI/editor session.</a:t>
            </a:r>
          </a:p>
          <a:p>
            <a:r>
              <a:rPr lang="en-US" sz="900" b="1"/>
              <a:t>Notifications</a:t>
            </a:r>
            <a:r>
              <a:rPr lang="en-US" sz="900"/>
              <a:t>Reports completion, failure, approval requests, budget thresholds, or anomalies through external channels.</a:t>
            </a:r>
          </a:p>
          <a:p>
            <a:r>
              <a:rPr lang="en-US" sz="900" b="1"/>
              <a:t>Extension System</a:t>
            </a:r>
            <a:r>
              <a:rPr lang="en-US" sz="900"/>
              <a:t>Allows new agents, skills, commands, MCP servers, plugins, hooks, models, policies, and tools to be installed.</a:t>
            </a:r>
          </a:p>
        </p:txBody>
      </p:sp>
      <p:sp>
        <p:nvSpPr>
          <p:cNvPr id="11" name="TextBox 10">
            <a:extLst>
              <a:ext uri="{FF2B5EF4-FFF2-40B4-BE49-F238E27FC236}">
                <a16:creationId xmlns:a16="http://schemas.microsoft.com/office/drawing/2014/main" id="{5C0AF851-0EB8-CEC3-2CF1-3E7E47D7E9D9}"/>
              </a:ext>
            </a:extLst>
          </p:cNvPr>
          <p:cNvSpPr txBox="1"/>
          <p:nvPr/>
        </p:nvSpPr>
        <p:spPr>
          <a:xfrm>
            <a:off x="10633166" y="104503"/>
            <a:ext cx="11015131" cy="923330"/>
          </a:xfrm>
          <a:prstGeom prst="rect">
            <a:avLst/>
          </a:prstGeom>
          <a:noFill/>
        </p:spPr>
        <p:txBody>
          <a:bodyPr wrap="none" rtlCol="0">
            <a:spAutoFit/>
          </a:bodyPr>
          <a:lstStyle/>
          <a:p>
            <a:r>
              <a:rPr lang="en-US" b="1"/>
              <a:t>Evaluation: </a:t>
            </a:r>
            <a:r>
              <a:rPr lang="en-US"/>
              <a:t>Runs agent behavior against golden tasks, regression suites, benchmarks, and production traces.</a:t>
            </a:r>
          </a:p>
          <a:p>
            <a:r>
              <a:rPr lang="en-US" b="1"/>
              <a:t>Auditability</a:t>
            </a:r>
            <a:r>
              <a:rPr lang="en-US"/>
              <a:t>Maintains immutable records of who/what/when/why for actions taken by autonomous systems.</a:t>
            </a:r>
          </a:p>
          <a:p>
            <a:endParaRPr lang="en-US"/>
          </a:p>
        </p:txBody>
      </p:sp>
    </p:spTree>
    <p:extLst>
      <p:ext uri="{BB962C8B-B14F-4D97-AF65-F5344CB8AC3E}">
        <p14:creationId xmlns:p14="http://schemas.microsoft.com/office/powerpoint/2010/main" val="77288669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2920C9-7FD6-BAD4-0039-DB0A64AC5DFA}"/>
            </a:ext>
          </a:extLst>
        </p:cNvPr>
        <p:cNvGrpSpPr/>
        <p:nvPr/>
      </p:nvGrpSpPr>
      <p:grpSpPr>
        <a:xfrm>
          <a:off x="0" y="0"/>
          <a:ext cx="0" cy="0"/>
          <a:chOff x="0" y="0"/>
          <a:chExt cx="0" cy="0"/>
        </a:xfrm>
      </p:grpSpPr>
      <p:sp>
        <p:nvSpPr>
          <p:cNvPr id="5" name="Rounded Rectangle 4">
            <a:extLst>
              <a:ext uri="{FF2B5EF4-FFF2-40B4-BE49-F238E27FC236}">
                <a16:creationId xmlns:a16="http://schemas.microsoft.com/office/drawing/2014/main" id="{422311C3-67A7-6DB6-9065-8328F59FB36D}"/>
              </a:ext>
            </a:extLst>
          </p:cNvPr>
          <p:cNvSpPr/>
          <p:nvPr/>
        </p:nvSpPr>
        <p:spPr>
          <a:xfrm>
            <a:off x="499730" y="829339"/>
            <a:ext cx="3104707" cy="1148317"/>
          </a:xfrm>
          <a:prstGeom prst="roundRect">
            <a:avLst/>
          </a:prstGeom>
          <a:solidFill>
            <a:schemeClr val="bg1"/>
          </a:solidFill>
        </p:spPr>
        <p:style>
          <a:lnRef idx="2">
            <a:schemeClr val="dk1"/>
          </a:lnRef>
          <a:fillRef idx="1">
            <a:schemeClr val="lt1"/>
          </a:fillRef>
          <a:effectRef idx="0">
            <a:schemeClr val="dk1"/>
          </a:effectRef>
          <a:fontRef idx="minor">
            <a:schemeClr val="dk1"/>
          </a:fontRef>
        </p:style>
        <p:txBody>
          <a:bodyPr rtlCol="0" anchor="ctr"/>
          <a:lstStyle/>
          <a:p>
            <a:pPr algn="ctr"/>
            <a:r>
              <a:rPr lang="en-US"/>
              <a:t>Harness</a:t>
            </a:r>
          </a:p>
        </p:txBody>
      </p:sp>
      <p:sp>
        <p:nvSpPr>
          <p:cNvPr id="7" name="Rounded Rectangle 6">
            <a:extLst>
              <a:ext uri="{FF2B5EF4-FFF2-40B4-BE49-F238E27FC236}">
                <a16:creationId xmlns:a16="http://schemas.microsoft.com/office/drawing/2014/main" id="{D9AD216D-13AF-1E08-EAD6-20028DEA7258}"/>
              </a:ext>
            </a:extLst>
          </p:cNvPr>
          <p:cNvSpPr/>
          <p:nvPr/>
        </p:nvSpPr>
        <p:spPr>
          <a:xfrm>
            <a:off x="499730" y="2087525"/>
            <a:ext cx="978195" cy="485555"/>
          </a:xfrm>
          <a:prstGeom prst="roundRect">
            <a:avLst/>
          </a:prstGeom>
          <a:solidFill>
            <a:schemeClr val="bg1"/>
          </a:solidFill>
        </p:spPr>
        <p:style>
          <a:lnRef idx="2">
            <a:schemeClr val="dk1"/>
          </a:lnRef>
          <a:fillRef idx="1">
            <a:schemeClr val="lt1"/>
          </a:fillRef>
          <a:effectRef idx="0">
            <a:schemeClr val="dk1"/>
          </a:effectRef>
          <a:fontRef idx="minor">
            <a:schemeClr val="dk1"/>
          </a:fontRef>
        </p:style>
        <p:txBody>
          <a:bodyPr rtlCol="0" anchor="ctr"/>
          <a:lstStyle/>
          <a:p>
            <a:pPr algn="ctr"/>
            <a:r>
              <a:rPr lang="en-US"/>
              <a:t>CLI</a:t>
            </a:r>
          </a:p>
        </p:txBody>
      </p:sp>
      <p:sp>
        <p:nvSpPr>
          <p:cNvPr id="8" name="Rounded Rectangle 7">
            <a:extLst>
              <a:ext uri="{FF2B5EF4-FFF2-40B4-BE49-F238E27FC236}">
                <a16:creationId xmlns:a16="http://schemas.microsoft.com/office/drawing/2014/main" id="{048AE155-0D09-D5DF-3506-08C81D40E1DA}"/>
              </a:ext>
            </a:extLst>
          </p:cNvPr>
          <p:cNvSpPr/>
          <p:nvPr/>
        </p:nvSpPr>
        <p:spPr>
          <a:xfrm>
            <a:off x="1562986" y="2087525"/>
            <a:ext cx="978195" cy="485555"/>
          </a:xfrm>
          <a:prstGeom prst="roundRect">
            <a:avLst/>
          </a:prstGeom>
          <a:solidFill>
            <a:schemeClr val="bg1"/>
          </a:solidFill>
        </p:spPr>
        <p:style>
          <a:lnRef idx="2">
            <a:schemeClr val="dk1"/>
          </a:lnRef>
          <a:fillRef idx="1">
            <a:schemeClr val="lt1"/>
          </a:fillRef>
          <a:effectRef idx="0">
            <a:schemeClr val="dk1"/>
          </a:effectRef>
          <a:fontRef idx="minor">
            <a:schemeClr val="dk1"/>
          </a:fontRef>
        </p:style>
        <p:txBody>
          <a:bodyPr rtlCol="0" anchor="ctr"/>
          <a:lstStyle/>
          <a:p>
            <a:pPr algn="ctr"/>
            <a:r>
              <a:rPr lang="en-US"/>
              <a:t>SDK</a:t>
            </a:r>
          </a:p>
        </p:txBody>
      </p:sp>
      <p:sp>
        <p:nvSpPr>
          <p:cNvPr id="9" name="Rounded Rectangle 8">
            <a:extLst>
              <a:ext uri="{FF2B5EF4-FFF2-40B4-BE49-F238E27FC236}">
                <a16:creationId xmlns:a16="http://schemas.microsoft.com/office/drawing/2014/main" id="{3C01449B-D601-BF31-BEEE-DED8758FEAE9}"/>
              </a:ext>
            </a:extLst>
          </p:cNvPr>
          <p:cNvSpPr/>
          <p:nvPr/>
        </p:nvSpPr>
        <p:spPr>
          <a:xfrm>
            <a:off x="2626242" y="2087524"/>
            <a:ext cx="978195" cy="485555"/>
          </a:xfrm>
          <a:prstGeom prst="roundRect">
            <a:avLst/>
          </a:prstGeom>
          <a:solidFill>
            <a:schemeClr val="bg1"/>
          </a:solidFill>
        </p:spPr>
        <p:style>
          <a:lnRef idx="2">
            <a:schemeClr val="dk1"/>
          </a:lnRef>
          <a:fillRef idx="1">
            <a:schemeClr val="lt1"/>
          </a:fillRef>
          <a:effectRef idx="0">
            <a:schemeClr val="dk1"/>
          </a:effectRef>
          <a:fontRef idx="minor">
            <a:schemeClr val="dk1"/>
          </a:fontRef>
        </p:style>
        <p:txBody>
          <a:bodyPr rtlCol="0" anchor="ctr"/>
          <a:lstStyle/>
          <a:p>
            <a:pPr algn="ctr"/>
            <a:r>
              <a:rPr lang="en-US"/>
              <a:t>Server</a:t>
            </a:r>
          </a:p>
        </p:txBody>
      </p:sp>
      <p:sp>
        <p:nvSpPr>
          <p:cNvPr id="10" name="TextBox 9">
            <a:extLst>
              <a:ext uri="{FF2B5EF4-FFF2-40B4-BE49-F238E27FC236}">
                <a16:creationId xmlns:a16="http://schemas.microsoft.com/office/drawing/2014/main" id="{DFEA6559-F832-146A-3594-7D1D6E8EBD9E}"/>
              </a:ext>
            </a:extLst>
          </p:cNvPr>
          <p:cNvSpPr txBox="1"/>
          <p:nvPr/>
        </p:nvSpPr>
        <p:spPr>
          <a:xfrm>
            <a:off x="382772" y="2775098"/>
            <a:ext cx="11302409" cy="3139321"/>
          </a:xfrm>
          <a:prstGeom prst="rect">
            <a:avLst/>
          </a:prstGeom>
          <a:noFill/>
        </p:spPr>
        <p:txBody>
          <a:bodyPr wrap="square" rtlCol="0">
            <a:spAutoFit/>
          </a:bodyPr>
          <a:lstStyle/>
          <a:p>
            <a:r>
              <a:rPr lang="en-US" b="1"/>
              <a:t>Idempotency</a:t>
            </a:r>
            <a:r>
              <a:rPr lang="en-US"/>
              <a:t>: An idempotent script yields the exact same result whether executed once or a thousand times</a:t>
            </a:r>
          </a:p>
          <a:p>
            <a:r>
              <a:rPr lang="en-US" b="1"/>
              <a:t>Detection (State Check):</a:t>
            </a:r>
            <a:r>
              <a:rPr lang="en-US"/>
              <a:t> Before modifying anything, the system must query the environment to assess if the required tool or its dependencies already exist.</a:t>
            </a:r>
          </a:p>
          <a:p>
            <a:r>
              <a:rPr lang="en-US" b="1"/>
              <a:t>Resolution (Version Matching):</a:t>
            </a:r>
            <a:r>
              <a:rPr lang="en-US"/>
              <a:t> The system must parse the currently installed version and compare it against required constraints. If the version matches, the setup skips directly to verification; if it is outdated, it moves to provisioning.</a:t>
            </a:r>
          </a:p>
          <a:p>
            <a:r>
              <a:rPr lang="en-US" b="1"/>
              <a:t>Provisioning (Fetching and Installing):</a:t>
            </a:r>
            <a:r>
              <a:rPr lang="en-US"/>
              <a:t> If the required tool is missing or outdated, the system acquires it by handing off the request to a system package manager, fetching a direct binary from a remote source, or unpacking and symlinking to the user's path.</a:t>
            </a:r>
          </a:p>
          <a:p>
            <a:r>
              <a:rPr lang="en-US" b="1"/>
              <a:t>Configuration (Environment Hooking):</a:t>
            </a:r>
            <a:r>
              <a:rPr lang="en-US"/>
              <a:t> Once on the disk, the software must be hooked into the user's environment by injecting paths into files like .bashrc or .zshrc, or by generating default settings files.</a:t>
            </a:r>
          </a:p>
        </p:txBody>
      </p:sp>
    </p:spTree>
    <p:extLst>
      <p:ext uri="{BB962C8B-B14F-4D97-AF65-F5344CB8AC3E}">
        <p14:creationId xmlns:p14="http://schemas.microsoft.com/office/powerpoint/2010/main" val="122500986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9292752-040F-8ADC-6B9B-168E956E5F70}"/>
              </a:ext>
            </a:extLst>
          </p:cNvPr>
          <p:cNvSpPr txBox="1"/>
          <p:nvPr/>
        </p:nvSpPr>
        <p:spPr>
          <a:xfrm>
            <a:off x="147376" y="948690"/>
            <a:ext cx="6096000" cy="5909310"/>
          </a:xfrm>
          <a:prstGeom prst="rect">
            <a:avLst/>
          </a:prstGeom>
          <a:noFill/>
        </p:spPr>
        <p:txBody>
          <a:bodyPr wrap="square">
            <a:spAutoFit/>
          </a:bodyPr>
          <a:lstStyle/>
          <a:p>
            <a:r>
              <a:rPr lang="en-US" sz="1050"/>
              <a:t> AGENT HARNESS</a:t>
            </a:r>
          </a:p>
          <a:p>
            <a:endParaRPr lang="en-US" sz="1050"/>
          </a:p>
          <a:p>
            <a:r>
              <a:rPr lang="en-US" sz="1050"/>
              <a:t> ┌─────────────────────────────────────────────────────┐</a:t>
            </a:r>
          </a:p>
          <a:p>
            <a:r>
              <a:rPr lang="en-US" sz="1050"/>
              <a:t> │  EXPERIENCE PLANE                                   │</a:t>
            </a:r>
          </a:p>
          <a:p>
            <a:r>
              <a:rPr lang="en-US" sz="1050"/>
              <a:t> │  CLI · IDE · Web UI · Chat · API · Notifications   │</a:t>
            </a:r>
          </a:p>
          <a:p>
            <a:r>
              <a:rPr lang="en-US" sz="1050"/>
              <a:t> ├─────────────────────────────────────────────────────┤</a:t>
            </a:r>
          </a:p>
          <a:p>
            <a:r>
              <a:rPr lang="en-US" sz="1050"/>
              <a:t> │  INTENT / PLANNING PLANE                            │</a:t>
            </a:r>
          </a:p>
          <a:p>
            <a:r>
              <a:rPr lang="en-US" sz="1050"/>
              <a:t> │  Goal decomposition · Planning · Task DAG · Skills  │</a:t>
            </a:r>
          </a:p>
          <a:p>
            <a:r>
              <a:rPr lang="en-US" sz="1050"/>
              <a:t> ├─────────────────────────────────────────────────────┤</a:t>
            </a:r>
          </a:p>
          <a:p>
            <a:r>
              <a:rPr lang="en-US" sz="1050"/>
              <a:t> │  ORCHESTRATION PLANE                                │</a:t>
            </a:r>
          </a:p>
          <a:p>
            <a:r>
              <a:rPr lang="en-US" sz="1050"/>
              <a:t> │  Routing · Agents · Parallelism · HITL · Scheduling │</a:t>
            </a:r>
          </a:p>
          <a:p>
            <a:r>
              <a:rPr lang="en-US" sz="1050"/>
              <a:t> │  Retry · Pause · Resume · Rewind · Compensation     │</a:t>
            </a:r>
          </a:p>
          <a:p>
            <a:r>
              <a:rPr lang="en-US" sz="1050"/>
              <a:t> ├─────────────────────────────────────────────────────┤</a:t>
            </a:r>
          </a:p>
          <a:p>
            <a:r>
              <a:rPr lang="en-US" sz="1050"/>
              <a:t> │  CONTEXT PLANE                                      │</a:t>
            </a:r>
          </a:p>
          <a:p>
            <a:r>
              <a:rPr lang="en-US" sz="1050"/>
              <a:t> │  Memory · RAG · Summaries · Rules · Repository Map  │</a:t>
            </a:r>
          </a:p>
          <a:p>
            <a:r>
              <a:rPr lang="en-US" sz="1050"/>
              <a:t> │  Progressive disclosure · Context budgeting         │</a:t>
            </a:r>
          </a:p>
          <a:p>
            <a:r>
              <a:rPr lang="en-US" sz="1050"/>
              <a:t> ├─────────────────────────────────────────────────────┤</a:t>
            </a:r>
          </a:p>
          <a:p>
            <a:r>
              <a:rPr lang="en-US" sz="1050"/>
              <a:t> │  INFERENCE PLANE                                    │</a:t>
            </a:r>
          </a:p>
          <a:p>
            <a:r>
              <a:rPr lang="en-US" sz="1050"/>
              <a:t> │  Model routing · Prompt contracts · Structured I/O  │</a:t>
            </a:r>
          </a:p>
          <a:p>
            <a:r>
              <a:rPr lang="en-US" sz="1050"/>
              <a:t> │  Generation · Reasoning · Verification              │</a:t>
            </a:r>
          </a:p>
          <a:p>
            <a:r>
              <a:rPr lang="en-US" sz="1050"/>
              <a:t> ├─────────────────────────────────────────────────────┤</a:t>
            </a:r>
          </a:p>
          <a:p>
            <a:r>
              <a:rPr lang="en-US" sz="1050"/>
              <a:t> │  CAPABILITY PLANE                                   │</a:t>
            </a:r>
          </a:p>
          <a:p>
            <a:r>
              <a:rPr lang="en-US" sz="1050"/>
              <a:t> │  Skills · Tools · MCP · LSP · Shell · Git · Browser │</a:t>
            </a:r>
          </a:p>
          <a:p>
            <a:r>
              <a:rPr lang="en-US" sz="1050"/>
              <a:t> │  APIs · Filesystem · Databases                      │</a:t>
            </a:r>
          </a:p>
          <a:p>
            <a:r>
              <a:rPr lang="en-US" sz="1050"/>
              <a:t> ├─────────────────────────────────────────────────────┤</a:t>
            </a:r>
          </a:p>
          <a:p>
            <a:r>
              <a:rPr lang="en-US" sz="1050"/>
              <a:t> │  POLICY / SECURITY PLANE                            │</a:t>
            </a:r>
          </a:p>
          <a:p>
            <a:r>
              <a:rPr lang="en-US" sz="1050"/>
              <a:t> │  RBAC · Permissions · Secrets · Sandbox · Egress    │</a:t>
            </a:r>
          </a:p>
          <a:p>
            <a:r>
              <a:rPr lang="en-US" sz="1050"/>
              <a:t> │  Approval gates · Policy engine · Resource limits   │</a:t>
            </a:r>
          </a:p>
          <a:p>
            <a:r>
              <a:rPr lang="en-US" sz="1050"/>
              <a:t> ├─────────────────────────────────────────────────────┤</a:t>
            </a:r>
          </a:p>
          <a:p>
            <a:r>
              <a:rPr lang="en-US" sz="1050"/>
              <a:t> │  STATE / DURABILITY PLANE                           │</a:t>
            </a:r>
          </a:p>
          <a:p>
            <a:r>
              <a:rPr lang="en-US" sz="1050"/>
              <a:t> │  Events · Checkpoints · Sessions · Artifacts        │</a:t>
            </a:r>
          </a:p>
          <a:p>
            <a:r>
              <a:rPr lang="en-US" sz="1050"/>
              <a:t> │  Branches · Transactions · Replay                   │</a:t>
            </a:r>
          </a:p>
          <a:p>
            <a:r>
              <a:rPr lang="en-US" sz="1050"/>
              <a:t> ├─────────────────────────────────────────────────────┤</a:t>
            </a:r>
          </a:p>
          <a:p>
            <a:r>
              <a:rPr lang="en-US" sz="1050"/>
              <a:t> │  TELEMETRY / GOVERNANCE PLANE                       │</a:t>
            </a:r>
          </a:p>
          <a:p>
            <a:r>
              <a:rPr lang="en-US" sz="1050"/>
              <a:t> │  Traces · Logs · Cost · Audit · Provenance · Evals  │</a:t>
            </a:r>
          </a:p>
          <a:p>
            <a:r>
              <a:rPr lang="en-US" sz="1050"/>
              <a:t> └─────────────────────────────────────────────────────┘</a:t>
            </a:r>
          </a:p>
        </p:txBody>
      </p:sp>
      <p:sp>
        <p:nvSpPr>
          <p:cNvPr id="6" name="TextBox 5">
            <a:extLst>
              <a:ext uri="{FF2B5EF4-FFF2-40B4-BE49-F238E27FC236}">
                <a16:creationId xmlns:a16="http://schemas.microsoft.com/office/drawing/2014/main" id="{9418EB6E-5B0D-FAF1-B385-74F01C43CA9A}"/>
              </a:ext>
            </a:extLst>
          </p:cNvPr>
          <p:cNvSpPr txBox="1"/>
          <p:nvPr/>
        </p:nvSpPr>
        <p:spPr>
          <a:xfrm>
            <a:off x="2423109" y="0"/>
            <a:ext cx="2896947" cy="1200329"/>
          </a:xfrm>
          <a:prstGeom prst="rect">
            <a:avLst/>
          </a:prstGeom>
          <a:noFill/>
        </p:spPr>
        <p:txBody>
          <a:bodyPr wrap="none" rtlCol="0">
            <a:spAutoFit/>
          </a:bodyPr>
          <a:lstStyle/>
          <a:p>
            <a:r>
              <a:rPr lang="en-US"/>
              <a:t>Server-side agent harness</a:t>
            </a:r>
          </a:p>
          <a:p>
            <a:r>
              <a:rPr lang="en-US"/>
              <a:t>- Server to agent harness </a:t>
            </a:r>
          </a:p>
          <a:p>
            <a:r>
              <a:rPr lang="en-US"/>
              <a:t>Client-side agent harness</a:t>
            </a:r>
          </a:p>
          <a:p>
            <a:r>
              <a:rPr lang="en-US"/>
              <a:t>- Browser to agent harness </a:t>
            </a:r>
          </a:p>
        </p:txBody>
      </p:sp>
      <p:sp>
        <p:nvSpPr>
          <p:cNvPr id="8" name="TextBox 7">
            <a:extLst>
              <a:ext uri="{FF2B5EF4-FFF2-40B4-BE49-F238E27FC236}">
                <a16:creationId xmlns:a16="http://schemas.microsoft.com/office/drawing/2014/main" id="{121D2546-B404-D2F9-6256-6A245B678CC1}"/>
              </a:ext>
            </a:extLst>
          </p:cNvPr>
          <p:cNvSpPr txBox="1"/>
          <p:nvPr/>
        </p:nvSpPr>
        <p:spPr>
          <a:xfrm>
            <a:off x="5320056" y="948690"/>
            <a:ext cx="6444778" cy="1200329"/>
          </a:xfrm>
          <a:prstGeom prst="rect">
            <a:avLst/>
          </a:prstGeom>
          <a:noFill/>
        </p:spPr>
        <p:txBody>
          <a:bodyPr wrap="none" rtlCol="0">
            <a:spAutoFit/>
          </a:bodyPr>
          <a:lstStyle/>
          <a:p>
            <a:r>
              <a:rPr lang="en-US"/>
              <a:t>Terminal User Interface (TUI)</a:t>
            </a:r>
          </a:p>
          <a:p>
            <a:r>
              <a:rPr lang="en-US"/>
              <a:t>Graphical User Interface (GUI / Editor)</a:t>
            </a:r>
          </a:p>
          <a:p>
            <a:r>
              <a:rPr lang="en-US"/>
              <a:t>Widgets, Browser Extensions, Native Desktop App(MacOS), iOS</a:t>
            </a:r>
          </a:p>
          <a:p>
            <a:r>
              <a:rPr lang="en-US"/>
              <a:t>Slack, Voice, Image, webhooks, MCP, A2A</a:t>
            </a:r>
          </a:p>
        </p:txBody>
      </p:sp>
      <p:pic>
        <p:nvPicPr>
          <p:cNvPr id="9" name="Picture 8">
            <a:extLst>
              <a:ext uri="{FF2B5EF4-FFF2-40B4-BE49-F238E27FC236}">
                <a16:creationId xmlns:a16="http://schemas.microsoft.com/office/drawing/2014/main" id="{21AB1DAC-7E9C-B190-C39D-284B3E773025}"/>
              </a:ext>
            </a:extLst>
          </p:cNvPr>
          <p:cNvPicPr>
            <a:picLocks noChangeAspect="1"/>
          </p:cNvPicPr>
          <p:nvPr/>
        </p:nvPicPr>
        <p:blipFill>
          <a:blip r:embed="rId2"/>
          <a:stretch>
            <a:fillRect/>
          </a:stretch>
        </p:blipFill>
        <p:spPr>
          <a:xfrm>
            <a:off x="5320056" y="2351345"/>
            <a:ext cx="5363308" cy="4108243"/>
          </a:xfrm>
          <a:prstGeom prst="rect">
            <a:avLst/>
          </a:prstGeom>
        </p:spPr>
      </p:pic>
    </p:spTree>
    <p:extLst>
      <p:ext uri="{BB962C8B-B14F-4D97-AF65-F5344CB8AC3E}">
        <p14:creationId xmlns:p14="http://schemas.microsoft.com/office/powerpoint/2010/main" val="321180807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98F710-7770-92C1-25D4-F1676C783129}"/>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7086D627-3DFE-0940-D088-29BDC0ED952E}"/>
              </a:ext>
            </a:extLst>
          </p:cNvPr>
          <p:cNvSpPr txBox="1"/>
          <p:nvPr/>
        </p:nvSpPr>
        <p:spPr>
          <a:xfrm>
            <a:off x="3868616" y="161165"/>
            <a:ext cx="6096000" cy="369332"/>
          </a:xfrm>
          <a:prstGeom prst="rect">
            <a:avLst/>
          </a:prstGeom>
          <a:noFill/>
        </p:spPr>
        <p:txBody>
          <a:bodyPr wrap="square">
            <a:spAutoFit/>
          </a:bodyPr>
          <a:lstStyle/>
          <a:p>
            <a:pPr>
              <a:buNone/>
            </a:pPr>
            <a:r>
              <a:rPr lang="en-US" b="1"/>
              <a:t>In-Distribution vs. Out-of-Distribution</a:t>
            </a:r>
          </a:p>
        </p:txBody>
      </p:sp>
      <p:sp>
        <p:nvSpPr>
          <p:cNvPr id="7" name="TextBox 6">
            <a:extLst>
              <a:ext uri="{FF2B5EF4-FFF2-40B4-BE49-F238E27FC236}">
                <a16:creationId xmlns:a16="http://schemas.microsoft.com/office/drawing/2014/main" id="{F40592C4-5831-1F0A-35B6-46C040473FCF}"/>
              </a:ext>
            </a:extLst>
          </p:cNvPr>
          <p:cNvSpPr txBox="1"/>
          <p:nvPr/>
        </p:nvSpPr>
        <p:spPr>
          <a:xfrm>
            <a:off x="140677" y="1774701"/>
            <a:ext cx="6096000" cy="3308598"/>
          </a:xfrm>
          <a:prstGeom prst="rect">
            <a:avLst/>
          </a:prstGeom>
          <a:noFill/>
        </p:spPr>
        <p:txBody>
          <a:bodyPr wrap="square">
            <a:spAutoFit/>
          </a:bodyPr>
          <a:lstStyle/>
          <a:p>
            <a:pPr>
              <a:buNone/>
            </a:pPr>
            <a:r>
              <a:rPr lang="en-US" sz="1100" b="1"/>
              <a:t>In-Distribution vs. Out-of-Distribution</a:t>
            </a:r>
          </a:p>
          <a:p>
            <a:pPr>
              <a:buNone/>
            </a:pPr>
            <a:r>
              <a:rPr lang="en-US" sz="1100" b="1"/>
              <a:t>Keep in-distribution capabilities close to the model; move out-of-distribution requirements into the harness.</a:t>
            </a:r>
            <a:endParaRPr lang="en-US" sz="1100"/>
          </a:p>
          <a:p>
            <a:pPr>
              <a:buNone/>
            </a:pPr>
            <a:r>
              <a:rPr lang="en-US" sz="1100" b="1"/>
              <a:t>In-Distribution (Model Harness):</a:t>
            </a:r>
            <a:r>
              <a:rPr lang="en-US" sz="1100"/>
              <a:t> Capabilities the model already understands and performs reliably because they align with its training and native reasoning patterns. Keep these close to the model with minimal customization.</a:t>
            </a:r>
          </a:p>
          <a:p>
            <a:pPr>
              <a:buNone/>
            </a:pPr>
            <a:r>
              <a:rPr lang="en-US" sz="1100"/>
              <a:t>Examples: reasoning, planning, code generation, summarization, tool selection, natural-language interpretation, common development workflows, and standard model-native behaviors.</a:t>
            </a:r>
          </a:p>
          <a:p>
            <a:pPr>
              <a:buNone/>
            </a:pPr>
            <a:r>
              <a:rPr lang="en-US" sz="1100" b="1"/>
              <a:t>Out-of-Distribution (Custom Harness):</a:t>
            </a:r>
            <a:r>
              <a:rPr lang="en-US" sz="1100"/>
              <a:t> Organization-, domain-, application-, or workflow-specific behavior that the model cannot be expected to know or execute consistently. Encode these requirements explicitly in the harness through deterministic tools, skills, policies, state machines, validation, and integrations.</a:t>
            </a:r>
          </a:p>
          <a:p>
            <a:pPr>
              <a:buNone/>
            </a:pPr>
            <a:r>
              <a:rPr lang="en-US" sz="1100"/>
              <a:t>Examples: enterprise policies, proprietary workflows, internal APIs, specialized tools, security boundaries, approval processes, domain-specific rules, custom state management, and organizational conventions.</a:t>
            </a:r>
          </a:p>
          <a:p>
            <a:pPr>
              <a:buNone/>
            </a:pPr>
            <a:r>
              <a:rPr lang="en-US" sz="1100"/>
              <a:t>The architectural principle becomes:</a:t>
            </a:r>
          </a:p>
          <a:p>
            <a:pPr>
              <a:buNone/>
            </a:pPr>
            <a:r>
              <a:rPr lang="en-US" sz="1100" b="1"/>
              <a:t>Don't customize the model for what it already knows. Customize the harness for what the model cannot reliably know.</a:t>
            </a:r>
            <a:endParaRPr lang="en-US" sz="1100"/>
          </a:p>
          <a:p>
            <a:pPr>
              <a:buNone/>
            </a:pPr>
            <a:endParaRPr lang="en-US" sz="1100"/>
          </a:p>
        </p:txBody>
      </p:sp>
      <p:sp>
        <p:nvSpPr>
          <p:cNvPr id="11" name="TextBox 10">
            <a:extLst>
              <a:ext uri="{FF2B5EF4-FFF2-40B4-BE49-F238E27FC236}">
                <a16:creationId xmlns:a16="http://schemas.microsoft.com/office/drawing/2014/main" id="{7CB5D200-F312-416B-DE9B-9C88352C1958}"/>
              </a:ext>
            </a:extLst>
          </p:cNvPr>
          <p:cNvSpPr txBox="1"/>
          <p:nvPr/>
        </p:nvSpPr>
        <p:spPr>
          <a:xfrm>
            <a:off x="7467600" y="1254600"/>
            <a:ext cx="4583723" cy="3985706"/>
          </a:xfrm>
          <a:prstGeom prst="rect">
            <a:avLst/>
          </a:prstGeom>
          <a:noFill/>
        </p:spPr>
        <p:txBody>
          <a:bodyPr wrap="square">
            <a:spAutoFit/>
          </a:bodyPr>
          <a:lstStyle/>
          <a:p>
            <a:pPr>
              <a:buNone/>
            </a:pPr>
            <a:r>
              <a:rPr lang="en-US" sz="1100">
                <a:latin typeface="+mn-lt"/>
              </a:rPr>
              <a:t> Agent System</a:t>
            </a:r>
          </a:p>
          <a:p>
            <a:pPr>
              <a:buNone/>
            </a:pPr>
            <a:r>
              <a:rPr lang="en-US" sz="1100">
                <a:latin typeface="+mn-lt"/>
              </a:rPr>
              <a:t>                      │</a:t>
            </a:r>
          </a:p>
          <a:p>
            <a:pPr>
              <a:buNone/>
            </a:pPr>
            <a:r>
              <a:rPr lang="en-US" sz="1100">
                <a:latin typeface="+mn-lt"/>
              </a:rPr>
              <a:t>        ┌─────────────┴─────────────┐</a:t>
            </a:r>
          </a:p>
          <a:p>
            <a:pPr>
              <a:buNone/>
            </a:pPr>
            <a:r>
              <a:rPr lang="en-US" sz="1100">
                <a:latin typeface="+mn-lt"/>
              </a:rPr>
              <a:t>        │                           │</a:t>
            </a:r>
          </a:p>
          <a:p>
            <a:pPr>
              <a:buNone/>
            </a:pPr>
            <a:r>
              <a:rPr lang="en-US" sz="1100">
                <a:latin typeface="+mn-lt"/>
              </a:rPr>
              <a:t> In-Distribution              Out-of-Distribution</a:t>
            </a:r>
          </a:p>
          <a:p>
            <a:pPr>
              <a:buNone/>
            </a:pPr>
            <a:r>
              <a:rPr lang="en-US" sz="1100">
                <a:latin typeface="+mn-lt"/>
              </a:rPr>
              <a:t>        │                           │</a:t>
            </a:r>
          </a:p>
          <a:p>
            <a:pPr>
              <a:buNone/>
            </a:pPr>
            <a:r>
              <a:rPr lang="en-US" sz="1100">
                <a:latin typeface="+mn-lt"/>
              </a:rPr>
              <a:t>        ▼                           ▼</a:t>
            </a:r>
          </a:p>
          <a:p>
            <a:pPr>
              <a:buNone/>
            </a:pPr>
            <a:r>
              <a:rPr lang="en-US" sz="1100">
                <a:latin typeface="+mn-lt"/>
              </a:rPr>
              <a:t>   Model Harness               Custom Harness</a:t>
            </a:r>
          </a:p>
          <a:p>
            <a:pPr>
              <a:buNone/>
            </a:pPr>
            <a:r>
              <a:rPr lang="en-US" sz="1100">
                <a:latin typeface="+mn-lt"/>
              </a:rPr>
              <a:t>        │                           │</a:t>
            </a:r>
          </a:p>
          <a:p>
            <a:pPr>
              <a:buNone/>
            </a:pPr>
            <a:r>
              <a:rPr lang="en-US" sz="1100">
                <a:latin typeface="+mn-lt"/>
              </a:rPr>
              <a:t> Native reasoning             Skills</a:t>
            </a:r>
          </a:p>
          <a:p>
            <a:pPr>
              <a:buNone/>
            </a:pPr>
            <a:r>
              <a:rPr lang="en-US" sz="1100">
                <a:latin typeface="+mn-lt"/>
              </a:rPr>
              <a:t> Planning                     Tools</a:t>
            </a:r>
          </a:p>
          <a:p>
            <a:pPr>
              <a:buNone/>
            </a:pPr>
            <a:r>
              <a:rPr lang="en-US" sz="1100">
                <a:latin typeface="+mn-lt"/>
              </a:rPr>
              <a:t> Coding                       Policies</a:t>
            </a:r>
          </a:p>
          <a:p>
            <a:pPr>
              <a:buNone/>
            </a:pPr>
            <a:r>
              <a:rPr lang="en-US" sz="1100">
                <a:latin typeface="+mn-lt"/>
              </a:rPr>
              <a:t> Tool selection               Integrations</a:t>
            </a:r>
          </a:p>
          <a:p>
            <a:pPr>
              <a:buNone/>
            </a:pPr>
            <a:r>
              <a:rPr lang="en-US" sz="1100">
                <a:latin typeface="+mn-lt"/>
              </a:rPr>
              <a:t> General knowledge            State machines</a:t>
            </a:r>
          </a:p>
          <a:p>
            <a:pPr>
              <a:buNone/>
            </a:pPr>
            <a:r>
              <a:rPr lang="en-US" sz="1100">
                <a:latin typeface="+mn-lt"/>
              </a:rPr>
              <a:t> Common patterns              Domain rules</a:t>
            </a:r>
          </a:p>
          <a:p>
            <a:pPr>
              <a:buNone/>
            </a:pPr>
            <a:r>
              <a:rPr lang="en-US" sz="1100">
                <a:latin typeface="+mn-lt"/>
              </a:rPr>
              <a:t>        │                           │</a:t>
            </a:r>
          </a:p>
          <a:p>
            <a:pPr>
              <a:buNone/>
            </a:pPr>
            <a:r>
              <a:rPr lang="en-US" sz="1100">
                <a:latin typeface="+mn-lt"/>
              </a:rPr>
              <a:t>        └─────────────┬─────────────┘</a:t>
            </a:r>
          </a:p>
          <a:p>
            <a:pPr>
              <a:buNone/>
            </a:pPr>
            <a:r>
              <a:rPr lang="en-US" sz="1100">
                <a:latin typeface="+mn-lt"/>
              </a:rPr>
              <a:t>                      ▼</a:t>
            </a:r>
          </a:p>
          <a:p>
            <a:pPr>
              <a:buNone/>
            </a:pPr>
            <a:r>
              <a:rPr lang="en-US" sz="1100">
                <a:latin typeface="+mn-lt"/>
              </a:rPr>
              <a:t>                   Runtime</a:t>
            </a:r>
          </a:p>
          <a:p>
            <a:pPr>
              <a:buNone/>
            </a:pPr>
            <a:r>
              <a:rPr lang="en-US" sz="1100"/>
              <a:t>This creates a useful design boundary:</a:t>
            </a:r>
          </a:p>
          <a:p>
            <a:pPr>
              <a:buNone/>
            </a:pPr>
            <a:r>
              <a:rPr lang="en-US" sz="1100" b="1"/>
              <a:t>Model Harness = leverage the model's existing intelligence.</a:t>
            </a:r>
            <a:br>
              <a:rPr lang="en-US" sz="1100"/>
            </a:br>
            <a:r>
              <a:rPr lang="en-US" sz="1100" b="1"/>
              <a:t>Custom Harness = provide the missing environment, constraints, knowledge, and deterministic behavior.</a:t>
            </a:r>
            <a:endParaRPr lang="en-US" sz="1100"/>
          </a:p>
        </p:txBody>
      </p:sp>
    </p:spTree>
    <p:extLst>
      <p:ext uri="{BB962C8B-B14F-4D97-AF65-F5344CB8AC3E}">
        <p14:creationId xmlns:p14="http://schemas.microsoft.com/office/powerpoint/2010/main" val="66014045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30CC9B-2511-6390-74DF-B8F69BF43CBB}"/>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F807FEB-5E55-9528-0533-DC7770CA56DB}"/>
              </a:ext>
            </a:extLst>
          </p:cNvPr>
          <p:cNvSpPr txBox="1"/>
          <p:nvPr/>
        </p:nvSpPr>
        <p:spPr>
          <a:xfrm>
            <a:off x="328246" y="90850"/>
            <a:ext cx="4642339" cy="4154984"/>
          </a:xfrm>
          <a:prstGeom prst="rect">
            <a:avLst/>
          </a:prstGeom>
          <a:noFill/>
        </p:spPr>
        <p:txBody>
          <a:bodyPr wrap="square">
            <a:spAutoFit/>
          </a:bodyPr>
          <a:lstStyle/>
          <a:p>
            <a:pPr>
              <a:buNone/>
            </a:pPr>
            <a:r>
              <a:rPr lang="en-US" sz="1100" b="1"/>
              <a:t>Move Up the Abstraction Layer</a:t>
            </a:r>
          </a:p>
          <a:p>
            <a:pPr>
              <a:buNone/>
            </a:pPr>
            <a:r>
              <a:rPr lang="en-US" sz="1100" b="1"/>
              <a:t>Don't just build the system. Build the system that builds the system.</a:t>
            </a:r>
            <a:endParaRPr lang="en-US" sz="1100"/>
          </a:p>
          <a:p>
            <a:pPr>
              <a:buNone/>
            </a:pPr>
            <a:r>
              <a:rPr lang="en-US" sz="1100"/>
              <a:t>Instead of designing every agent, workflow, tool, policy, and integration individually, move one abstraction layer higher and create a </a:t>
            </a:r>
            <a:r>
              <a:rPr lang="en-US" sz="1100" b="1"/>
              <a:t>meta-harness</a:t>
            </a:r>
            <a:r>
              <a:rPr lang="en-US" sz="1100"/>
              <a:t> capable of constructing and configuring those systems.</a:t>
            </a:r>
          </a:p>
          <a:p>
            <a:pPr>
              <a:buNone/>
            </a:pPr>
            <a:r>
              <a:rPr lang="en-US" sz="1100">
                <a:latin typeface="+mn-lt"/>
              </a:rPr>
              <a:t>Level 0 — Model</a:t>
            </a:r>
          </a:p>
          <a:p>
            <a:pPr>
              <a:buNone/>
            </a:pPr>
            <a:r>
              <a:rPr lang="en-US" sz="1100">
                <a:latin typeface="+mn-lt"/>
              </a:rPr>
              <a:t>          Intelligence</a:t>
            </a:r>
          </a:p>
          <a:p>
            <a:pPr>
              <a:buNone/>
            </a:pPr>
            <a:endParaRPr lang="en-US" sz="1100">
              <a:latin typeface="+mn-lt"/>
            </a:endParaRPr>
          </a:p>
          <a:p>
            <a:pPr>
              <a:buNone/>
            </a:pPr>
            <a:r>
              <a:rPr lang="en-US" sz="1100">
                <a:latin typeface="+mn-lt"/>
              </a:rPr>
              <a:t>Level 1 — Agent</a:t>
            </a:r>
          </a:p>
          <a:p>
            <a:pPr>
              <a:buNone/>
            </a:pPr>
            <a:r>
              <a:rPr lang="en-US" sz="1100">
                <a:latin typeface="+mn-lt"/>
              </a:rPr>
              <a:t>          Model + Instructions + Tools</a:t>
            </a:r>
          </a:p>
          <a:p>
            <a:pPr>
              <a:buNone/>
            </a:pPr>
            <a:endParaRPr lang="en-US" sz="1100">
              <a:latin typeface="+mn-lt"/>
            </a:endParaRPr>
          </a:p>
          <a:p>
            <a:pPr>
              <a:buNone/>
            </a:pPr>
            <a:r>
              <a:rPr lang="en-US" sz="1100">
                <a:latin typeface="+mn-lt"/>
              </a:rPr>
              <a:t>Level 2 — Harness</a:t>
            </a:r>
          </a:p>
          <a:p>
            <a:pPr>
              <a:buNone/>
            </a:pPr>
            <a:r>
              <a:rPr lang="en-US" sz="1100">
                <a:latin typeface="+mn-lt"/>
              </a:rPr>
              <a:t>          Agents + Skills + State + Policy + Orchestration</a:t>
            </a:r>
          </a:p>
          <a:p>
            <a:pPr>
              <a:buNone/>
            </a:pPr>
            <a:endParaRPr lang="en-US" sz="1100">
              <a:latin typeface="+mn-lt"/>
            </a:endParaRPr>
          </a:p>
          <a:p>
            <a:pPr>
              <a:buNone/>
            </a:pPr>
            <a:r>
              <a:rPr lang="en-US" sz="1100">
                <a:latin typeface="+mn-lt"/>
              </a:rPr>
              <a:t>Level 3 — Meta-Harness</a:t>
            </a:r>
          </a:p>
          <a:p>
            <a:pPr>
              <a:buNone/>
            </a:pPr>
            <a:r>
              <a:rPr lang="en-US" sz="1100">
                <a:latin typeface="+mn-lt"/>
              </a:rPr>
              <a:t>          Builds and configures Harnesses</a:t>
            </a:r>
          </a:p>
          <a:p>
            <a:pPr>
              <a:buNone/>
            </a:pPr>
            <a:endParaRPr lang="en-US" sz="1100">
              <a:latin typeface="+mn-lt"/>
            </a:endParaRPr>
          </a:p>
          <a:p>
            <a:pPr>
              <a:buNone/>
            </a:pPr>
            <a:r>
              <a:rPr lang="en-US" sz="1100">
                <a:latin typeface="+mn-lt"/>
              </a:rPr>
              <a:t>Level 4 — System Factory</a:t>
            </a:r>
          </a:p>
          <a:p>
            <a:pPr>
              <a:buNone/>
            </a:pPr>
            <a:r>
              <a:rPr lang="en-US" sz="1100">
                <a:latin typeface="+mn-lt"/>
              </a:rPr>
              <a:t>          Builds systems that build specialized systems</a:t>
            </a:r>
          </a:p>
          <a:p>
            <a:pPr>
              <a:buNone/>
            </a:pPr>
            <a:r>
              <a:rPr lang="en-US" sz="1100"/>
              <a:t>At the higher abstraction layer, the question changes from:</a:t>
            </a:r>
          </a:p>
          <a:p>
            <a:pPr>
              <a:buNone/>
            </a:pPr>
            <a:r>
              <a:rPr lang="en-US" sz="1100" b="1"/>
              <a:t>"How do we build this agent system?"</a:t>
            </a:r>
            <a:endParaRPr lang="en-US" sz="1100"/>
          </a:p>
          <a:p>
            <a:pPr>
              <a:buNone/>
            </a:pPr>
            <a:r>
              <a:rPr lang="en-US" sz="1100"/>
              <a:t>to:</a:t>
            </a:r>
          </a:p>
          <a:p>
            <a:pPr>
              <a:buNone/>
            </a:pPr>
            <a:r>
              <a:rPr lang="en-US" sz="1100" b="1"/>
              <a:t>"What primitives, contracts, and constraints allow the system to construct the right agent system for the problem?"</a:t>
            </a:r>
            <a:endParaRPr lang="en-US" sz="1100"/>
          </a:p>
        </p:txBody>
      </p:sp>
      <p:sp>
        <p:nvSpPr>
          <p:cNvPr id="6" name="TextBox 5">
            <a:extLst>
              <a:ext uri="{FF2B5EF4-FFF2-40B4-BE49-F238E27FC236}">
                <a16:creationId xmlns:a16="http://schemas.microsoft.com/office/drawing/2014/main" id="{A52FA882-89B0-B557-2D3C-1995FEB31D7A}"/>
              </a:ext>
            </a:extLst>
          </p:cNvPr>
          <p:cNvSpPr txBox="1"/>
          <p:nvPr/>
        </p:nvSpPr>
        <p:spPr>
          <a:xfrm>
            <a:off x="7408985" y="87915"/>
            <a:ext cx="4454769" cy="7032694"/>
          </a:xfrm>
          <a:prstGeom prst="rect">
            <a:avLst/>
          </a:prstGeom>
          <a:noFill/>
        </p:spPr>
        <p:txBody>
          <a:bodyPr wrap="square">
            <a:spAutoFit/>
          </a:bodyPr>
          <a:lstStyle/>
          <a:p>
            <a:pPr>
              <a:buNone/>
            </a:pPr>
            <a:r>
              <a:rPr lang="en-US" sz="1100"/>
              <a:t>The resulting architecture becomes:</a:t>
            </a:r>
          </a:p>
          <a:p>
            <a:pPr>
              <a:buNone/>
            </a:pPr>
            <a:r>
              <a:rPr lang="en-US" sz="1100">
                <a:latin typeface="+mn-lt"/>
              </a:rPr>
              <a:t>Intent / Objective</a:t>
            </a:r>
          </a:p>
          <a:p>
            <a:pPr>
              <a:buNone/>
            </a:pPr>
            <a:r>
              <a:rPr lang="en-US" sz="1100">
                <a:latin typeface="+mn-lt"/>
              </a:rPr>
              <a:t>        ↓</a:t>
            </a:r>
          </a:p>
          <a:p>
            <a:pPr>
              <a:buNone/>
            </a:pPr>
            <a:r>
              <a:rPr lang="en-US" sz="1100">
                <a:latin typeface="+mn-lt"/>
              </a:rPr>
              <a:t>System Architect</a:t>
            </a:r>
          </a:p>
          <a:p>
            <a:pPr>
              <a:buNone/>
            </a:pPr>
            <a:r>
              <a:rPr lang="en-US" sz="1100">
                <a:latin typeface="+mn-lt"/>
              </a:rPr>
              <a:t>        ↓</a:t>
            </a:r>
          </a:p>
          <a:p>
            <a:pPr>
              <a:buNone/>
            </a:pPr>
            <a:r>
              <a:rPr lang="en-US" sz="1100">
                <a:latin typeface="+mn-lt"/>
              </a:rPr>
              <a:t>Determine Requirements</a:t>
            </a:r>
          </a:p>
          <a:p>
            <a:pPr>
              <a:buNone/>
            </a:pPr>
            <a:r>
              <a:rPr lang="en-US" sz="1100">
                <a:latin typeface="+mn-lt"/>
              </a:rPr>
              <a:t>        ↓</a:t>
            </a:r>
          </a:p>
          <a:p>
            <a:pPr>
              <a:buNone/>
            </a:pPr>
            <a:r>
              <a:rPr lang="en-US" sz="1100">
                <a:latin typeface="+mn-lt"/>
              </a:rPr>
              <a:t>┌──────────────────────────────┐</a:t>
            </a:r>
          </a:p>
          <a:p>
            <a:pPr>
              <a:buNone/>
            </a:pPr>
            <a:r>
              <a:rPr lang="en-US" sz="1100">
                <a:latin typeface="+mn-lt"/>
              </a:rPr>
              <a:t>│ Select / Generate            │</a:t>
            </a:r>
          </a:p>
          <a:p>
            <a:pPr>
              <a:buNone/>
            </a:pPr>
            <a:r>
              <a:rPr lang="en-US" sz="1100">
                <a:latin typeface="+mn-lt"/>
              </a:rPr>
              <a:t>│                              │</a:t>
            </a:r>
          </a:p>
          <a:p>
            <a:pPr>
              <a:buNone/>
            </a:pPr>
            <a:r>
              <a:rPr lang="en-US" sz="1100">
                <a:latin typeface="+mn-lt"/>
              </a:rPr>
              <a:t>│ • Models                     │</a:t>
            </a:r>
          </a:p>
          <a:p>
            <a:pPr>
              <a:buNone/>
            </a:pPr>
            <a:r>
              <a:rPr lang="en-US" sz="1100">
                <a:latin typeface="+mn-lt"/>
              </a:rPr>
              <a:t>│ • Agents                     │</a:t>
            </a:r>
          </a:p>
          <a:p>
            <a:pPr>
              <a:buNone/>
            </a:pPr>
            <a:r>
              <a:rPr lang="en-US" sz="1100">
                <a:latin typeface="+mn-lt"/>
              </a:rPr>
              <a:t>│ • Skills                     │</a:t>
            </a:r>
          </a:p>
          <a:p>
            <a:pPr>
              <a:buNone/>
            </a:pPr>
            <a:r>
              <a:rPr lang="en-US" sz="1100">
                <a:latin typeface="+mn-lt"/>
              </a:rPr>
              <a:t>│ • Tools                      │</a:t>
            </a:r>
          </a:p>
          <a:p>
            <a:pPr>
              <a:buNone/>
            </a:pPr>
            <a:r>
              <a:rPr lang="en-US" sz="1100">
                <a:latin typeface="+mn-lt"/>
              </a:rPr>
              <a:t>│ • Context                    │</a:t>
            </a:r>
          </a:p>
          <a:p>
            <a:pPr>
              <a:buNone/>
            </a:pPr>
            <a:r>
              <a:rPr lang="en-US" sz="1100">
                <a:latin typeface="+mn-lt"/>
              </a:rPr>
              <a:t>│ • Workflows                  │</a:t>
            </a:r>
          </a:p>
          <a:p>
            <a:pPr>
              <a:buNone/>
            </a:pPr>
            <a:r>
              <a:rPr lang="en-US" sz="1100">
                <a:latin typeface="+mn-lt"/>
              </a:rPr>
              <a:t>│ • State                      │</a:t>
            </a:r>
          </a:p>
          <a:p>
            <a:pPr>
              <a:buNone/>
            </a:pPr>
            <a:r>
              <a:rPr lang="en-US" sz="1100">
                <a:latin typeface="+mn-lt"/>
              </a:rPr>
              <a:t>│ • Policies                   │</a:t>
            </a:r>
          </a:p>
          <a:p>
            <a:pPr>
              <a:buNone/>
            </a:pPr>
            <a:r>
              <a:rPr lang="en-US" sz="1100">
                <a:latin typeface="+mn-lt"/>
              </a:rPr>
              <a:t>│ • Security boundaries        │</a:t>
            </a:r>
          </a:p>
          <a:p>
            <a:pPr>
              <a:buNone/>
            </a:pPr>
            <a:r>
              <a:rPr lang="en-US" sz="1100">
                <a:latin typeface="+mn-lt"/>
              </a:rPr>
              <a:t>│ • Verification               │</a:t>
            </a:r>
          </a:p>
          <a:p>
            <a:pPr>
              <a:buNone/>
            </a:pPr>
            <a:r>
              <a:rPr lang="en-US" sz="1100">
                <a:latin typeface="+mn-lt"/>
              </a:rPr>
              <a:t>└──────────────────────────────┘</a:t>
            </a:r>
          </a:p>
          <a:p>
            <a:pPr>
              <a:buNone/>
            </a:pPr>
            <a:r>
              <a:rPr lang="en-US" sz="1100">
                <a:latin typeface="+mn-lt"/>
              </a:rPr>
              <a:t>        ↓</a:t>
            </a:r>
          </a:p>
          <a:p>
            <a:pPr>
              <a:buNone/>
            </a:pPr>
            <a:r>
              <a:rPr lang="en-US" sz="1100">
                <a:latin typeface="+mn-lt"/>
              </a:rPr>
              <a:t>Generate Harness</a:t>
            </a:r>
          </a:p>
          <a:p>
            <a:pPr>
              <a:buNone/>
            </a:pPr>
            <a:r>
              <a:rPr lang="en-US" sz="1100">
                <a:latin typeface="+mn-lt"/>
              </a:rPr>
              <a:t>        ↓</a:t>
            </a:r>
          </a:p>
          <a:p>
            <a:pPr>
              <a:buNone/>
            </a:pPr>
            <a:r>
              <a:rPr lang="en-US" sz="1100">
                <a:latin typeface="+mn-lt"/>
              </a:rPr>
              <a:t>Validate Harness</a:t>
            </a:r>
          </a:p>
          <a:p>
            <a:pPr>
              <a:buNone/>
            </a:pPr>
            <a:r>
              <a:rPr lang="en-US" sz="1100">
                <a:latin typeface="+mn-lt"/>
              </a:rPr>
              <a:t>        ↓</a:t>
            </a:r>
          </a:p>
          <a:p>
            <a:pPr>
              <a:buNone/>
            </a:pPr>
            <a:r>
              <a:rPr lang="en-US" sz="1100">
                <a:latin typeface="+mn-lt"/>
              </a:rPr>
              <a:t>Deploy Runtime</a:t>
            </a:r>
          </a:p>
          <a:p>
            <a:pPr>
              <a:buNone/>
            </a:pPr>
            <a:r>
              <a:rPr lang="en-US" sz="1100">
                <a:latin typeface="+mn-lt"/>
              </a:rPr>
              <a:t>        ↓</a:t>
            </a:r>
          </a:p>
          <a:p>
            <a:pPr>
              <a:buNone/>
            </a:pPr>
            <a:r>
              <a:rPr lang="en-US" sz="1100">
                <a:latin typeface="+mn-lt"/>
              </a:rPr>
              <a:t>Observe + Evaluate</a:t>
            </a:r>
          </a:p>
          <a:p>
            <a:pPr>
              <a:buNone/>
            </a:pPr>
            <a:r>
              <a:rPr lang="en-US" sz="1100">
                <a:latin typeface="+mn-lt"/>
              </a:rPr>
              <a:t>        ↓</a:t>
            </a:r>
          </a:p>
          <a:p>
            <a:pPr>
              <a:buNone/>
            </a:pPr>
            <a:r>
              <a:rPr lang="en-US" sz="1100">
                <a:latin typeface="+mn-lt"/>
              </a:rPr>
              <a:t>Adapt / Regenerate</a:t>
            </a:r>
          </a:p>
          <a:p>
            <a:pPr>
              <a:buNone/>
            </a:pPr>
            <a:r>
              <a:rPr lang="en-US" sz="1100"/>
              <a:t>This creates a powerful separation:</a:t>
            </a:r>
          </a:p>
          <a:p>
            <a:pPr>
              <a:buNone/>
            </a:pPr>
            <a:r>
              <a:rPr lang="en-US" sz="1100" b="1"/>
              <a:t>Models provide intelligence.</a:t>
            </a:r>
            <a:br>
              <a:rPr lang="en-US" sz="1100" b="1"/>
            </a:br>
            <a:r>
              <a:rPr lang="en-US" sz="1100" b="1"/>
              <a:t>Harnesses provide controlled execution.</a:t>
            </a:r>
            <a:br>
              <a:rPr lang="en-US" sz="1100" b="1"/>
            </a:br>
            <a:r>
              <a:rPr lang="en-US" sz="1100" b="1"/>
              <a:t>Meta-harnesses compose the execution environment.</a:t>
            </a:r>
            <a:br>
              <a:rPr lang="en-US" sz="1100" b="1"/>
            </a:br>
            <a:r>
              <a:rPr lang="en-US" sz="1100" b="1"/>
              <a:t>System factories determine which harness should exist in the first place.</a:t>
            </a:r>
            <a:endParaRPr lang="en-US" sz="1100"/>
          </a:p>
          <a:p>
            <a:pPr>
              <a:buNone/>
            </a:pPr>
            <a:r>
              <a:rPr lang="en-US" sz="1100"/>
              <a:t>The ultimate abstraction is no longer </a:t>
            </a:r>
            <a:r>
              <a:rPr lang="en-US" sz="1100" b="1"/>
              <a:t>agent orchestration</a:t>
            </a:r>
            <a:r>
              <a:rPr lang="en-US" sz="1100"/>
              <a:t>.</a:t>
            </a:r>
          </a:p>
          <a:p>
            <a:pPr>
              <a:buNone/>
            </a:pPr>
            <a:r>
              <a:rPr lang="en-US" sz="1100"/>
              <a:t>It is </a:t>
            </a:r>
            <a:r>
              <a:rPr lang="en-US" sz="1100" b="1"/>
              <a:t>system orchestration</a:t>
            </a:r>
            <a:r>
              <a:rPr lang="en-US" sz="1100"/>
              <a:t> — dynamically constructing the appropriate combination of intelligence, capabilities, constraints, state, and execution architecture for a given objective.</a:t>
            </a:r>
          </a:p>
        </p:txBody>
      </p:sp>
    </p:spTree>
    <p:extLst>
      <p:ext uri="{BB962C8B-B14F-4D97-AF65-F5344CB8AC3E}">
        <p14:creationId xmlns:p14="http://schemas.microsoft.com/office/powerpoint/2010/main" val="40230529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1D7D0DD0-B2D2-16EA-CDD6-1F0A7579F219}"/>
              </a:ext>
            </a:extLst>
          </p:cNvPr>
          <p:cNvSpPr txBox="1"/>
          <p:nvPr/>
        </p:nvSpPr>
        <p:spPr>
          <a:xfrm>
            <a:off x="339634" y="286434"/>
            <a:ext cx="6096000" cy="646331"/>
          </a:xfrm>
          <a:prstGeom prst="rect">
            <a:avLst/>
          </a:prstGeom>
          <a:noFill/>
        </p:spPr>
        <p:txBody>
          <a:bodyPr wrap="square">
            <a:spAutoFit/>
          </a:bodyPr>
          <a:lstStyle/>
          <a:p>
            <a:r>
              <a:rPr lang="en-US"/>
              <a:t>The harness shouldn't make the LLM responsible for capabilities that software can enforce deterministically.</a:t>
            </a:r>
          </a:p>
        </p:txBody>
      </p:sp>
      <p:sp>
        <p:nvSpPr>
          <p:cNvPr id="7" name="TextBox 6">
            <a:extLst>
              <a:ext uri="{FF2B5EF4-FFF2-40B4-BE49-F238E27FC236}">
                <a16:creationId xmlns:a16="http://schemas.microsoft.com/office/drawing/2014/main" id="{4015527A-858E-9095-36F4-0DB4BE070AAC}"/>
              </a:ext>
            </a:extLst>
          </p:cNvPr>
          <p:cNvSpPr txBox="1"/>
          <p:nvPr/>
        </p:nvSpPr>
        <p:spPr>
          <a:xfrm>
            <a:off x="339634" y="1290608"/>
            <a:ext cx="6096000" cy="3139321"/>
          </a:xfrm>
          <a:prstGeom prst="rect">
            <a:avLst/>
          </a:prstGeom>
          <a:noFill/>
        </p:spPr>
        <p:txBody>
          <a:bodyPr wrap="square">
            <a:spAutoFit/>
          </a:bodyPr>
          <a:lstStyle/>
          <a:p>
            <a:r>
              <a:rPr lang="en-US"/>
              <a:t>LLM responsibility</a:t>
            </a:r>
          </a:p>
          <a:p>
            <a:r>
              <a:rPr lang="en-US"/>
              <a:t>────────────────────</a:t>
            </a:r>
          </a:p>
          <a:p>
            <a:r>
              <a:rPr lang="en-US"/>
              <a:t>Understand intent</a:t>
            </a:r>
          </a:p>
          <a:p>
            <a:r>
              <a:rPr lang="en-US"/>
              <a:t>Reason</a:t>
            </a:r>
          </a:p>
          <a:p>
            <a:r>
              <a:rPr lang="en-US"/>
              <a:t>Plan</a:t>
            </a:r>
          </a:p>
          <a:p>
            <a:r>
              <a:rPr lang="en-US"/>
              <a:t>Choose capabilities</a:t>
            </a:r>
          </a:p>
          <a:p>
            <a:r>
              <a:rPr lang="en-US"/>
              <a:t>Diagnose failures</a:t>
            </a:r>
          </a:p>
          <a:p>
            <a:r>
              <a:rPr lang="en-US"/>
              <a:t>Generate alternatives</a:t>
            </a:r>
          </a:p>
          <a:p>
            <a:r>
              <a:rPr lang="en-US"/>
              <a:t>Make fuzzy judgments</a:t>
            </a:r>
          </a:p>
          <a:p>
            <a:endParaRPr lang="en-US"/>
          </a:p>
          <a:p>
            <a:endParaRPr lang="en-US"/>
          </a:p>
        </p:txBody>
      </p:sp>
      <p:sp>
        <p:nvSpPr>
          <p:cNvPr id="9" name="TextBox 8">
            <a:extLst>
              <a:ext uri="{FF2B5EF4-FFF2-40B4-BE49-F238E27FC236}">
                <a16:creationId xmlns:a16="http://schemas.microsoft.com/office/drawing/2014/main" id="{3B4F1A76-F50B-C189-DEA2-6FE85D3EAD4B}"/>
              </a:ext>
            </a:extLst>
          </p:cNvPr>
          <p:cNvSpPr txBox="1"/>
          <p:nvPr/>
        </p:nvSpPr>
        <p:spPr>
          <a:xfrm>
            <a:off x="3500846" y="1290608"/>
            <a:ext cx="3074125" cy="4524315"/>
          </a:xfrm>
          <a:prstGeom prst="rect">
            <a:avLst/>
          </a:prstGeom>
          <a:noFill/>
        </p:spPr>
        <p:txBody>
          <a:bodyPr wrap="square">
            <a:spAutoFit/>
          </a:bodyPr>
          <a:lstStyle/>
          <a:p>
            <a:r>
              <a:rPr lang="en-US" sz="1800"/>
              <a:t>Harness responsibility</a:t>
            </a:r>
          </a:p>
          <a:p>
            <a:r>
              <a:rPr lang="en-US" sz="1800"/>
              <a:t>────────────────────────</a:t>
            </a:r>
          </a:p>
          <a:p>
            <a:r>
              <a:rPr lang="en-US" sz="1800"/>
              <a:t>Permissions</a:t>
            </a:r>
          </a:p>
          <a:p>
            <a:r>
              <a:rPr lang="en-US" sz="1800"/>
              <a:t>State</a:t>
            </a:r>
          </a:p>
          <a:p>
            <a:r>
              <a:rPr lang="en-US" sz="1800"/>
              <a:t>Schemas</a:t>
            </a:r>
          </a:p>
          <a:p>
            <a:r>
              <a:rPr lang="en-US" sz="1800"/>
              <a:t>Retries</a:t>
            </a:r>
          </a:p>
          <a:p>
            <a:r>
              <a:rPr lang="en-US" sz="1800"/>
              <a:t>Timeouts</a:t>
            </a:r>
          </a:p>
          <a:p>
            <a:r>
              <a:rPr lang="en-US" sz="1800"/>
              <a:t>Budgets</a:t>
            </a:r>
          </a:p>
          <a:p>
            <a:r>
              <a:rPr lang="en-US" sz="1800"/>
              <a:t>Transactions</a:t>
            </a:r>
          </a:p>
          <a:p>
            <a:r>
              <a:rPr lang="en-US" sz="1800"/>
              <a:t>Isolation</a:t>
            </a:r>
          </a:p>
          <a:p>
            <a:r>
              <a:rPr lang="en-US" sz="1800"/>
              <a:t>Secrets</a:t>
            </a:r>
          </a:p>
          <a:p>
            <a:r>
              <a:rPr lang="en-US" sz="1800"/>
              <a:t>Logging</a:t>
            </a:r>
          </a:p>
          <a:p>
            <a:r>
              <a:rPr lang="en-US" sz="1800"/>
              <a:t>Audit</a:t>
            </a:r>
          </a:p>
          <a:p>
            <a:r>
              <a:rPr lang="en-US" sz="1800"/>
              <a:t>Validation</a:t>
            </a:r>
          </a:p>
          <a:p>
            <a:r>
              <a:rPr lang="en-US" sz="1800"/>
              <a:t>Execution</a:t>
            </a:r>
          </a:p>
          <a:p>
            <a:r>
              <a:rPr lang="en-US" sz="1800"/>
              <a:t>Recovery</a:t>
            </a:r>
            <a:endParaRPr lang="en-US"/>
          </a:p>
        </p:txBody>
      </p:sp>
      <p:sp>
        <p:nvSpPr>
          <p:cNvPr id="11" name="TextBox 10">
            <a:extLst>
              <a:ext uri="{FF2B5EF4-FFF2-40B4-BE49-F238E27FC236}">
                <a16:creationId xmlns:a16="http://schemas.microsoft.com/office/drawing/2014/main" id="{3E691DC6-3E87-402A-791F-B6531EE2C357}"/>
              </a:ext>
            </a:extLst>
          </p:cNvPr>
          <p:cNvSpPr txBox="1"/>
          <p:nvPr/>
        </p:nvSpPr>
        <p:spPr>
          <a:xfrm>
            <a:off x="6888480" y="1290608"/>
            <a:ext cx="6096000" cy="2363724"/>
          </a:xfrm>
          <a:prstGeom prst="rect">
            <a:avLst/>
          </a:prstGeom>
          <a:noFill/>
        </p:spPr>
        <p:txBody>
          <a:bodyPr wrap="square">
            <a:spAutoFit/>
          </a:bodyPr>
          <a:lstStyle/>
          <a:p>
            <a:pPr indent="0" algn="l">
              <a:buNone/>
            </a:pPr>
            <a:r>
              <a:rPr lang="en-US" sz="1800" b="1" i="0" spc="-23">
                <a:effectLst/>
                <a:latin typeface="+mn-lt"/>
              </a:rPr>
              <a:t>What a harness usually owns</a:t>
            </a:r>
          </a:p>
          <a:p>
            <a:pPr indent="0" algn="l">
              <a:buNone/>
            </a:pPr>
            <a:r>
              <a:rPr lang="en-US" sz="1800" b="0" i="0">
                <a:effectLst/>
                <a:latin typeface="+mn-lt"/>
              </a:rPr>
              <a:t>A harness usually owns:</a:t>
            </a:r>
          </a:p>
          <a:p>
            <a:pPr marL="342900" lvl="0" indent="-342900" algn="l">
              <a:buFont typeface="Arial" panose="020B0604020202020204" pitchFamily="34" charset="0"/>
              <a:buChar char="•"/>
            </a:pPr>
            <a:r>
              <a:rPr lang="en-US" sz="1800" b="1" i="0">
                <a:effectLst/>
                <a:latin typeface="+mn-lt"/>
              </a:rPr>
              <a:t>Prompt construction</a:t>
            </a:r>
            <a:r>
              <a:rPr lang="en-US" sz="1800" b="0" i="0">
                <a:effectLst/>
                <a:latin typeface="+mn-lt"/>
              </a:rPr>
              <a:t> — system prompts, memory, retrieved context, and per-turn instructions.</a:t>
            </a:r>
          </a:p>
          <a:p>
            <a:pPr marL="342900" lvl="0" indent="-342900" algn="l">
              <a:buFont typeface="Arial" panose="020B0604020202020204" pitchFamily="34" charset="0"/>
              <a:buChar char="•"/>
            </a:pPr>
            <a:r>
              <a:rPr lang="en-US" sz="1800" b="1" i="0">
                <a:effectLst/>
                <a:latin typeface="+mn-lt"/>
              </a:rPr>
              <a:t>Model execution</a:t>
            </a:r>
            <a:r>
              <a:rPr lang="en-US" sz="1800" b="0" i="0">
                <a:effectLst/>
                <a:latin typeface="+mn-lt"/>
              </a:rPr>
              <a:t> — the call to Workers AI, OpenAI, Anthropic, Gemini, or another provider.</a:t>
            </a:r>
          </a:p>
          <a:p>
            <a:pPr marL="342900" lvl="0" indent="-342900" algn="l">
              <a:buFont typeface="Arial" panose="020B0604020202020204" pitchFamily="34" charset="0"/>
              <a:buChar char="•"/>
            </a:pPr>
            <a:r>
              <a:rPr lang="en-US" sz="1800" b="1" i="0">
                <a:effectLst/>
                <a:latin typeface="+mn-lt"/>
              </a:rPr>
              <a:t>Tool orchestration</a:t>
            </a:r>
            <a:r>
              <a:rPr lang="en-US" sz="1800" b="0" i="0">
                <a:effectLst/>
                <a:latin typeface="+mn-lt"/>
              </a:rPr>
              <a:t> — server tools, client tools, MCP tools, approval flows, and continuation after tool results.</a:t>
            </a:r>
          </a:p>
          <a:p>
            <a:pPr marL="342900" lvl="0" indent="-342900" algn="l">
              <a:buFont typeface="Arial" panose="020B0604020202020204" pitchFamily="34" charset="0"/>
              <a:buChar char="•"/>
            </a:pPr>
            <a:r>
              <a:rPr lang="en-US" sz="1800" b="1" i="0">
                <a:effectLst/>
                <a:latin typeface="+mn-lt"/>
              </a:rPr>
              <a:t>Message persistence</a:t>
            </a:r>
            <a:r>
              <a:rPr lang="en-US" sz="1800" b="0" i="0">
                <a:effectLst/>
                <a:latin typeface="+mn-lt"/>
              </a:rPr>
              <a:t> — how user, assistant, and tool messages are saved and replayed.</a:t>
            </a:r>
          </a:p>
          <a:p>
            <a:pPr marL="342900" lvl="0" indent="-342900" algn="l">
              <a:buFont typeface="Arial" panose="020B0604020202020204" pitchFamily="34" charset="0"/>
              <a:buChar char="•"/>
            </a:pPr>
            <a:r>
              <a:rPr lang="en-US" sz="1800" b="1" i="0">
                <a:effectLst/>
                <a:latin typeface="+mn-lt"/>
              </a:rPr>
              <a:t>Streaming and recovery</a:t>
            </a:r>
            <a:r>
              <a:rPr lang="en-US" sz="1800" b="0" i="0">
                <a:effectLst/>
                <a:latin typeface="+mn-lt"/>
              </a:rPr>
              <a:t> — how responses stream to clients and resume after disconnects or Durable Object eviction.</a:t>
            </a:r>
          </a:p>
          <a:p>
            <a:pPr marL="342900" lvl="0" indent="-342900" algn="l">
              <a:buFont typeface="Arial" panose="020B0604020202020204" pitchFamily="34" charset="0"/>
              <a:buChar char="•"/>
            </a:pPr>
            <a:r>
              <a:rPr lang="en-US" sz="1800" b="1" i="0">
                <a:effectLst/>
                <a:latin typeface="+mn-lt"/>
              </a:rPr>
              <a:t>Extension points</a:t>
            </a:r>
            <a:r>
              <a:rPr lang="en-US" sz="1800" b="0" i="0">
                <a:effectLst/>
                <a:latin typeface="+mn-lt"/>
              </a:rPr>
              <a:t> — hooks before and after turns, steps, tool calls, and recovery events.</a:t>
            </a:r>
            <a:endParaRPr lang="en-US" sz="1200" b="0" i="0">
              <a:effectLst/>
              <a:latin typeface="Inter Variable"/>
            </a:endParaRPr>
          </a:p>
        </p:txBody>
      </p:sp>
    </p:spTree>
    <p:extLst>
      <p:ext uri="{BB962C8B-B14F-4D97-AF65-F5344CB8AC3E}">
        <p14:creationId xmlns:p14="http://schemas.microsoft.com/office/powerpoint/2010/main" val="31938568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1EB47E-A693-0645-FBE7-5E9105A85D81}"/>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59811A92-675F-B05F-E9A8-8D5B08B2575A}"/>
              </a:ext>
            </a:extLst>
          </p:cNvPr>
          <p:cNvSpPr txBox="1"/>
          <p:nvPr/>
        </p:nvSpPr>
        <p:spPr>
          <a:xfrm>
            <a:off x="339634" y="286434"/>
            <a:ext cx="6096000" cy="646331"/>
          </a:xfrm>
          <a:prstGeom prst="rect">
            <a:avLst/>
          </a:prstGeom>
          <a:noFill/>
        </p:spPr>
        <p:txBody>
          <a:bodyPr wrap="square">
            <a:spAutoFit/>
          </a:bodyPr>
          <a:lstStyle/>
          <a:p>
            <a:r>
              <a:rPr lang="en-US"/>
              <a:t>The harness shouldn't make the LLM responsible for capabilities that software can enforce deterministically.</a:t>
            </a:r>
          </a:p>
        </p:txBody>
      </p:sp>
      <p:sp>
        <p:nvSpPr>
          <p:cNvPr id="7" name="TextBox 6">
            <a:extLst>
              <a:ext uri="{FF2B5EF4-FFF2-40B4-BE49-F238E27FC236}">
                <a16:creationId xmlns:a16="http://schemas.microsoft.com/office/drawing/2014/main" id="{81108E76-398C-AD1F-ACA1-8BA04325F106}"/>
              </a:ext>
            </a:extLst>
          </p:cNvPr>
          <p:cNvSpPr txBox="1"/>
          <p:nvPr/>
        </p:nvSpPr>
        <p:spPr>
          <a:xfrm>
            <a:off x="7916090" y="515545"/>
            <a:ext cx="3370218" cy="6232475"/>
          </a:xfrm>
          <a:prstGeom prst="rect">
            <a:avLst/>
          </a:prstGeom>
          <a:noFill/>
        </p:spPr>
        <p:txBody>
          <a:bodyPr wrap="square">
            <a:spAutoFit/>
          </a:bodyPr>
          <a:lstStyle/>
          <a:p>
            <a:r>
              <a:rPr lang="en-US" sz="1050"/>
              <a:t>USER INTENT</a:t>
            </a:r>
          </a:p>
          <a:p>
            <a:r>
              <a:rPr lang="en-US" sz="1050"/>
              <a:t>                         │</a:t>
            </a:r>
          </a:p>
          <a:p>
            <a:r>
              <a:rPr lang="en-US" sz="1050"/>
              <a:t>                         ▼</a:t>
            </a:r>
          </a:p>
          <a:p>
            <a:r>
              <a:rPr lang="en-US" sz="1050"/>
              <a:t>                 Intent / Planner</a:t>
            </a:r>
          </a:p>
          <a:p>
            <a:r>
              <a:rPr lang="en-US" sz="1050"/>
              <a:t>                         │</a:t>
            </a:r>
          </a:p>
          <a:p>
            <a:r>
              <a:rPr lang="en-US" sz="1050"/>
              <a:t>                  Execution Graph</a:t>
            </a:r>
          </a:p>
          <a:p>
            <a:r>
              <a:rPr lang="en-US" sz="1050"/>
              <a:t>                         │</a:t>
            </a:r>
          </a:p>
          <a:p>
            <a:r>
              <a:rPr lang="en-US" sz="1050"/>
              <a:t>             ┌───────────┼───────────┐</a:t>
            </a:r>
          </a:p>
          <a:p>
            <a:r>
              <a:rPr lang="en-US" sz="1050"/>
              <a:t>             ▼           ▼           ▼</a:t>
            </a:r>
          </a:p>
          <a:p>
            <a:r>
              <a:rPr lang="en-US" sz="1050"/>
              <a:t>          Agent       Script       Workflow</a:t>
            </a:r>
          </a:p>
          <a:p>
            <a:r>
              <a:rPr lang="en-US" sz="1050"/>
              <a:t>             │           │           │</a:t>
            </a:r>
          </a:p>
          <a:p>
            <a:r>
              <a:rPr lang="en-US" sz="1050"/>
              <a:t>             └───────────┼───────────┘</a:t>
            </a:r>
          </a:p>
          <a:p>
            <a:r>
              <a:rPr lang="en-US" sz="1050"/>
              <a:t>                         ▼</a:t>
            </a:r>
          </a:p>
          <a:p>
            <a:r>
              <a:rPr lang="en-US" sz="1050"/>
              <a:t>                Capability Router</a:t>
            </a:r>
          </a:p>
          <a:p>
            <a:r>
              <a:rPr lang="en-US" sz="1050"/>
              <a:t>                         │</a:t>
            </a:r>
          </a:p>
          <a:p>
            <a:r>
              <a:rPr lang="en-US" sz="1050"/>
              <a:t>                Policy Evaluation</a:t>
            </a:r>
          </a:p>
          <a:p>
            <a:r>
              <a:rPr lang="en-US" sz="1050"/>
              <a:t>                         │</a:t>
            </a:r>
          </a:p>
          <a:p>
            <a:r>
              <a:rPr lang="en-US" sz="1050"/>
              <a:t>              Permission / HITL Gate</a:t>
            </a:r>
          </a:p>
          <a:p>
            <a:r>
              <a:rPr lang="en-US" sz="1050"/>
              <a:t>                         │</a:t>
            </a:r>
          </a:p>
          <a:p>
            <a:r>
              <a:rPr lang="en-US" sz="1050"/>
              <a:t>                  Tool Contract</a:t>
            </a:r>
          </a:p>
          <a:p>
            <a:r>
              <a:rPr lang="en-US" sz="1050"/>
              <a:t>                         │</a:t>
            </a:r>
          </a:p>
          <a:p>
            <a:r>
              <a:rPr lang="en-US" sz="1050"/>
              <a:t>              Sandbox / Environment</a:t>
            </a:r>
          </a:p>
          <a:p>
            <a:r>
              <a:rPr lang="en-US" sz="1050"/>
              <a:t>                         │</a:t>
            </a:r>
          </a:p>
          <a:p>
            <a:r>
              <a:rPr lang="en-US" sz="1050"/>
              <a:t>                     Execute</a:t>
            </a:r>
          </a:p>
          <a:p>
            <a:r>
              <a:rPr lang="en-US" sz="1050"/>
              <a:t>                         │</a:t>
            </a:r>
          </a:p>
          <a:p>
            <a:r>
              <a:rPr lang="en-US" sz="1050"/>
              <a:t>                     Validate</a:t>
            </a:r>
          </a:p>
          <a:p>
            <a:r>
              <a:rPr lang="en-US" sz="1050"/>
              <a:t>                         │</a:t>
            </a:r>
          </a:p>
          <a:p>
            <a:r>
              <a:rPr lang="en-US" sz="1050"/>
              <a:t>                 ┌───────┴───────┐</a:t>
            </a:r>
          </a:p>
          <a:p>
            <a:r>
              <a:rPr lang="en-US" sz="1050"/>
              <a:t>                 │               │</a:t>
            </a:r>
          </a:p>
          <a:p>
            <a:r>
              <a:rPr lang="en-US" sz="1050"/>
              <a:t>              Success          Failure</a:t>
            </a:r>
          </a:p>
          <a:p>
            <a:r>
              <a:rPr lang="en-US" sz="1050"/>
              <a:t>                 │               │</a:t>
            </a:r>
          </a:p>
          <a:p>
            <a:r>
              <a:rPr lang="en-US" sz="1050"/>
              <a:t>             Checkpoint     Diagnose/Retry</a:t>
            </a:r>
          </a:p>
          <a:p>
            <a:r>
              <a:rPr lang="en-US" sz="1050"/>
              <a:t>                 │               │</a:t>
            </a:r>
          </a:p>
          <a:p>
            <a:r>
              <a:rPr lang="en-US" sz="1050"/>
              <a:t>                 └───────┬───────┘</a:t>
            </a:r>
          </a:p>
          <a:p>
            <a:r>
              <a:rPr lang="en-US" sz="1050"/>
              <a:t>                         ▼</a:t>
            </a:r>
          </a:p>
          <a:p>
            <a:r>
              <a:rPr lang="en-US" sz="1050"/>
              <a:t>                 Event / Trace Store</a:t>
            </a:r>
          </a:p>
          <a:p>
            <a:r>
              <a:rPr lang="en-US" sz="1050"/>
              <a:t>                         │</a:t>
            </a:r>
          </a:p>
          <a:p>
            <a:r>
              <a:rPr lang="en-US" sz="1050"/>
              <a:t>              Memory / State / Artifacts</a:t>
            </a:r>
          </a:p>
        </p:txBody>
      </p:sp>
      <p:sp>
        <p:nvSpPr>
          <p:cNvPr id="2" name="TextBox 1">
            <a:extLst>
              <a:ext uri="{FF2B5EF4-FFF2-40B4-BE49-F238E27FC236}">
                <a16:creationId xmlns:a16="http://schemas.microsoft.com/office/drawing/2014/main" id="{32AB9214-AABB-5B34-ABCE-275DB1DF55B8}"/>
              </a:ext>
            </a:extLst>
          </p:cNvPr>
          <p:cNvSpPr txBox="1"/>
          <p:nvPr/>
        </p:nvSpPr>
        <p:spPr>
          <a:xfrm>
            <a:off x="496389" y="1402080"/>
            <a:ext cx="184731" cy="369332"/>
          </a:xfrm>
          <a:prstGeom prst="rect">
            <a:avLst/>
          </a:prstGeom>
          <a:noFill/>
        </p:spPr>
        <p:txBody>
          <a:bodyPr wrap="none" rtlCol="0">
            <a:spAutoFit/>
          </a:bodyPr>
          <a:lstStyle/>
          <a:p>
            <a:endParaRPr lang="en-US"/>
          </a:p>
        </p:txBody>
      </p:sp>
    </p:spTree>
    <p:extLst>
      <p:ext uri="{BB962C8B-B14F-4D97-AF65-F5344CB8AC3E}">
        <p14:creationId xmlns:p14="http://schemas.microsoft.com/office/powerpoint/2010/main" val="268168727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57B0D2B7-A7FF-0EB4-FE77-9BD15F285657}"/>
              </a:ext>
            </a:extLst>
          </p:cNvPr>
          <p:cNvSpPr txBox="1"/>
          <p:nvPr/>
        </p:nvSpPr>
        <p:spPr>
          <a:xfrm>
            <a:off x="1933303" y="1933303"/>
            <a:ext cx="184731" cy="369332"/>
          </a:xfrm>
          <a:prstGeom prst="rect">
            <a:avLst/>
          </a:prstGeom>
          <a:noFill/>
        </p:spPr>
        <p:txBody>
          <a:bodyPr wrap="none" rtlCol="0">
            <a:spAutoFit/>
          </a:bodyPr>
          <a:lstStyle/>
          <a:p>
            <a:endParaRPr lang="en-US"/>
          </a:p>
        </p:txBody>
      </p:sp>
      <p:sp>
        <p:nvSpPr>
          <p:cNvPr id="5" name="TextBox 4">
            <a:extLst>
              <a:ext uri="{FF2B5EF4-FFF2-40B4-BE49-F238E27FC236}">
                <a16:creationId xmlns:a16="http://schemas.microsoft.com/office/drawing/2014/main" id="{A4F29FEE-1A66-F99B-B7FA-2B3346C64724}"/>
              </a:ext>
            </a:extLst>
          </p:cNvPr>
          <p:cNvSpPr txBox="1"/>
          <p:nvPr/>
        </p:nvSpPr>
        <p:spPr>
          <a:xfrm>
            <a:off x="391885" y="732974"/>
            <a:ext cx="11399521" cy="2585323"/>
          </a:xfrm>
          <a:prstGeom prst="rect">
            <a:avLst/>
          </a:prstGeom>
          <a:noFill/>
        </p:spPr>
        <p:txBody>
          <a:bodyPr wrap="square" rtlCol="0">
            <a:spAutoFit/>
          </a:bodyPr>
          <a:lstStyle/>
          <a:p>
            <a:r>
              <a:rPr lang="en-US"/>
              <a:t>This also explains why </a:t>
            </a:r>
            <a:r>
              <a:rPr lang="en-US" b="1"/>
              <a:t>MCP, LSP, Docker, state.json, rules files, and ReAct aren't themselves the harness</a:t>
            </a:r>
            <a:r>
              <a:rPr lang="en-US"/>
              <a:t>. They're mechanisms plugged into different planes.</a:t>
            </a:r>
          </a:p>
          <a:p>
            <a:endParaRPr lang="en-US"/>
          </a:p>
          <a:p>
            <a:r>
              <a:rPr lang="en-US"/>
              <a:t>The harness is the layer that determines </a:t>
            </a:r>
            <a:r>
              <a:rPr lang="en-US" b="1"/>
              <a:t>what gets exposed, when it gets exposed, who can invoke it, under what policy, with what state, how execution is verified, and how the system recovers when something fails.</a:t>
            </a:r>
            <a:endParaRPr lang="en-US"/>
          </a:p>
          <a:p>
            <a:endParaRPr lang="en-US"/>
          </a:p>
          <a:p>
            <a:r>
              <a:rPr lang="en-US"/>
              <a:t>That is the difference between an </a:t>
            </a:r>
            <a:r>
              <a:rPr lang="en-US" b="1"/>
              <a:t>agent that can use tools</a:t>
            </a:r>
            <a:r>
              <a:rPr lang="en-US"/>
              <a:t> and an </a:t>
            </a:r>
            <a:r>
              <a:rPr lang="en-US" b="1"/>
              <a:t>agent runtime capable of safely operating software autonomously</a:t>
            </a:r>
            <a:r>
              <a:rPr lang="en-US"/>
              <a:t>.</a:t>
            </a:r>
          </a:p>
          <a:p>
            <a:endParaRPr lang="en-US"/>
          </a:p>
        </p:txBody>
      </p:sp>
    </p:spTree>
    <p:extLst>
      <p:ext uri="{BB962C8B-B14F-4D97-AF65-F5344CB8AC3E}">
        <p14:creationId xmlns:p14="http://schemas.microsoft.com/office/powerpoint/2010/main" val="114584609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6D0318F3-FD08-85EE-C9CB-E623C0B597B9}"/>
              </a:ext>
            </a:extLst>
          </p:cNvPr>
          <p:cNvSpPr txBox="1"/>
          <p:nvPr/>
        </p:nvSpPr>
        <p:spPr>
          <a:xfrm>
            <a:off x="487680" y="495652"/>
            <a:ext cx="6096000" cy="332399"/>
          </a:xfrm>
          <a:prstGeom prst="rect">
            <a:avLst/>
          </a:prstGeom>
          <a:noFill/>
        </p:spPr>
        <p:txBody>
          <a:bodyPr wrap="square">
            <a:spAutoFit/>
          </a:bodyPr>
          <a:lstStyle/>
          <a:p>
            <a:pPr indent="0" algn="l">
              <a:buNone/>
            </a:pPr>
            <a:r>
              <a:rPr lang="en-US" sz="1800" b="1" i="0" spc="-23">
                <a:effectLst/>
                <a:latin typeface="+mn-lt"/>
              </a:rPr>
              <a:t>Lifecycle</a:t>
            </a:r>
            <a:endParaRPr lang="en-US" sz="1560" b="1" i="0" spc="-23">
              <a:effectLst/>
              <a:latin typeface="Inter Variable"/>
            </a:endParaRPr>
          </a:p>
        </p:txBody>
      </p:sp>
      <p:pic>
        <p:nvPicPr>
          <p:cNvPr id="6" name="Picture 5">
            <a:extLst>
              <a:ext uri="{FF2B5EF4-FFF2-40B4-BE49-F238E27FC236}">
                <a16:creationId xmlns:a16="http://schemas.microsoft.com/office/drawing/2014/main" id="{A4D2AB68-FE9B-B06F-7C20-21AF754981B3}"/>
              </a:ext>
            </a:extLst>
          </p:cNvPr>
          <p:cNvPicPr>
            <a:picLocks noChangeAspect="1"/>
          </p:cNvPicPr>
          <p:nvPr/>
        </p:nvPicPr>
        <p:blipFill>
          <a:blip r:embed="rId2"/>
          <a:stretch>
            <a:fillRect/>
          </a:stretch>
        </p:blipFill>
        <p:spPr>
          <a:xfrm>
            <a:off x="2209800" y="1208314"/>
            <a:ext cx="7772400" cy="4441371"/>
          </a:xfrm>
          <a:prstGeom prst="rect">
            <a:avLst/>
          </a:prstGeom>
        </p:spPr>
      </p:pic>
    </p:spTree>
    <p:extLst>
      <p:ext uri="{BB962C8B-B14F-4D97-AF65-F5344CB8AC3E}">
        <p14:creationId xmlns:p14="http://schemas.microsoft.com/office/powerpoint/2010/main" val="418517435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AB37D62F-D324-333A-43D3-5ED6C534DCBB}"/>
              </a:ext>
            </a:extLst>
          </p:cNvPr>
          <p:cNvSpPr txBox="1"/>
          <p:nvPr/>
        </p:nvSpPr>
        <p:spPr>
          <a:xfrm>
            <a:off x="1148862" y="4712677"/>
            <a:ext cx="4843442" cy="646331"/>
          </a:xfrm>
          <a:prstGeom prst="rect">
            <a:avLst/>
          </a:prstGeom>
          <a:noFill/>
        </p:spPr>
        <p:txBody>
          <a:bodyPr wrap="none" rtlCol="0">
            <a:spAutoFit/>
          </a:bodyPr>
          <a:lstStyle/>
          <a:p>
            <a:r>
              <a:rPr lang="en-US"/>
              <a:t>Can you move up to an high abstruction layer</a:t>
            </a:r>
          </a:p>
          <a:p>
            <a:r>
              <a:rPr lang="en-US"/>
              <a:t>Can you build the system the builds the system</a:t>
            </a:r>
          </a:p>
        </p:txBody>
      </p:sp>
      <p:sp>
        <p:nvSpPr>
          <p:cNvPr id="6" name="TextBox 5">
            <a:extLst>
              <a:ext uri="{FF2B5EF4-FFF2-40B4-BE49-F238E27FC236}">
                <a16:creationId xmlns:a16="http://schemas.microsoft.com/office/drawing/2014/main" id="{AFB7E28A-E581-A3A0-193E-2CB1EA273DC2}"/>
              </a:ext>
            </a:extLst>
          </p:cNvPr>
          <p:cNvSpPr txBox="1"/>
          <p:nvPr/>
        </p:nvSpPr>
        <p:spPr>
          <a:xfrm>
            <a:off x="1559169" y="855785"/>
            <a:ext cx="3329758" cy="369332"/>
          </a:xfrm>
          <a:prstGeom prst="rect">
            <a:avLst/>
          </a:prstGeom>
          <a:noFill/>
        </p:spPr>
        <p:txBody>
          <a:bodyPr wrap="none" rtlCol="0">
            <a:spAutoFit/>
          </a:bodyPr>
          <a:lstStyle/>
          <a:p>
            <a:r>
              <a:rPr lang="en-US"/>
              <a:t>The right Automation takes time</a:t>
            </a:r>
          </a:p>
        </p:txBody>
      </p:sp>
    </p:spTree>
    <p:extLst>
      <p:ext uri="{BB962C8B-B14F-4D97-AF65-F5344CB8AC3E}">
        <p14:creationId xmlns:p14="http://schemas.microsoft.com/office/powerpoint/2010/main" val="3844848851"/>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420</TotalTime>
  <Words>3810</Words>
  <Application>Microsoft Macintosh PowerPoint</Application>
  <PresentationFormat>Widescreen</PresentationFormat>
  <Paragraphs>356</Paragraphs>
  <Slides>18</Slides>
  <Notes>3</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18</vt:i4>
      </vt:variant>
    </vt:vector>
  </HeadingPairs>
  <TitlesOfParts>
    <vt:vector size="25" baseType="lpstr">
      <vt:lpstr>Aptos</vt:lpstr>
      <vt:lpstr>Aptos Display</vt:lpstr>
      <vt:lpstr>Arial</vt:lpstr>
      <vt:lpstr>Google Sans</vt:lpstr>
      <vt:lpstr>Inter Variable</vt:lpstr>
      <vt:lpstr>Mona Sans VF</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Roberto Marte</dc:creator>
  <cp:lastModifiedBy>Roberto Marte</cp:lastModifiedBy>
  <cp:revision>1</cp:revision>
  <dcterms:created xsi:type="dcterms:W3CDTF">2026-09-09T21:27:53Z</dcterms:created>
  <dcterms:modified xsi:type="dcterms:W3CDTF">2026-09-10T04:28:18Z</dcterms:modified>
</cp:coreProperties>
</file>