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3" r:id="rId2"/>
    <p:sldId id="256"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29"/>
    <p:restoredTop sz="94694"/>
  </p:normalViewPr>
  <p:slideViewPr>
    <p:cSldViewPr snapToGrid="0">
      <p:cViewPr>
        <p:scale>
          <a:sx n="147" d="100"/>
          <a:sy n="147" d="100"/>
        </p:scale>
        <p:origin x="-1776"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378E-C9B6-9746-EB72-EB3545713F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82E623-D6BB-B35F-9E2B-07FB1AFA08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62FAE6-BBA9-B49C-4FC6-15C249B69F26}"/>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5" name="Footer Placeholder 4">
            <a:extLst>
              <a:ext uri="{FF2B5EF4-FFF2-40B4-BE49-F238E27FC236}">
                <a16:creationId xmlns:a16="http://schemas.microsoft.com/office/drawing/2014/main" id="{ADAD5626-5A51-41BA-86C9-9F09BEB753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31FDC-FA9D-BD78-8CAC-ADA32BA6461F}"/>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51292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6B883-F322-7165-F4D2-38AEED29E2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ACD751-247F-6E55-7D83-C8EEEAA557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1F8AC7-3A6E-C087-70AF-F88DE9D29293}"/>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5" name="Footer Placeholder 4">
            <a:extLst>
              <a:ext uri="{FF2B5EF4-FFF2-40B4-BE49-F238E27FC236}">
                <a16:creationId xmlns:a16="http://schemas.microsoft.com/office/drawing/2014/main" id="{535777CF-0397-9C24-AE04-871D9FC2C7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0B8409-CBC5-FD10-9035-416468449379}"/>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30454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B4BDA-64C7-5656-2B11-D9C60D0BBC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0CF7D1-126A-70FF-91B3-A63B909F80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36B29-228F-D821-C7D3-CCA4E8E77D91}"/>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5" name="Footer Placeholder 4">
            <a:extLst>
              <a:ext uri="{FF2B5EF4-FFF2-40B4-BE49-F238E27FC236}">
                <a16:creationId xmlns:a16="http://schemas.microsoft.com/office/drawing/2014/main" id="{94C1C8C5-D991-2EF3-1CE6-4BD8C76BA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610C4E-2E13-AE54-F098-F82449664CDE}"/>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4019523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DD2C-684E-2F9E-ADC1-ED236FEDDA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56B427-2B57-AE42-2529-34DD534338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70367E-83EF-C40E-E6E2-BF02168209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B84502-B4E9-BA10-4475-AA8D5797EC3E}"/>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6" name="Footer Placeholder 5">
            <a:extLst>
              <a:ext uri="{FF2B5EF4-FFF2-40B4-BE49-F238E27FC236}">
                <a16:creationId xmlns:a16="http://schemas.microsoft.com/office/drawing/2014/main" id="{39F76192-0570-E425-61DD-EFC3193EFE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013B4B-A932-8E7C-7BB5-17133D84DC0C}"/>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2253926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D65D-FA38-FF56-C18C-F991CC8C87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C5683E-D6A5-D10B-3ABB-D278A8D50D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EA39E-81A5-059A-1926-10B855E179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967F43-6667-C5A0-2081-16E18371DA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9B5AC1-FA0E-B36C-888E-6095DE724E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08D3B3-9FEC-EC09-52A5-580805144597}"/>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8" name="Footer Placeholder 7">
            <a:extLst>
              <a:ext uri="{FF2B5EF4-FFF2-40B4-BE49-F238E27FC236}">
                <a16:creationId xmlns:a16="http://schemas.microsoft.com/office/drawing/2014/main" id="{0B6CA664-EC63-771B-2DE3-9BA4C9A89C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B7E44C-2956-CA7E-FD12-0D73F9D32486}"/>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2522484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707CF-C829-C3D4-7FFF-B8214016DF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487E04-FD44-0E5D-35FF-8BEA0EABAB86}"/>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4" name="Footer Placeholder 3">
            <a:extLst>
              <a:ext uri="{FF2B5EF4-FFF2-40B4-BE49-F238E27FC236}">
                <a16:creationId xmlns:a16="http://schemas.microsoft.com/office/drawing/2014/main" id="{8513C6E8-D814-51BF-40E4-103498A62B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45369E-ED36-37AA-079C-B0420AA626FA}"/>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50807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9FF471-4E75-8394-B1E9-87E4120F5B07}"/>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3" name="Footer Placeholder 2">
            <a:extLst>
              <a:ext uri="{FF2B5EF4-FFF2-40B4-BE49-F238E27FC236}">
                <a16:creationId xmlns:a16="http://schemas.microsoft.com/office/drawing/2014/main" id="{22F92310-2C28-64E9-5108-31034B792B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257516-B795-C73A-8EED-FBC4EAA118D5}"/>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1386326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7D097-5933-3F61-72F7-824EAD4A4F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8ED7D8-D4DE-7771-300B-0920B685C0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9C9CA9-905C-0E0E-9650-B09526395E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7A733D-C181-AB49-B33F-C1E5316261F3}"/>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6" name="Footer Placeholder 5">
            <a:extLst>
              <a:ext uri="{FF2B5EF4-FFF2-40B4-BE49-F238E27FC236}">
                <a16:creationId xmlns:a16="http://schemas.microsoft.com/office/drawing/2014/main" id="{DDFA67C6-D7CF-0258-6A3D-BBC61CACFC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FFA266-DB19-C434-BBD4-E7A06D60AA55}"/>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3849096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B2ECF-A3D1-F655-A2BC-CEDB419B3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F7A1BC-9204-0CC1-EBB5-BD2131368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B71273-5C2B-15E9-B9E3-16C81ACF79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A6CC0-EDC7-E095-703C-3314CA0B4928}"/>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6" name="Footer Placeholder 5">
            <a:extLst>
              <a:ext uri="{FF2B5EF4-FFF2-40B4-BE49-F238E27FC236}">
                <a16:creationId xmlns:a16="http://schemas.microsoft.com/office/drawing/2014/main" id="{820369DF-6475-F171-7E28-00C75F2059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259D13-CC54-CDE7-B4DA-CF9729FE1C44}"/>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4093143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A639-1F2B-1959-CD77-C2B4415A55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EF3C48-0216-8EBF-8A97-F254EC9D9E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C2F8D9-DCB2-01B1-20DD-D2A825723B39}"/>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5" name="Footer Placeholder 4">
            <a:extLst>
              <a:ext uri="{FF2B5EF4-FFF2-40B4-BE49-F238E27FC236}">
                <a16:creationId xmlns:a16="http://schemas.microsoft.com/office/drawing/2014/main" id="{C2ED2E32-0C50-1E99-CBC6-1A3B92BDEE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CE8F4-91B3-7BCA-C3F2-637B652CA707}"/>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4269001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BDC169-395D-3836-D410-8786FF3521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838F93-01E9-655C-41FF-22B6EF1ED4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063B1-041C-7159-77BC-A70DFEC39C78}"/>
              </a:ext>
            </a:extLst>
          </p:cNvPr>
          <p:cNvSpPr>
            <a:spLocks noGrp="1"/>
          </p:cNvSpPr>
          <p:nvPr>
            <p:ph type="dt" sz="half" idx="10"/>
          </p:nvPr>
        </p:nvSpPr>
        <p:spPr/>
        <p:txBody>
          <a:bodyPr/>
          <a:lstStyle/>
          <a:p>
            <a:fld id="{18974E4A-7E4C-EF45-9C1F-1075B2971592}" type="datetimeFigureOut">
              <a:rPr lang="en-US" smtClean="0"/>
              <a:t>9/9/26</a:t>
            </a:fld>
            <a:endParaRPr lang="en-US"/>
          </a:p>
        </p:txBody>
      </p:sp>
      <p:sp>
        <p:nvSpPr>
          <p:cNvPr id="5" name="Footer Placeholder 4">
            <a:extLst>
              <a:ext uri="{FF2B5EF4-FFF2-40B4-BE49-F238E27FC236}">
                <a16:creationId xmlns:a16="http://schemas.microsoft.com/office/drawing/2014/main" id="{FC1CDD0A-533B-FDFB-9925-05DC7A045F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5B46D-35E9-79D4-59D2-CEA952F6C197}"/>
              </a:ext>
            </a:extLst>
          </p:cNvPr>
          <p:cNvSpPr>
            <a:spLocks noGrp="1"/>
          </p:cNvSpPr>
          <p:nvPr>
            <p:ph type="sldNum" sz="quarter" idx="12"/>
          </p:nvPr>
        </p:nvSpPr>
        <p:spPr/>
        <p:txBody>
          <a:bodyPr/>
          <a:lstStyle/>
          <a:p>
            <a:fld id="{D59309E0-C9D7-AF4F-A8CC-A382806019EB}" type="slidenum">
              <a:rPr lang="en-US" smtClean="0"/>
              <a:t>‹#›</a:t>
            </a:fld>
            <a:endParaRPr lang="en-US"/>
          </a:p>
        </p:txBody>
      </p:sp>
    </p:spTree>
    <p:extLst>
      <p:ext uri="{BB962C8B-B14F-4D97-AF65-F5344CB8AC3E}">
        <p14:creationId xmlns:p14="http://schemas.microsoft.com/office/powerpoint/2010/main" val="903742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65ADD3-1157-DA3E-58EF-4C34DE99C0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468AB7-7135-5782-9772-B090BE21FF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C4A742-F61D-C005-B2CA-8D7B40B7AA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974E4A-7E4C-EF45-9C1F-1075B2971592}" type="datetimeFigureOut">
              <a:rPr lang="en-US" smtClean="0"/>
              <a:t>9/9/26</a:t>
            </a:fld>
            <a:endParaRPr lang="en-US"/>
          </a:p>
        </p:txBody>
      </p:sp>
      <p:sp>
        <p:nvSpPr>
          <p:cNvPr id="5" name="Footer Placeholder 4">
            <a:extLst>
              <a:ext uri="{FF2B5EF4-FFF2-40B4-BE49-F238E27FC236}">
                <a16:creationId xmlns:a16="http://schemas.microsoft.com/office/drawing/2014/main" id="{6A15416F-6BD1-12D5-FB65-E7313AB184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D58EE7-A664-4A3B-6C03-6B9C04B42C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9309E0-C9D7-AF4F-A8CC-A382806019EB}" type="slidenum">
              <a:rPr lang="en-US" smtClean="0"/>
              <a:t>‹#›</a:t>
            </a:fld>
            <a:endParaRPr lang="en-US"/>
          </a:p>
        </p:txBody>
      </p:sp>
    </p:spTree>
    <p:extLst>
      <p:ext uri="{BB962C8B-B14F-4D97-AF65-F5344CB8AC3E}">
        <p14:creationId xmlns:p14="http://schemas.microsoft.com/office/powerpoint/2010/main" val="1887664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DDF93-F2BD-5473-33BC-543947B51D84}"/>
              </a:ext>
            </a:extLst>
          </p:cNvPr>
          <p:cNvPicPr>
            <a:picLocks noChangeAspect="1"/>
          </p:cNvPicPr>
          <p:nvPr/>
        </p:nvPicPr>
        <p:blipFill>
          <a:blip r:embed="rId2"/>
          <a:stretch>
            <a:fillRect/>
          </a:stretch>
        </p:blipFill>
        <p:spPr>
          <a:xfrm>
            <a:off x="2209800" y="1589256"/>
            <a:ext cx="7772400" cy="3679487"/>
          </a:xfrm>
          <a:prstGeom prst="rect">
            <a:avLst/>
          </a:prstGeom>
        </p:spPr>
      </p:pic>
      <p:sp>
        <p:nvSpPr>
          <p:cNvPr id="5" name="TextBox 4">
            <a:extLst>
              <a:ext uri="{FF2B5EF4-FFF2-40B4-BE49-F238E27FC236}">
                <a16:creationId xmlns:a16="http://schemas.microsoft.com/office/drawing/2014/main" id="{50BC1D64-3ECA-DFEA-ECE7-0C40D64297A7}"/>
              </a:ext>
            </a:extLst>
          </p:cNvPr>
          <p:cNvSpPr txBox="1"/>
          <p:nvPr/>
        </p:nvSpPr>
        <p:spPr>
          <a:xfrm>
            <a:off x="2908663" y="609600"/>
            <a:ext cx="4221477" cy="369332"/>
          </a:xfrm>
          <a:prstGeom prst="rect">
            <a:avLst/>
          </a:prstGeom>
          <a:noFill/>
        </p:spPr>
        <p:txBody>
          <a:bodyPr wrap="none" rtlCol="0">
            <a:spAutoFit/>
          </a:bodyPr>
          <a:lstStyle/>
          <a:p>
            <a:r>
              <a:rPr lang="en-US"/>
              <a:t>NodeJS / JavaScript: Bundler, Framework</a:t>
            </a:r>
          </a:p>
        </p:txBody>
      </p:sp>
      <p:sp>
        <p:nvSpPr>
          <p:cNvPr id="6" name="TextBox 5">
            <a:extLst>
              <a:ext uri="{FF2B5EF4-FFF2-40B4-BE49-F238E27FC236}">
                <a16:creationId xmlns:a16="http://schemas.microsoft.com/office/drawing/2014/main" id="{92305950-D02E-DE7B-AB14-913B48428945}"/>
              </a:ext>
            </a:extLst>
          </p:cNvPr>
          <p:cNvSpPr txBox="1"/>
          <p:nvPr/>
        </p:nvSpPr>
        <p:spPr>
          <a:xfrm>
            <a:off x="4093029" y="5947954"/>
            <a:ext cx="4362092" cy="369332"/>
          </a:xfrm>
          <a:prstGeom prst="rect">
            <a:avLst/>
          </a:prstGeom>
          <a:noFill/>
        </p:spPr>
        <p:txBody>
          <a:bodyPr wrap="none" rtlCol="0">
            <a:spAutoFit/>
          </a:bodyPr>
          <a:lstStyle/>
          <a:p>
            <a:r>
              <a:rPr lang="en-US"/>
              <a:t>Same thing is happening to Agent Harness</a:t>
            </a:r>
          </a:p>
        </p:txBody>
      </p:sp>
    </p:spTree>
    <p:extLst>
      <p:ext uri="{BB962C8B-B14F-4D97-AF65-F5344CB8AC3E}">
        <p14:creationId xmlns:p14="http://schemas.microsoft.com/office/powerpoint/2010/main" val="1956675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8570EE1-553F-6C05-5E48-A1127066FBA6}"/>
              </a:ext>
            </a:extLst>
          </p:cNvPr>
          <p:cNvSpPr txBox="1"/>
          <p:nvPr/>
        </p:nvSpPr>
        <p:spPr>
          <a:xfrm>
            <a:off x="-1416978" y="182880"/>
            <a:ext cx="11302409" cy="9094797"/>
          </a:xfrm>
          <a:prstGeom prst="rect">
            <a:avLst/>
          </a:prstGeom>
          <a:noFill/>
        </p:spPr>
        <p:txBody>
          <a:bodyPr wrap="square" rtlCol="0">
            <a:spAutoFit/>
          </a:bodyPr>
          <a:lstStyle/>
          <a:p>
            <a:r>
              <a:rPr lang="en-US" sz="900" b="1"/>
              <a:t>Protocol Interoperability:</a:t>
            </a:r>
            <a:r>
              <a:rPr lang="en-US" sz="900"/>
              <a:t> Harnesses utilize the Language Server Protocol (LSP) to gain deep language intelligence, such as real-time AST parsing and diagnostics, and the Model Context Protocol (MCP) to dynamically connect to external APIs, databases, and local tools.</a:t>
            </a:r>
          </a:p>
          <a:p>
            <a:r>
              <a:rPr lang="en-US" sz="900" b="1"/>
              <a:t>Security &amp; Sandboxing:</a:t>
            </a:r>
            <a:r>
              <a:rPr lang="en-US" sz="900"/>
              <a:t> They rely on runtime isolation layers like MicroVMs and container sandboxes (e.g., Docker Sandboxes). This creates a hard security boundary that allows agents to perform unattended code execution, often called "YOLO mode," without risking the host machine.</a:t>
            </a:r>
          </a:p>
          <a:p>
            <a:r>
              <a:rPr lang="en-US" sz="900" b="1">
                <a:highlight>
                  <a:srgbClr val="FFFF00"/>
                </a:highlight>
              </a:rPr>
              <a:t>Runtime or </a:t>
            </a:r>
            <a:r>
              <a:rPr lang="en-US" sz="900">
                <a:highlight>
                  <a:srgbClr val="FFFF00"/>
                </a:highlight>
              </a:rPr>
              <a:t>Workspace or Sandbox </a:t>
            </a:r>
            <a:r>
              <a:rPr lang="en-US" sz="900" b="1">
                <a:highlight>
                  <a:srgbClr val="FFFF00"/>
                </a:highlight>
              </a:rPr>
              <a:t> isolation layers:</a:t>
            </a:r>
            <a:r>
              <a:rPr lang="en-US" sz="900">
                <a:highlight>
                  <a:srgbClr val="FFFF00"/>
                </a:highlight>
              </a:rPr>
              <a:t> Dedicated, isolated, Environments like Docker Sandboxes that mount specific workspaces into dedicated microVMs.</a:t>
            </a:r>
          </a:p>
          <a:p>
            <a:r>
              <a:rPr lang="en-US" sz="900" b="1">
                <a:highlight>
                  <a:srgbClr val="FFFF00"/>
                </a:highlight>
              </a:rPr>
              <a:t>Hard security boundaries:</a:t>
            </a:r>
            <a:r>
              <a:rPr lang="en-US" sz="900">
                <a:highlight>
                  <a:srgbClr val="FFFF00"/>
                </a:highlight>
              </a:rPr>
              <a:t> Strict perimeters established to allow processes to execute code safely and unattended without risking the broader host system.</a:t>
            </a:r>
          </a:p>
          <a:p>
            <a:r>
              <a:rPr lang="en-US" sz="900" b="1">
                <a:highlight>
                  <a:srgbClr val="FFFF00"/>
                </a:highlight>
              </a:rPr>
              <a:t>Isolated execution environments:</a:t>
            </a:r>
            <a:r>
              <a:rPr lang="en-US" sz="900">
                <a:highlight>
                  <a:srgbClr val="FFFF00"/>
                </a:highlight>
              </a:rPr>
              <a:t> Secure microVMs or containers provisioned to keep operations completely separated from other systems.</a:t>
            </a:r>
          </a:p>
          <a:p>
            <a:r>
              <a:rPr lang="en-US" sz="900" b="1">
                <a:highlight>
                  <a:srgbClr val="FFFF00"/>
                </a:highlight>
              </a:rPr>
              <a:t>Container-in-container capabilities:</a:t>
            </a:r>
            <a:r>
              <a:rPr lang="en-US" sz="900">
                <a:highlight>
                  <a:srgbClr val="FFFF00"/>
                </a:highlight>
              </a:rPr>
              <a:t> Sandboxing features that allow isolated environments to spin up their own nested, firewall-restricted containers.</a:t>
            </a:r>
          </a:p>
          <a:p>
            <a:r>
              <a:rPr lang="en-US" sz="900" b="1">
                <a:highlight>
                  <a:srgbClr val="FFFF00"/>
                </a:highlight>
              </a:rPr>
              <a:t>Multi-tenancy </a:t>
            </a:r>
            <a:r>
              <a:rPr lang="en-US" sz="900">
                <a:highlight>
                  <a:srgbClr val="FFFF00"/>
                </a:highlight>
              </a:rPr>
              <a:t>Isolates users, organizations, projects, policies, secrets, memory, artifacts, and compute.</a:t>
            </a:r>
          </a:p>
          <a:p>
            <a:r>
              <a:rPr lang="en-US" sz="900" b="1">
                <a:highlight>
                  <a:srgbClr val="FFFF00"/>
                </a:highlight>
              </a:rPr>
              <a:t>Granular, agent-specific security boundaries</a:t>
            </a:r>
            <a:r>
              <a:rPr lang="en-US" sz="900">
                <a:highlight>
                  <a:srgbClr val="FFFF00"/>
                </a:highlight>
              </a:rPr>
              <a:t>: A term used to describe the isolated, instance-specific permission policies (such as those in a permissions.yaml file) that dictate exactly what a specific tenant or agent is allowed to access.</a:t>
            </a:r>
          </a:p>
          <a:p>
            <a:r>
              <a:rPr lang="en-US" sz="900" b="1"/>
              <a:t>Editor &amp; IPC Integrations:</a:t>
            </a:r>
            <a:r>
              <a:rPr lang="en-US" sz="900"/>
              <a:t> To bridge communication between the CLI and the editor UI without hanging the terminal, harnesses tap into Inter-Process Communication (IPC) sockets like VSCODE_IPC_HOOK_CLI or utilize "wait" patterns (e.g., code --wait) to capture user input or authentication credentials natively.</a:t>
            </a:r>
          </a:p>
          <a:p>
            <a:r>
              <a:rPr lang="en-US" sz="900" b="1"/>
              <a:t>Path-Gated Rules:</a:t>
            </a:r>
            <a:r>
              <a:rPr lang="en-US" sz="900"/>
              <a:t> Instead of loading every instruction globally, harnesses use directory-specific gateways (such as .cursor/rules/*.mdc or .github/instructions/) to trigger specialized contextual prompts only when an agent edits a matching folder.</a:t>
            </a:r>
          </a:p>
          <a:p>
            <a:r>
              <a:rPr lang="en-US" sz="900" b="1"/>
              <a:t>State &amp; Memory Persistence:</a:t>
            </a:r>
            <a:r>
              <a:rPr lang="en-US" sz="900"/>
              <a:t> Autonomous harnesses heavily prioritize state tracking to prevent context window exhaustion and "lost in the middle" recall issues. They manage this through rolling summaries, chronological transcript logs (history.jsonl), and persistent state files (state.json) that track active directives across sessions.</a:t>
            </a:r>
          </a:p>
          <a:p>
            <a:r>
              <a:rPr lang="en-US" sz="900" b="1"/>
              <a:t>Routing Architectures:</a:t>
            </a:r>
            <a:r>
              <a:rPr lang="en-US" sz="900"/>
              <a:t> Developers must intentionally design the harness to balance deterministic, script-based workflows with dynamic LLM-driven autonomous routing (like the ReAct or Plan-and-Execute patterns) to prevent agents from hallucinating dead-end paths or getting stuck in infinite loops in production.</a:t>
            </a:r>
          </a:p>
          <a:p>
            <a:r>
              <a:rPr lang="en-US" sz="900" b="1"/>
              <a:t>Tool Abstraction: </a:t>
            </a:r>
            <a:r>
              <a:rPr lang="en-US" sz="900"/>
              <a:t>Typed wrappers around shell, filesystem, Git, HTTP, browser, databases, cloud APIs, etc. instead of unrestricted raw execution.</a:t>
            </a:r>
          </a:p>
          <a:p>
            <a:r>
              <a:rPr lang="en-US" sz="900" b="1"/>
              <a:t>Discovery: </a:t>
            </a:r>
            <a:r>
              <a:rPr lang="en-US" sz="900"/>
              <a:t>Lets agents discover available capabilities progressively rather than loading every tool/schema into context.</a:t>
            </a:r>
          </a:p>
          <a:p>
            <a:r>
              <a:rPr lang="en-US" sz="900" b="1"/>
              <a:t>Permissioning</a:t>
            </a:r>
            <a:r>
              <a:rPr lang="en-US" sz="900"/>
              <a:t>: allow / deny / ask / scoped policies per tool, command, path, user, agent, repository, or environment.</a:t>
            </a:r>
          </a:p>
          <a:p>
            <a:r>
              <a:rPr lang="en-US" sz="900" b="1"/>
              <a:t>Delegation: </a:t>
            </a:r>
            <a:r>
              <a:rPr lang="en-US" sz="900"/>
              <a:t>Gives subagents temporary, restricted capabilities rather than inheriting the parent agent's full authority.</a:t>
            </a:r>
          </a:p>
          <a:p>
            <a:r>
              <a:rPr lang="en-US" sz="900" b="1"/>
              <a:t>Interception: </a:t>
            </a:r>
            <a:r>
              <a:rPr lang="en-US" sz="900"/>
              <a:t>Inspects proposed shell/tool operations before execution; blocks dangerous patterns or rewrites them into safer operations.</a:t>
            </a:r>
          </a:p>
          <a:p>
            <a:r>
              <a:rPr lang="en-US" sz="900" b="1"/>
              <a:t>Resource</a:t>
            </a:r>
            <a:r>
              <a:rPr lang="en-US" sz="900"/>
              <a:t> </a:t>
            </a:r>
            <a:r>
              <a:rPr lang="en-US" sz="900" b="1"/>
              <a:t>Governance: </a:t>
            </a:r>
            <a:r>
              <a:rPr lang="en-US" sz="900"/>
              <a:t>Limits tokens, model spend, execution time, disk, memory, processes, API calls, network traffic, and concurrency.</a:t>
            </a:r>
          </a:p>
          <a:p>
            <a:r>
              <a:rPr lang="en-US" sz="900" b="1"/>
              <a:t>Network Governance: </a:t>
            </a:r>
            <a:r>
              <a:rPr lang="en-US" sz="900"/>
              <a:t>Domain allowlists, egress controls, proxying, DNS restrictions, credential-aware routing, and offline execution.</a:t>
            </a:r>
          </a:p>
          <a:p>
            <a:r>
              <a:rPr lang="en-US" sz="900" b="1"/>
              <a:t>Filesystem Virtualization: </a:t>
            </a:r>
            <a:r>
              <a:rPr lang="en-US" sz="900"/>
              <a:t>Worktrees, overlays, temporary directories, snapshots, read-only mounts, scoped writable paths, and rollback.</a:t>
            </a:r>
          </a:p>
          <a:p>
            <a:r>
              <a:rPr lang="en-US" sz="900" b="1"/>
              <a:t>Environment Management: </a:t>
            </a:r>
            <a:r>
              <a:rPr lang="en-US" sz="900"/>
              <a:t>Creates reproducible runtime environments and injects only the dependencies/configuration required for a task.</a:t>
            </a:r>
          </a:p>
          <a:p>
            <a:r>
              <a:rPr lang="en-US" sz="900" b="1"/>
              <a:t>Secrets Management: </a:t>
            </a:r>
            <a:r>
              <a:rPr lang="en-US" sz="900"/>
              <a:t>Injects credentials just-in-time without putting secrets directly into prompts or agent-visible state.</a:t>
            </a:r>
          </a:p>
          <a:p>
            <a:r>
              <a:rPr lang="en-US" sz="900" b="1"/>
              <a:t>Identity / RBAC / ABAC: </a:t>
            </a:r>
            <a:r>
              <a:rPr lang="en-US" sz="900"/>
              <a:t>Determines what a user, agent, subagent, skill, or workflow is authorized to perform.</a:t>
            </a:r>
          </a:p>
          <a:p>
            <a:r>
              <a:rPr lang="en-US" sz="900" b="1"/>
              <a:t>Policy Engine: </a:t>
            </a:r>
            <a:r>
              <a:rPr lang="en-US" sz="900"/>
              <a:t>Evaluates organizational rules independently of the LLM: compliance, security, data handling, deployment, licensing, etc.</a:t>
            </a:r>
          </a:p>
          <a:p>
            <a:r>
              <a:rPr lang="en-US" sz="900" b="1"/>
              <a:t>Human-in-the-Loop: </a:t>
            </a:r>
            <a:r>
              <a:rPr lang="en-US" sz="900"/>
              <a:t>Pause → inspect → approve/reject/edit → resume, with escalation based on risk rather than every operation.</a:t>
            </a:r>
          </a:p>
          <a:p>
            <a:r>
              <a:rPr lang="en-US" sz="900" b="1"/>
              <a:t>Checkpointing: </a:t>
            </a:r>
            <a:r>
              <a:rPr lang="en-US" sz="900"/>
              <a:t>Serializes execution state so a task can resume after crashes, restarts, model failures, or human intervention.</a:t>
            </a:r>
          </a:p>
          <a:p>
            <a:r>
              <a:rPr lang="en-US" sz="900" b="1"/>
              <a:t>Branching / Rewind: </a:t>
            </a:r>
            <a:r>
              <a:rPr lang="en-US" sz="900"/>
              <a:t>Forks from checkpoints, tries alternatives, compares results, or rewinds to a known-good state.</a:t>
            </a:r>
          </a:p>
          <a:p>
            <a:r>
              <a:rPr lang="en-US" sz="900" b="1"/>
              <a:t>Durable Execution: </a:t>
            </a:r>
            <a:r>
              <a:rPr lang="en-US" sz="900"/>
              <a:t>Turns a 3-hour agent run into a recoverable workflow instead of one giant fragile LLM conversation.</a:t>
            </a:r>
          </a:p>
          <a:p>
            <a:r>
              <a:rPr lang="en-US" sz="900" b="1"/>
              <a:t>Compensation / Rollback: </a:t>
            </a:r>
            <a:r>
              <a:rPr lang="en-US" sz="900"/>
              <a:t>Defines reverse operations when an agent partially completes a multi-step transaction.</a:t>
            </a:r>
          </a:p>
          <a:p>
            <a:r>
              <a:rPr lang="en-US" sz="900" b="1"/>
              <a:t>Artifact Management: </a:t>
            </a:r>
            <a:r>
              <a:rPr lang="en-US" sz="900"/>
              <a:t>Treats generated code, plans, reports, patches, screenshots, logs, test results, etc. as first-class versioned artifacts.</a:t>
            </a:r>
          </a:p>
          <a:p>
            <a:r>
              <a:rPr lang="en-US" sz="900" b="1"/>
              <a:t>Context Engineering: </a:t>
            </a:r>
            <a:r>
              <a:rPr lang="en-US" sz="900"/>
              <a:t>Selects what goes into the model context instead of blindly appending conversation history.</a:t>
            </a:r>
          </a:p>
          <a:p>
            <a:r>
              <a:rPr lang="en-US" sz="900" b="1"/>
              <a:t>Context Compression: </a:t>
            </a:r>
            <a:r>
              <a:rPr lang="en-US" sz="900"/>
              <a:t>Summarizes, deduplicates, ranks, chunks, expires, and retrieves information according to relevance.</a:t>
            </a:r>
          </a:p>
          <a:p>
            <a:r>
              <a:rPr lang="en-US" sz="900" b="1"/>
              <a:t>Progressive Disclosure: </a:t>
            </a:r>
            <a:r>
              <a:rPr lang="en-US" sz="900"/>
              <a:t>Exposes capability contracts first and implementation details only when required.</a:t>
            </a:r>
          </a:p>
          <a:p>
            <a:r>
              <a:rPr lang="en-US" sz="900" b="1"/>
              <a:t>Repository Intelligence: </a:t>
            </a:r>
            <a:r>
              <a:rPr lang="en-US" sz="900"/>
              <a:t>Builds structural maps of repositories: languages, packages, dependencies, ownership, symbols, tests, build systems, etc.</a:t>
            </a:r>
          </a:p>
          <a:p>
            <a:r>
              <a:rPr lang="en-US" sz="900" b="1"/>
              <a:t>Semantic Retrieval: </a:t>
            </a:r>
            <a:r>
              <a:rPr lang="en-US" sz="900"/>
              <a:t>RAG over code, documentation, tickets, architecture decisions, prior executions, and organizational knowledge.</a:t>
            </a:r>
          </a:p>
          <a:p>
            <a:r>
              <a:rPr lang="en-US" sz="900" b="1"/>
              <a:t>Model Routing: </a:t>
            </a:r>
            <a:r>
              <a:rPr lang="en-US" sz="900"/>
              <a:t>Routes simple operations to cheap/fast models and difficult reasoning to stronger models.</a:t>
            </a:r>
          </a:p>
          <a:p>
            <a:r>
              <a:rPr lang="en-US" sz="900" b="1"/>
              <a:t>Agent Routing: </a:t>
            </a:r>
            <a:r>
              <a:rPr lang="en-US" sz="900"/>
              <a:t>Delegates work to specialized agents such as planner, coder, reviewer, tester, security reviewer, researcher, etc.</a:t>
            </a:r>
          </a:p>
          <a:p>
            <a:r>
              <a:rPr lang="en-US" sz="900" b="1"/>
              <a:t>Skill Routing: </a:t>
            </a:r>
            <a:r>
              <a:rPr lang="en-US" sz="900"/>
              <a:t>Maps intent → skill → tools rather than requiring the model to rediscover procedures every run.</a:t>
            </a:r>
          </a:p>
          <a:p>
            <a:r>
              <a:rPr lang="en-US" sz="900" b="1"/>
              <a:t>Task Decomposition: </a:t>
            </a:r>
            <a:r>
              <a:rPr lang="en-US" sz="900"/>
              <a:t>Converts an objective into tasks, dependencies, DAGs, milestones, and executable units.</a:t>
            </a:r>
          </a:p>
          <a:p>
            <a:r>
              <a:rPr lang="en-US" sz="900" b="1"/>
              <a:t>Parallel Execution: </a:t>
            </a:r>
            <a:r>
              <a:rPr lang="en-US" sz="900"/>
              <a:t>Runs independent agents/tasks concurrently while controlling shared state and merge conflicts.</a:t>
            </a:r>
          </a:p>
          <a:p>
            <a:r>
              <a:rPr lang="en-US" sz="900" b="1"/>
              <a:t>Agent Coordination: </a:t>
            </a:r>
            <a:r>
              <a:rPr lang="en-US" sz="900"/>
              <a:t>Mailboxes, queues, blackboards, event buses, structured messages, ownership, locks, and synchronization.</a:t>
            </a:r>
          </a:p>
          <a:p>
            <a:r>
              <a:rPr lang="en-US" sz="900" b="1"/>
              <a:t>Conflict Resolution: </a:t>
            </a:r>
            <a:r>
              <a:rPr lang="en-US" sz="900"/>
              <a:t>Handles multiple agents modifying the same files/resources or producing incompatible conclusions.</a:t>
            </a:r>
          </a:p>
          <a:p>
            <a:r>
              <a:rPr lang="en-US" sz="900" b="1"/>
              <a:t>Verification: </a:t>
            </a:r>
            <a:r>
              <a:rPr lang="en-US" sz="900"/>
              <a:t>Separates generation from validation: tests, schemas, static analysis, policy checks, security scans, visual checks, etc.</a:t>
            </a:r>
          </a:p>
          <a:p>
            <a:r>
              <a:rPr lang="en-US" sz="900" b="1"/>
              <a:t>Structured Outputs: </a:t>
            </a:r>
            <a:r>
              <a:rPr lang="en-US" sz="900"/>
              <a:t>Enforces JSON Schema, Zod, Pydantic, protobuf, typed events, or other contracts instead of trusting prose.</a:t>
            </a:r>
          </a:p>
          <a:p>
            <a:r>
              <a:rPr lang="en-US" sz="900" b="1"/>
              <a:t>Self-Correction Loops</a:t>
            </a:r>
            <a:r>
              <a:rPr lang="en-US" sz="900"/>
              <a:t>: generate → validate → diagnose → repair → validate with bounded retry policies.</a:t>
            </a:r>
          </a:p>
          <a:p>
            <a:r>
              <a:rPr lang="en-US" sz="900" b="1"/>
              <a:t>Quality Gates: </a:t>
            </a:r>
            <a:r>
              <a:rPr lang="en-US" sz="900"/>
              <a:t>Prevents advancement until required tests, linting, security checks, coverage, approvals, or validations succeed.</a:t>
            </a:r>
          </a:p>
          <a:p>
            <a:r>
              <a:rPr lang="en-US" sz="900" b="1"/>
              <a:t>Stop Conditions: </a:t>
            </a:r>
            <a:r>
              <a:rPr lang="en-US" sz="900"/>
              <a:t>Defines success, failure, retry, escalation, timeout, maximum iterations, and budget exhaustion.</a:t>
            </a:r>
          </a:p>
          <a:p>
            <a:r>
              <a:rPr lang="en-US" sz="900" b="1"/>
              <a:t>Observability </a:t>
            </a:r>
            <a:r>
              <a:rPr lang="en-US" sz="900"/>
              <a:t>Traces prompts, models, tool calls, tokens, latency, state transitions, artifacts, errors, and decisions.</a:t>
            </a:r>
          </a:p>
          <a:p>
            <a:r>
              <a:rPr lang="en-US" sz="900" b="1"/>
              <a:t>Replay: </a:t>
            </a:r>
            <a:r>
              <a:rPr lang="en-US" sz="900"/>
              <a:t>Reconstructs an execution from its event history for debugging, auditing, or regression testing.</a:t>
            </a:r>
          </a:p>
          <a:p>
            <a:r>
              <a:rPr lang="en-US" sz="900" b="1"/>
              <a:t>Provenance: </a:t>
            </a:r>
            <a:r>
              <a:rPr lang="en-US" sz="900"/>
              <a:t>Records where generated information / code came from and which inputs influenced a decision.</a:t>
            </a:r>
          </a:p>
          <a:p>
            <a:r>
              <a:rPr lang="en-US" sz="900" b="1"/>
              <a:t>Event System</a:t>
            </a:r>
            <a:r>
              <a:rPr lang="en-US" sz="900"/>
              <a:t>: Emits events such as task.started, tool.called, approval.required, artifact.created, task.completed</a:t>
            </a:r>
          </a:p>
          <a:p>
            <a:r>
              <a:rPr lang="en-US" sz="900" b="1"/>
              <a:t>Hooks / Middleware: </a:t>
            </a:r>
            <a:r>
              <a:rPr lang="en-US" sz="900"/>
              <a:t>Provides interception points before/after prompts, model calls, tool execution, writes, commits, deployments, etc.</a:t>
            </a:r>
          </a:p>
          <a:p>
            <a:r>
              <a:rPr lang="en-US" sz="900" b="1"/>
              <a:t>Session Management</a:t>
            </a:r>
            <a:r>
              <a:rPr lang="en-US" sz="900"/>
              <a:t>Maintains multiple independent task/session/workspace contexts and lets them resume later.</a:t>
            </a:r>
          </a:p>
          <a:p>
            <a:r>
              <a:rPr lang="en-US" sz="900" b="1"/>
              <a:t>Scheduling</a:t>
            </a:r>
            <a:r>
              <a:rPr lang="en-US" sz="900"/>
              <a:t>Runs agents periodically, at a specific time, from queues, or in response to external events.</a:t>
            </a:r>
          </a:p>
          <a:p>
            <a:r>
              <a:rPr lang="en-US" sz="900" b="1"/>
              <a:t>Triggers / Webhooks</a:t>
            </a:r>
            <a:r>
              <a:rPr lang="en-US" sz="900"/>
              <a:t>Starts workflows from GitHub, Jira, Slack, CI, monitoring alerts, email, APIs, filesystem changes, etc.</a:t>
            </a:r>
          </a:p>
          <a:p>
            <a:r>
              <a:rPr lang="en-US" sz="900" b="1"/>
              <a:t>Background Execution</a:t>
            </a:r>
            <a:r>
              <a:rPr lang="en-US" sz="900"/>
              <a:t>Allows long-running tasks to continue independently of an interactive CLI/editor session.</a:t>
            </a:r>
          </a:p>
          <a:p>
            <a:r>
              <a:rPr lang="en-US" sz="900" b="1"/>
              <a:t>Notifications</a:t>
            </a:r>
            <a:r>
              <a:rPr lang="en-US" sz="900"/>
              <a:t>Reports completion, failure, approval requests, budget thresholds, or anomalies through external channels.</a:t>
            </a:r>
          </a:p>
          <a:p>
            <a:r>
              <a:rPr lang="en-US" sz="900" b="1"/>
              <a:t>Extension System</a:t>
            </a:r>
            <a:r>
              <a:rPr lang="en-US" sz="900"/>
              <a:t>Allows new agents, skills, commands, MCP servers, plugins, hooks, models, policies, and tools to be installed.</a:t>
            </a:r>
          </a:p>
        </p:txBody>
      </p:sp>
      <p:sp>
        <p:nvSpPr>
          <p:cNvPr id="11" name="TextBox 10">
            <a:extLst>
              <a:ext uri="{FF2B5EF4-FFF2-40B4-BE49-F238E27FC236}">
                <a16:creationId xmlns:a16="http://schemas.microsoft.com/office/drawing/2014/main" id="{5C0AF851-0EB8-CEC3-2CF1-3E7E47D7E9D9}"/>
              </a:ext>
            </a:extLst>
          </p:cNvPr>
          <p:cNvSpPr txBox="1"/>
          <p:nvPr/>
        </p:nvSpPr>
        <p:spPr>
          <a:xfrm>
            <a:off x="10633166" y="104503"/>
            <a:ext cx="11015131" cy="923330"/>
          </a:xfrm>
          <a:prstGeom prst="rect">
            <a:avLst/>
          </a:prstGeom>
          <a:noFill/>
        </p:spPr>
        <p:txBody>
          <a:bodyPr wrap="none" rtlCol="0">
            <a:spAutoFit/>
          </a:bodyPr>
          <a:lstStyle/>
          <a:p>
            <a:r>
              <a:rPr lang="en-US" b="1"/>
              <a:t>Evaluation: </a:t>
            </a:r>
            <a:r>
              <a:rPr lang="en-US"/>
              <a:t>Runs agent behavior against golden tasks, regression suites, benchmarks, and production traces.</a:t>
            </a:r>
          </a:p>
          <a:p>
            <a:r>
              <a:rPr lang="en-US" b="1"/>
              <a:t>Auditability</a:t>
            </a:r>
            <a:r>
              <a:rPr lang="en-US"/>
              <a:t>Maintains immutable records of who/what/when/why for actions taken by autonomous systems.</a:t>
            </a:r>
          </a:p>
          <a:p>
            <a:endParaRPr lang="en-US"/>
          </a:p>
        </p:txBody>
      </p:sp>
    </p:spTree>
    <p:extLst>
      <p:ext uri="{BB962C8B-B14F-4D97-AF65-F5344CB8AC3E}">
        <p14:creationId xmlns:p14="http://schemas.microsoft.com/office/powerpoint/2010/main" val="77288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920C9-7FD6-BAD4-0039-DB0A64AC5DFA}"/>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422311C3-67A7-6DB6-9065-8328F59FB36D}"/>
              </a:ext>
            </a:extLst>
          </p:cNvPr>
          <p:cNvSpPr/>
          <p:nvPr/>
        </p:nvSpPr>
        <p:spPr>
          <a:xfrm>
            <a:off x="499730" y="829339"/>
            <a:ext cx="3104707" cy="1148317"/>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r>
              <a:rPr lang="en-US"/>
              <a:t>Harness</a:t>
            </a:r>
          </a:p>
        </p:txBody>
      </p:sp>
      <p:sp>
        <p:nvSpPr>
          <p:cNvPr id="7" name="Rounded Rectangle 6">
            <a:extLst>
              <a:ext uri="{FF2B5EF4-FFF2-40B4-BE49-F238E27FC236}">
                <a16:creationId xmlns:a16="http://schemas.microsoft.com/office/drawing/2014/main" id="{D9AD216D-13AF-1E08-EAD6-20028DEA7258}"/>
              </a:ext>
            </a:extLst>
          </p:cNvPr>
          <p:cNvSpPr/>
          <p:nvPr/>
        </p:nvSpPr>
        <p:spPr>
          <a:xfrm>
            <a:off x="499730" y="2087525"/>
            <a:ext cx="978195" cy="485555"/>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r>
              <a:rPr lang="en-US"/>
              <a:t>CLI</a:t>
            </a:r>
          </a:p>
        </p:txBody>
      </p:sp>
      <p:sp>
        <p:nvSpPr>
          <p:cNvPr id="8" name="Rounded Rectangle 7">
            <a:extLst>
              <a:ext uri="{FF2B5EF4-FFF2-40B4-BE49-F238E27FC236}">
                <a16:creationId xmlns:a16="http://schemas.microsoft.com/office/drawing/2014/main" id="{048AE155-0D09-D5DF-3506-08C81D40E1DA}"/>
              </a:ext>
            </a:extLst>
          </p:cNvPr>
          <p:cNvSpPr/>
          <p:nvPr/>
        </p:nvSpPr>
        <p:spPr>
          <a:xfrm>
            <a:off x="1562986" y="2087525"/>
            <a:ext cx="978195" cy="485555"/>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r>
              <a:rPr lang="en-US"/>
              <a:t>SDK</a:t>
            </a:r>
          </a:p>
        </p:txBody>
      </p:sp>
      <p:sp>
        <p:nvSpPr>
          <p:cNvPr id="9" name="Rounded Rectangle 8">
            <a:extLst>
              <a:ext uri="{FF2B5EF4-FFF2-40B4-BE49-F238E27FC236}">
                <a16:creationId xmlns:a16="http://schemas.microsoft.com/office/drawing/2014/main" id="{3C01449B-D601-BF31-BEEE-DED8758FEAE9}"/>
              </a:ext>
            </a:extLst>
          </p:cNvPr>
          <p:cNvSpPr/>
          <p:nvPr/>
        </p:nvSpPr>
        <p:spPr>
          <a:xfrm>
            <a:off x="2626242" y="2087524"/>
            <a:ext cx="978195" cy="485555"/>
          </a:xfrm>
          <a:prstGeom prst="round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r>
              <a:rPr lang="en-US"/>
              <a:t>Server</a:t>
            </a:r>
          </a:p>
        </p:txBody>
      </p:sp>
      <p:sp>
        <p:nvSpPr>
          <p:cNvPr id="10" name="TextBox 9">
            <a:extLst>
              <a:ext uri="{FF2B5EF4-FFF2-40B4-BE49-F238E27FC236}">
                <a16:creationId xmlns:a16="http://schemas.microsoft.com/office/drawing/2014/main" id="{DFEA6559-F832-146A-3594-7D1D6E8EBD9E}"/>
              </a:ext>
            </a:extLst>
          </p:cNvPr>
          <p:cNvSpPr txBox="1"/>
          <p:nvPr/>
        </p:nvSpPr>
        <p:spPr>
          <a:xfrm>
            <a:off x="382772" y="2775098"/>
            <a:ext cx="11302409" cy="3139321"/>
          </a:xfrm>
          <a:prstGeom prst="rect">
            <a:avLst/>
          </a:prstGeom>
          <a:noFill/>
        </p:spPr>
        <p:txBody>
          <a:bodyPr wrap="square" rtlCol="0">
            <a:spAutoFit/>
          </a:bodyPr>
          <a:lstStyle/>
          <a:p>
            <a:r>
              <a:rPr lang="en-US" b="1"/>
              <a:t>Idempotency</a:t>
            </a:r>
            <a:r>
              <a:rPr lang="en-US"/>
              <a:t>: An idempotent script yields the exact same result whether executed once or a thousand times</a:t>
            </a:r>
          </a:p>
          <a:p>
            <a:r>
              <a:rPr lang="en-US" b="1"/>
              <a:t>Detection (State Check):</a:t>
            </a:r>
            <a:r>
              <a:rPr lang="en-US"/>
              <a:t> Before modifying anything, the system must query the environment to assess if the required tool or its dependencies already exist.</a:t>
            </a:r>
          </a:p>
          <a:p>
            <a:r>
              <a:rPr lang="en-US" b="1"/>
              <a:t>Resolution (Version Matching):</a:t>
            </a:r>
            <a:r>
              <a:rPr lang="en-US"/>
              <a:t> The system must parse the currently installed version and compare it against required constraints. If the version matches, the setup skips directly to verification; if it is outdated, it moves to provisioning.</a:t>
            </a:r>
          </a:p>
          <a:p>
            <a:r>
              <a:rPr lang="en-US" b="1"/>
              <a:t>Provisioning (Fetching and Installing):</a:t>
            </a:r>
            <a:r>
              <a:rPr lang="en-US"/>
              <a:t> If the required tool is missing or outdated, the system acquires it by handing off the request to a system package manager, fetching a direct binary from a remote source, or unpacking and symlinking to the user's path.</a:t>
            </a:r>
          </a:p>
          <a:p>
            <a:r>
              <a:rPr lang="en-US" b="1"/>
              <a:t>Configuration (Environment Hooking):</a:t>
            </a:r>
            <a:r>
              <a:rPr lang="en-US"/>
              <a:t> Once on the disk, the software must be hooked into the user's environment by injecting paths into files like .bashrc or .zshrc, or by generating default settings files.</a:t>
            </a:r>
          </a:p>
        </p:txBody>
      </p:sp>
    </p:spTree>
    <p:extLst>
      <p:ext uri="{BB962C8B-B14F-4D97-AF65-F5344CB8AC3E}">
        <p14:creationId xmlns:p14="http://schemas.microsoft.com/office/powerpoint/2010/main" val="1225009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292752-040F-8ADC-6B9B-168E956E5F70}"/>
              </a:ext>
            </a:extLst>
          </p:cNvPr>
          <p:cNvSpPr txBox="1"/>
          <p:nvPr/>
        </p:nvSpPr>
        <p:spPr>
          <a:xfrm>
            <a:off x="217714" y="575510"/>
            <a:ext cx="6096000" cy="5909310"/>
          </a:xfrm>
          <a:prstGeom prst="rect">
            <a:avLst/>
          </a:prstGeom>
          <a:noFill/>
        </p:spPr>
        <p:txBody>
          <a:bodyPr wrap="square">
            <a:spAutoFit/>
          </a:bodyPr>
          <a:lstStyle/>
          <a:p>
            <a:r>
              <a:rPr lang="en-US" sz="1050"/>
              <a:t> AGENT HARNESS</a:t>
            </a:r>
          </a:p>
          <a:p>
            <a:endParaRPr lang="en-US" sz="1050"/>
          </a:p>
          <a:p>
            <a:r>
              <a:rPr lang="en-US" sz="1050"/>
              <a:t> ┌─────────────────────────────────────────────────────┐</a:t>
            </a:r>
          </a:p>
          <a:p>
            <a:r>
              <a:rPr lang="en-US" sz="1050"/>
              <a:t> │  EXPERIENCE PLANE                                   │</a:t>
            </a:r>
          </a:p>
          <a:p>
            <a:r>
              <a:rPr lang="en-US" sz="1050"/>
              <a:t> │  CLI · IDE · Web UI · Chat · API · Notifications   │</a:t>
            </a:r>
          </a:p>
          <a:p>
            <a:r>
              <a:rPr lang="en-US" sz="1050"/>
              <a:t> ├─────────────────────────────────────────────────────┤</a:t>
            </a:r>
          </a:p>
          <a:p>
            <a:r>
              <a:rPr lang="en-US" sz="1050"/>
              <a:t> │  INTENT / PLANNING PLANE                            │</a:t>
            </a:r>
          </a:p>
          <a:p>
            <a:r>
              <a:rPr lang="en-US" sz="1050"/>
              <a:t> │  Goal decomposition · Planning · Task DAG · Skills  │</a:t>
            </a:r>
          </a:p>
          <a:p>
            <a:r>
              <a:rPr lang="en-US" sz="1050"/>
              <a:t> ├─────────────────────────────────────────────────────┤</a:t>
            </a:r>
          </a:p>
          <a:p>
            <a:r>
              <a:rPr lang="en-US" sz="1050"/>
              <a:t> │  ORCHESTRATION PLANE                                │</a:t>
            </a:r>
          </a:p>
          <a:p>
            <a:r>
              <a:rPr lang="en-US" sz="1050"/>
              <a:t> │  Routing · Agents · Parallelism · HITL · Scheduling │</a:t>
            </a:r>
          </a:p>
          <a:p>
            <a:r>
              <a:rPr lang="en-US" sz="1050"/>
              <a:t> │  Retry · Pause · Resume · Rewind · Compensation     │</a:t>
            </a:r>
          </a:p>
          <a:p>
            <a:r>
              <a:rPr lang="en-US" sz="1050"/>
              <a:t> ├─────────────────────────────────────────────────────┤</a:t>
            </a:r>
          </a:p>
          <a:p>
            <a:r>
              <a:rPr lang="en-US" sz="1050"/>
              <a:t> │  CONTEXT PLANE                                      │</a:t>
            </a:r>
          </a:p>
          <a:p>
            <a:r>
              <a:rPr lang="en-US" sz="1050"/>
              <a:t> │  Memory · RAG · Summaries · Rules · Repository Map  │</a:t>
            </a:r>
          </a:p>
          <a:p>
            <a:r>
              <a:rPr lang="en-US" sz="1050"/>
              <a:t> │  Progressive disclosure · Context budgeting         │</a:t>
            </a:r>
          </a:p>
          <a:p>
            <a:r>
              <a:rPr lang="en-US" sz="1050"/>
              <a:t> ├─────────────────────────────────────────────────────┤</a:t>
            </a:r>
          </a:p>
          <a:p>
            <a:r>
              <a:rPr lang="en-US" sz="1050"/>
              <a:t> │  INFERENCE PLANE                                    │</a:t>
            </a:r>
          </a:p>
          <a:p>
            <a:r>
              <a:rPr lang="en-US" sz="1050"/>
              <a:t> │  Model routing · Prompt contracts · Structured I/O  │</a:t>
            </a:r>
          </a:p>
          <a:p>
            <a:r>
              <a:rPr lang="en-US" sz="1050"/>
              <a:t> │  Generation · Reasoning · Verification              │</a:t>
            </a:r>
          </a:p>
          <a:p>
            <a:r>
              <a:rPr lang="en-US" sz="1050"/>
              <a:t> ├─────────────────────────────────────────────────────┤</a:t>
            </a:r>
          </a:p>
          <a:p>
            <a:r>
              <a:rPr lang="en-US" sz="1050"/>
              <a:t> │  CAPABILITY PLANE                                   │</a:t>
            </a:r>
          </a:p>
          <a:p>
            <a:r>
              <a:rPr lang="en-US" sz="1050"/>
              <a:t> │  Skills · Tools · MCP · LSP · Shell · Git · Browser │</a:t>
            </a:r>
          </a:p>
          <a:p>
            <a:r>
              <a:rPr lang="en-US" sz="1050"/>
              <a:t> │  APIs · Filesystem · Databases                      │</a:t>
            </a:r>
          </a:p>
          <a:p>
            <a:r>
              <a:rPr lang="en-US" sz="1050"/>
              <a:t> ├─────────────────────────────────────────────────────┤</a:t>
            </a:r>
          </a:p>
          <a:p>
            <a:r>
              <a:rPr lang="en-US" sz="1050"/>
              <a:t> │  POLICY / SECURITY PLANE                            │</a:t>
            </a:r>
          </a:p>
          <a:p>
            <a:r>
              <a:rPr lang="en-US" sz="1050"/>
              <a:t> │  RBAC · Permissions · Secrets · Sandbox · Egress    │</a:t>
            </a:r>
          </a:p>
          <a:p>
            <a:r>
              <a:rPr lang="en-US" sz="1050"/>
              <a:t> │  Approval gates · Policy engine · Resource limits   │</a:t>
            </a:r>
          </a:p>
          <a:p>
            <a:r>
              <a:rPr lang="en-US" sz="1050"/>
              <a:t> ├─────────────────────────────────────────────────────┤</a:t>
            </a:r>
          </a:p>
          <a:p>
            <a:r>
              <a:rPr lang="en-US" sz="1050"/>
              <a:t> │  STATE / DURABILITY PLANE                           │</a:t>
            </a:r>
          </a:p>
          <a:p>
            <a:r>
              <a:rPr lang="en-US" sz="1050"/>
              <a:t> │  Events · Checkpoints · Sessions · Artifacts        │</a:t>
            </a:r>
          </a:p>
          <a:p>
            <a:r>
              <a:rPr lang="en-US" sz="1050"/>
              <a:t> │  Branches · Transactions · Replay                   │</a:t>
            </a:r>
          </a:p>
          <a:p>
            <a:r>
              <a:rPr lang="en-US" sz="1050"/>
              <a:t> ├─────────────────────────────────────────────────────┤</a:t>
            </a:r>
          </a:p>
          <a:p>
            <a:r>
              <a:rPr lang="en-US" sz="1050"/>
              <a:t> │  TELEMETRY / GOVERNANCE PLANE                       │</a:t>
            </a:r>
          </a:p>
          <a:p>
            <a:r>
              <a:rPr lang="en-US" sz="1050"/>
              <a:t> │  Traces · Logs · Cost · Audit · Provenance · Evals  │</a:t>
            </a:r>
          </a:p>
          <a:p>
            <a:r>
              <a:rPr lang="en-US" sz="1050"/>
              <a:t> └─────────────────────────────────────────────────────┘</a:t>
            </a:r>
          </a:p>
        </p:txBody>
      </p:sp>
    </p:spTree>
    <p:extLst>
      <p:ext uri="{BB962C8B-B14F-4D97-AF65-F5344CB8AC3E}">
        <p14:creationId xmlns:p14="http://schemas.microsoft.com/office/powerpoint/2010/main" val="3211808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7D0DD0-B2D2-16EA-CDD6-1F0A7579F219}"/>
              </a:ext>
            </a:extLst>
          </p:cNvPr>
          <p:cNvSpPr txBox="1"/>
          <p:nvPr/>
        </p:nvSpPr>
        <p:spPr>
          <a:xfrm>
            <a:off x="339634" y="286434"/>
            <a:ext cx="6096000" cy="646331"/>
          </a:xfrm>
          <a:prstGeom prst="rect">
            <a:avLst/>
          </a:prstGeom>
          <a:noFill/>
        </p:spPr>
        <p:txBody>
          <a:bodyPr wrap="square">
            <a:spAutoFit/>
          </a:bodyPr>
          <a:lstStyle/>
          <a:p>
            <a:r>
              <a:rPr lang="en-US"/>
              <a:t>The harness shouldn't make the LLM responsible for capabilities that software can enforce deterministically.</a:t>
            </a:r>
          </a:p>
        </p:txBody>
      </p:sp>
      <p:sp>
        <p:nvSpPr>
          <p:cNvPr id="7" name="TextBox 6">
            <a:extLst>
              <a:ext uri="{FF2B5EF4-FFF2-40B4-BE49-F238E27FC236}">
                <a16:creationId xmlns:a16="http://schemas.microsoft.com/office/drawing/2014/main" id="{4015527A-858E-9095-36F4-0DB4BE070AAC}"/>
              </a:ext>
            </a:extLst>
          </p:cNvPr>
          <p:cNvSpPr txBox="1"/>
          <p:nvPr/>
        </p:nvSpPr>
        <p:spPr>
          <a:xfrm>
            <a:off x="339634" y="1290608"/>
            <a:ext cx="6096000" cy="3139321"/>
          </a:xfrm>
          <a:prstGeom prst="rect">
            <a:avLst/>
          </a:prstGeom>
          <a:noFill/>
        </p:spPr>
        <p:txBody>
          <a:bodyPr wrap="square">
            <a:spAutoFit/>
          </a:bodyPr>
          <a:lstStyle/>
          <a:p>
            <a:r>
              <a:rPr lang="en-US"/>
              <a:t>LLM responsibility</a:t>
            </a:r>
          </a:p>
          <a:p>
            <a:r>
              <a:rPr lang="en-US"/>
              <a:t>────────────────────</a:t>
            </a:r>
          </a:p>
          <a:p>
            <a:r>
              <a:rPr lang="en-US"/>
              <a:t>Understand intent</a:t>
            </a:r>
          </a:p>
          <a:p>
            <a:r>
              <a:rPr lang="en-US"/>
              <a:t>Reason</a:t>
            </a:r>
          </a:p>
          <a:p>
            <a:r>
              <a:rPr lang="en-US"/>
              <a:t>Plan</a:t>
            </a:r>
          </a:p>
          <a:p>
            <a:r>
              <a:rPr lang="en-US"/>
              <a:t>Choose capabilities</a:t>
            </a:r>
          </a:p>
          <a:p>
            <a:r>
              <a:rPr lang="en-US"/>
              <a:t>Diagnose failures</a:t>
            </a:r>
          </a:p>
          <a:p>
            <a:r>
              <a:rPr lang="en-US"/>
              <a:t>Generate alternatives</a:t>
            </a:r>
          </a:p>
          <a:p>
            <a:r>
              <a:rPr lang="en-US"/>
              <a:t>Make fuzzy judgments</a:t>
            </a:r>
          </a:p>
          <a:p>
            <a:endParaRPr lang="en-US"/>
          </a:p>
          <a:p>
            <a:endParaRPr lang="en-US"/>
          </a:p>
        </p:txBody>
      </p:sp>
      <p:sp>
        <p:nvSpPr>
          <p:cNvPr id="9" name="TextBox 8">
            <a:extLst>
              <a:ext uri="{FF2B5EF4-FFF2-40B4-BE49-F238E27FC236}">
                <a16:creationId xmlns:a16="http://schemas.microsoft.com/office/drawing/2014/main" id="{3B4F1A76-F50B-C189-DEA2-6FE85D3EAD4B}"/>
              </a:ext>
            </a:extLst>
          </p:cNvPr>
          <p:cNvSpPr txBox="1"/>
          <p:nvPr/>
        </p:nvSpPr>
        <p:spPr>
          <a:xfrm>
            <a:off x="6897189" y="1166842"/>
            <a:ext cx="4859382" cy="4524315"/>
          </a:xfrm>
          <a:prstGeom prst="rect">
            <a:avLst/>
          </a:prstGeom>
          <a:noFill/>
        </p:spPr>
        <p:txBody>
          <a:bodyPr wrap="square">
            <a:spAutoFit/>
          </a:bodyPr>
          <a:lstStyle/>
          <a:p>
            <a:r>
              <a:rPr lang="en-US" sz="1800"/>
              <a:t>Harness responsibility</a:t>
            </a:r>
          </a:p>
          <a:p>
            <a:r>
              <a:rPr lang="en-US" sz="1800"/>
              <a:t>────────────────────────</a:t>
            </a:r>
          </a:p>
          <a:p>
            <a:r>
              <a:rPr lang="en-US" sz="1800"/>
              <a:t>Permissions</a:t>
            </a:r>
          </a:p>
          <a:p>
            <a:r>
              <a:rPr lang="en-US" sz="1800"/>
              <a:t>State</a:t>
            </a:r>
          </a:p>
          <a:p>
            <a:r>
              <a:rPr lang="en-US" sz="1800"/>
              <a:t>Schemas</a:t>
            </a:r>
          </a:p>
          <a:p>
            <a:r>
              <a:rPr lang="en-US" sz="1800"/>
              <a:t>Retries</a:t>
            </a:r>
          </a:p>
          <a:p>
            <a:r>
              <a:rPr lang="en-US" sz="1800"/>
              <a:t>Timeouts</a:t>
            </a:r>
          </a:p>
          <a:p>
            <a:r>
              <a:rPr lang="en-US" sz="1800"/>
              <a:t>Budgets</a:t>
            </a:r>
          </a:p>
          <a:p>
            <a:r>
              <a:rPr lang="en-US" sz="1800"/>
              <a:t>Transactions</a:t>
            </a:r>
          </a:p>
          <a:p>
            <a:r>
              <a:rPr lang="en-US" sz="1800"/>
              <a:t>Isolation</a:t>
            </a:r>
          </a:p>
          <a:p>
            <a:r>
              <a:rPr lang="en-US" sz="1800"/>
              <a:t>Secrets</a:t>
            </a:r>
          </a:p>
          <a:p>
            <a:r>
              <a:rPr lang="en-US" sz="1800"/>
              <a:t>Logging</a:t>
            </a:r>
          </a:p>
          <a:p>
            <a:r>
              <a:rPr lang="en-US" sz="1800"/>
              <a:t>Audit</a:t>
            </a:r>
          </a:p>
          <a:p>
            <a:r>
              <a:rPr lang="en-US" sz="1800"/>
              <a:t>Validation</a:t>
            </a:r>
          </a:p>
          <a:p>
            <a:r>
              <a:rPr lang="en-US" sz="1800"/>
              <a:t>Execution</a:t>
            </a:r>
          </a:p>
          <a:p>
            <a:r>
              <a:rPr lang="en-US" sz="1800"/>
              <a:t>Recovery</a:t>
            </a:r>
            <a:endParaRPr lang="en-US"/>
          </a:p>
        </p:txBody>
      </p:sp>
    </p:spTree>
    <p:extLst>
      <p:ext uri="{BB962C8B-B14F-4D97-AF65-F5344CB8AC3E}">
        <p14:creationId xmlns:p14="http://schemas.microsoft.com/office/powerpoint/2010/main" val="3193856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B47E-A693-0645-FBE7-5E9105A85D8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811A92-675F-B05F-E9A8-8D5B08B2575A}"/>
              </a:ext>
            </a:extLst>
          </p:cNvPr>
          <p:cNvSpPr txBox="1"/>
          <p:nvPr/>
        </p:nvSpPr>
        <p:spPr>
          <a:xfrm>
            <a:off x="339634" y="286434"/>
            <a:ext cx="6096000" cy="646331"/>
          </a:xfrm>
          <a:prstGeom prst="rect">
            <a:avLst/>
          </a:prstGeom>
          <a:noFill/>
        </p:spPr>
        <p:txBody>
          <a:bodyPr wrap="square">
            <a:spAutoFit/>
          </a:bodyPr>
          <a:lstStyle/>
          <a:p>
            <a:r>
              <a:rPr lang="en-US"/>
              <a:t>The harness shouldn't make the LLM responsible for capabilities that software can enforce deterministically.</a:t>
            </a:r>
          </a:p>
        </p:txBody>
      </p:sp>
      <p:sp>
        <p:nvSpPr>
          <p:cNvPr id="7" name="TextBox 6">
            <a:extLst>
              <a:ext uri="{FF2B5EF4-FFF2-40B4-BE49-F238E27FC236}">
                <a16:creationId xmlns:a16="http://schemas.microsoft.com/office/drawing/2014/main" id="{81108E76-398C-AD1F-ACA1-8BA04325F106}"/>
              </a:ext>
            </a:extLst>
          </p:cNvPr>
          <p:cNvSpPr txBox="1"/>
          <p:nvPr/>
        </p:nvSpPr>
        <p:spPr>
          <a:xfrm>
            <a:off x="7916090" y="515545"/>
            <a:ext cx="3370218" cy="6232475"/>
          </a:xfrm>
          <a:prstGeom prst="rect">
            <a:avLst/>
          </a:prstGeom>
          <a:noFill/>
        </p:spPr>
        <p:txBody>
          <a:bodyPr wrap="square">
            <a:spAutoFit/>
          </a:bodyPr>
          <a:lstStyle/>
          <a:p>
            <a:r>
              <a:rPr lang="en-US" sz="1050"/>
              <a:t>USER INTENT</a:t>
            </a:r>
          </a:p>
          <a:p>
            <a:r>
              <a:rPr lang="en-US" sz="1050"/>
              <a:t>                         │</a:t>
            </a:r>
          </a:p>
          <a:p>
            <a:r>
              <a:rPr lang="en-US" sz="1050"/>
              <a:t>                         ▼</a:t>
            </a:r>
          </a:p>
          <a:p>
            <a:r>
              <a:rPr lang="en-US" sz="1050"/>
              <a:t>                 Intent / Planner</a:t>
            </a:r>
          </a:p>
          <a:p>
            <a:r>
              <a:rPr lang="en-US" sz="1050"/>
              <a:t>                         │</a:t>
            </a:r>
          </a:p>
          <a:p>
            <a:r>
              <a:rPr lang="en-US" sz="1050"/>
              <a:t>                  Execution Graph</a:t>
            </a:r>
          </a:p>
          <a:p>
            <a:r>
              <a:rPr lang="en-US" sz="1050"/>
              <a:t>                         │</a:t>
            </a:r>
          </a:p>
          <a:p>
            <a:r>
              <a:rPr lang="en-US" sz="1050"/>
              <a:t>             ┌───────────┼───────────┐</a:t>
            </a:r>
          </a:p>
          <a:p>
            <a:r>
              <a:rPr lang="en-US" sz="1050"/>
              <a:t>             ▼           ▼           ▼</a:t>
            </a:r>
          </a:p>
          <a:p>
            <a:r>
              <a:rPr lang="en-US" sz="1050"/>
              <a:t>          Agent       Script       Workflow</a:t>
            </a:r>
          </a:p>
          <a:p>
            <a:r>
              <a:rPr lang="en-US" sz="1050"/>
              <a:t>             │           │           │</a:t>
            </a:r>
          </a:p>
          <a:p>
            <a:r>
              <a:rPr lang="en-US" sz="1050"/>
              <a:t>             └───────────┼───────────┘</a:t>
            </a:r>
          </a:p>
          <a:p>
            <a:r>
              <a:rPr lang="en-US" sz="1050"/>
              <a:t>                         ▼</a:t>
            </a:r>
          </a:p>
          <a:p>
            <a:r>
              <a:rPr lang="en-US" sz="1050"/>
              <a:t>                Capability Router</a:t>
            </a:r>
          </a:p>
          <a:p>
            <a:r>
              <a:rPr lang="en-US" sz="1050"/>
              <a:t>                         │</a:t>
            </a:r>
          </a:p>
          <a:p>
            <a:r>
              <a:rPr lang="en-US" sz="1050"/>
              <a:t>                Policy Evaluation</a:t>
            </a:r>
          </a:p>
          <a:p>
            <a:r>
              <a:rPr lang="en-US" sz="1050"/>
              <a:t>                         │</a:t>
            </a:r>
          </a:p>
          <a:p>
            <a:r>
              <a:rPr lang="en-US" sz="1050"/>
              <a:t>              Permission / HITL Gate</a:t>
            </a:r>
          </a:p>
          <a:p>
            <a:r>
              <a:rPr lang="en-US" sz="1050"/>
              <a:t>                         │</a:t>
            </a:r>
          </a:p>
          <a:p>
            <a:r>
              <a:rPr lang="en-US" sz="1050"/>
              <a:t>                  Tool Contract</a:t>
            </a:r>
          </a:p>
          <a:p>
            <a:r>
              <a:rPr lang="en-US" sz="1050"/>
              <a:t>                         │</a:t>
            </a:r>
          </a:p>
          <a:p>
            <a:r>
              <a:rPr lang="en-US" sz="1050"/>
              <a:t>              Sandbox / Environment</a:t>
            </a:r>
          </a:p>
          <a:p>
            <a:r>
              <a:rPr lang="en-US" sz="1050"/>
              <a:t>                         │</a:t>
            </a:r>
          </a:p>
          <a:p>
            <a:r>
              <a:rPr lang="en-US" sz="1050"/>
              <a:t>                     Execute</a:t>
            </a:r>
          </a:p>
          <a:p>
            <a:r>
              <a:rPr lang="en-US" sz="1050"/>
              <a:t>                         │</a:t>
            </a:r>
          </a:p>
          <a:p>
            <a:r>
              <a:rPr lang="en-US" sz="1050"/>
              <a:t>                     Validate</a:t>
            </a:r>
          </a:p>
          <a:p>
            <a:r>
              <a:rPr lang="en-US" sz="1050"/>
              <a:t>                         │</a:t>
            </a:r>
          </a:p>
          <a:p>
            <a:r>
              <a:rPr lang="en-US" sz="1050"/>
              <a:t>                 ┌───────┴───────┐</a:t>
            </a:r>
          </a:p>
          <a:p>
            <a:r>
              <a:rPr lang="en-US" sz="1050"/>
              <a:t>                 │               │</a:t>
            </a:r>
          </a:p>
          <a:p>
            <a:r>
              <a:rPr lang="en-US" sz="1050"/>
              <a:t>              Success          Failure</a:t>
            </a:r>
          </a:p>
          <a:p>
            <a:r>
              <a:rPr lang="en-US" sz="1050"/>
              <a:t>                 │               │</a:t>
            </a:r>
          </a:p>
          <a:p>
            <a:r>
              <a:rPr lang="en-US" sz="1050"/>
              <a:t>             Checkpoint     Diagnose/Retry</a:t>
            </a:r>
          </a:p>
          <a:p>
            <a:r>
              <a:rPr lang="en-US" sz="1050"/>
              <a:t>                 │               │</a:t>
            </a:r>
          </a:p>
          <a:p>
            <a:r>
              <a:rPr lang="en-US" sz="1050"/>
              <a:t>                 └───────┬───────┘</a:t>
            </a:r>
          </a:p>
          <a:p>
            <a:r>
              <a:rPr lang="en-US" sz="1050"/>
              <a:t>                         ▼</a:t>
            </a:r>
          </a:p>
          <a:p>
            <a:r>
              <a:rPr lang="en-US" sz="1050"/>
              <a:t>                 Event / Trace Store</a:t>
            </a:r>
          </a:p>
          <a:p>
            <a:r>
              <a:rPr lang="en-US" sz="1050"/>
              <a:t>                         │</a:t>
            </a:r>
          </a:p>
          <a:p>
            <a:r>
              <a:rPr lang="en-US" sz="1050"/>
              <a:t>              Memory / State / Artifacts</a:t>
            </a:r>
          </a:p>
        </p:txBody>
      </p:sp>
      <p:sp>
        <p:nvSpPr>
          <p:cNvPr id="2" name="TextBox 1">
            <a:extLst>
              <a:ext uri="{FF2B5EF4-FFF2-40B4-BE49-F238E27FC236}">
                <a16:creationId xmlns:a16="http://schemas.microsoft.com/office/drawing/2014/main" id="{32AB9214-AABB-5B34-ABCE-275DB1DF55B8}"/>
              </a:ext>
            </a:extLst>
          </p:cNvPr>
          <p:cNvSpPr txBox="1"/>
          <p:nvPr/>
        </p:nvSpPr>
        <p:spPr>
          <a:xfrm>
            <a:off x="496389" y="140208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68168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B0D2B7-A7FF-0EB4-FE77-9BD15F285657}"/>
              </a:ext>
            </a:extLst>
          </p:cNvPr>
          <p:cNvSpPr txBox="1"/>
          <p:nvPr/>
        </p:nvSpPr>
        <p:spPr>
          <a:xfrm>
            <a:off x="1933303" y="1933303"/>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A4F29FEE-1A66-F99B-B7FA-2B3346C64724}"/>
              </a:ext>
            </a:extLst>
          </p:cNvPr>
          <p:cNvSpPr txBox="1"/>
          <p:nvPr/>
        </p:nvSpPr>
        <p:spPr>
          <a:xfrm>
            <a:off x="391885" y="732974"/>
            <a:ext cx="11399521" cy="2585323"/>
          </a:xfrm>
          <a:prstGeom prst="rect">
            <a:avLst/>
          </a:prstGeom>
          <a:noFill/>
        </p:spPr>
        <p:txBody>
          <a:bodyPr wrap="square" rtlCol="0">
            <a:spAutoFit/>
          </a:bodyPr>
          <a:lstStyle/>
          <a:p>
            <a:r>
              <a:rPr lang="en-US"/>
              <a:t>This also explains why </a:t>
            </a:r>
            <a:r>
              <a:rPr lang="en-US" b="1"/>
              <a:t>MCP, LSP, Docker, state.json, rules files, and ReAct aren't themselves the harness</a:t>
            </a:r>
            <a:r>
              <a:rPr lang="en-US"/>
              <a:t>. They're mechanisms plugged into different planes.</a:t>
            </a:r>
          </a:p>
          <a:p>
            <a:endParaRPr lang="en-US"/>
          </a:p>
          <a:p>
            <a:r>
              <a:rPr lang="en-US"/>
              <a:t>The harness is the layer that determines </a:t>
            </a:r>
            <a:r>
              <a:rPr lang="en-US" b="1"/>
              <a:t>what gets exposed, when it gets exposed, who can invoke it, under what policy, with what state, how execution is verified, and how the system recovers when something fails.</a:t>
            </a:r>
            <a:endParaRPr lang="en-US"/>
          </a:p>
          <a:p>
            <a:endParaRPr lang="en-US"/>
          </a:p>
          <a:p>
            <a:r>
              <a:rPr lang="en-US"/>
              <a:t>That is the difference between an </a:t>
            </a:r>
            <a:r>
              <a:rPr lang="en-US" b="1"/>
              <a:t>agent that can use tools</a:t>
            </a:r>
            <a:r>
              <a:rPr lang="en-US"/>
              <a:t> and an </a:t>
            </a:r>
            <a:r>
              <a:rPr lang="en-US" b="1"/>
              <a:t>agent runtime capable of safely operating software autonomously</a:t>
            </a:r>
            <a:r>
              <a:rPr lang="en-US"/>
              <a:t>.</a:t>
            </a:r>
          </a:p>
          <a:p>
            <a:endParaRPr lang="en-US"/>
          </a:p>
        </p:txBody>
      </p:sp>
    </p:spTree>
    <p:extLst>
      <p:ext uri="{BB962C8B-B14F-4D97-AF65-F5344CB8AC3E}">
        <p14:creationId xmlns:p14="http://schemas.microsoft.com/office/powerpoint/2010/main" val="1145846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2154</Words>
  <Application>Microsoft Macintosh PowerPoint</Application>
  <PresentationFormat>Widescreen</PresentationFormat>
  <Paragraphs>177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Roberto Marte</dc:creator>
  <cp:lastModifiedBy>Roberto Marte</cp:lastModifiedBy>
  <cp:revision>1</cp:revision>
  <dcterms:created xsi:type="dcterms:W3CDTF">2026-09-09T21:27:53Z</dcterms:created>
  <dcterms:modified xsi:type="dcterms:W3CDTF">2026-09-09T23:51:51Z</dcterms:modified>
</cp:coreProperties>
</file>