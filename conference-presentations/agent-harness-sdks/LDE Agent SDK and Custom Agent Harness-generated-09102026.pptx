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png"/><Relationship Id="rId8"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8.png"/><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0.png"/><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2.png"/><Relationship Id="rId4" Type="http://schemas.openxmlformats.org/officeDocument/2006/relationships/image" Target="../media/image13.png"/><Relationship Id="rId5" Type="http://schemas.openxmlformats.org/officeDocument/2006/relationships/image" Target="../media/image14.png"/><Relationship Id="rId6" Type="http://schemas.openxmlformats.org/officeDocument/2006/relationships/image" Target="../media/image15.png"/><Relationship Id="rId7" Type="http://schemas.openxmlformats.org/officeDocument/2006/relationships/image" Target="../media/image16.png"/><Relationship Id="rId8" Type="http://schemas.openxmlformats.org/officeDocument/2006/relationships/image" Target="../media/image1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1.png"/><Relationship Id="rId4" Type="http://schemas.openxmlformats.org/officeDocument/2006/relationships/image" Target="../media/image22.png"/><Relationship Id="rId5" Type="http://schemas.openxmlformats.org/officeDocument/2006/relationships/image" Target="../media/image23.png"/><Relationship Id="rId6" Type="http://schemas.openxmlformats.org/officeDocument/2006/relationships/image" Target="../media/image24.png"/><Relationship Id="rId7" Type="http://schemas.openxmlformats.org/officeDocument/2006/relationships/image" Target="../media/image25.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2095500" y="2479476"/>
            <a:ext cx="8001000" cy="847725"/>
          </a:xfrm>
          <a:prstGeom prst="rect">
            <a:avLst/>
          </a:prstGeom>
          <a:noFill/>
        </p:spPr>
        <p:txBody>
          <a:bodyPr wrap="square" lIns="0" rIns="0" tIns="0" bIns="0" anchor="t">
            <a:spAutoFit/>
          </a:bodyPr>
          <a:lstStyle/>
          <a:p>
            <a:pPr algn="ctr"/>
            <a:r>
              <a:rPr b="1" sz="5250" i="0" u="none">
                <a:solidFill>
                  <a:srgbClr val="F8FAFC"/>
                </a:solidFill>
                <a:latin typeface="Space Grotesk"/>
              </a:rPr>
              <a:t>Engineering AI </a:t>
            </a:r>
            <a:r>
              <a:rPr b="1" sz="5250" i="0" u="none">
                <a:solidFill>
                  <a:srgbClr val="38BDF8"/>
                </a:solidFill>
                <a:latin typeface="Space Grotesk"/>
              </a:rPr>
              <a:t>Agency</a:t>
            </a:r>
          </a:p>
        </p:txBody>
      </p:sp>
      <p:sp>
        <p:nvSpPr>
          <p:cNvPr id="4" name="TextBox 3"/>
          <p:cNvSpPr txBox="1"/>
          <p:nvPr/>
        </p:nvSpPr>
        <p:spPr>
          <a:xfrm>
            <a:off x="2286000" y="3517701"/>
            <a:ext cx="7620000" cy="670321"/>
          </a:xfrm>
          <a:prstGeom prst="rect">
            <a:avLst/>
          </a:prstGeom>
          <a:noFill/>
        </p:spPr>
        <p:txBody>
          <a:bodyPr wrap="square" lIns="0" rIns="0" tIns="0" bIns="0" anchor="t">
            <a:spAutoFit/>
          </a:bodyPr>
          <a:lstStyle/>
          <a:p>
            <a:pPr algn="ctr">
              <a:lnSpc>
                <a:spcPts val="2640"/>
              </a:lnSpc>
            </a:pPr>
            <a:r>
              <a:rPr b="0" sz="1650" i="0" u="none">
                <a:solidFill>
                  <a:srgbClr val="94A3B8"/>
                </a:solidFill>
                <a:latin typeface="Inter"/>
              </a:rPr>
              <a:t>Orchestrating Out-of-Distribution Capabilities through Custom Agent Harnesses for Production Systems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sp>
        <p:nvSpPr>
          <p:cNvPr id="3" name="Rectangle 2"/>
          <p:cNvSpPr/>
          <p:nvPr/>
        </p:nvSpPr>
        <p:spPr>
          <a:xfrm>
            <a:off x="5715000" y="2582316"/>
            <a:ext cx="762000" cy="38100"/>
          </a:xfrm>
          <a:prstGeom prst="rect">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80585" y="2906166"/>
            <a:ext cx="6630828" cy="733425"/>
          </a:xfrm>
          <a:prstGeom prst="rect">
            <a:avLst/>
          </a:prstGeom>
          <a:noFill/>
        </p:spPr>
        <p:txBody>
          <a:bodyPr wrap="square" lIns="0" rIns="0" tIns="0" bIns="0" anchor="t">
            <a:spAutoFit/>
          </a:bodyPr>
          <a:lstStyle/>
          <a:p>
            <a:pPr algn="ctr"/>
            <a:r>
              <a:rPr b="1" sz="4500" i="0" u="none">
                <a:solidFill>
                  <a:srgbClr val="F8FAFC"/>
                </a:solidFill>
                <a:latin typeface="Space Grotesk"/>
              </a:rPr>
              <a:t>The Production Reality</a:t>
            </a:r>
          </a:p>
        </p:txBody>
      </p:sp>
      <p:sp>
        <p:nvSpPr>
          <p:cNvPr id="5" name="TextBox 4"/>
          <p:cNvSpPr txBox="1"/>
          <p:nvPr/>
        </p:nvSpPr>
        <p:spPr>
          <a:xfrm>
            <a:off x="2286000" y="3830091"/>
            <a:ext cx="7620000" cy="731341"/>
          </a:xfrm>
          <a:prstGeom prst="rect">
            <a:avLst/>
          </a:prstGeom>
          <a:noFill/>
        </p:spPr>
        <p:txBody>
          <a:bodyPr wrap="square" lIns="0" rIns="0" tIns="0" bIns="0" anchor="t">
            <a:spAutoFit/>
          </a:bodyPr>
          <a:lstStyle/>
          <a:p>
            <a:pPr algn="ctr">
              <a:lnSpc>
                <a:spcPts val="2879"/>
              </a:lnSpc>
            </a:pPr>
            <a:r>
              <a:rPr b="0" sz="1800" i="0" u="none">
                <a:solidFill>
                  <a:srgbClr val="CBD5E1"/>
                </a:solidFill>
                <a:latin typeface="Inter"/>
              </a:rPr>
              <a:t>Why off-the-shelf agents and pure LLM wrappers fail when moved from prototype to enterprise production environments.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571500" y="1939379"/>
            <a:ext cx="3429000" cy="3893641"/>
          </a:xfrm>
          <a:prstGeom prst="rect">
            <a:avLst/>
          </a:prstGeom>
        </p:spPr>
      </p:pic>
      <p:pic>
        <p:nvPicPr>
          <p:cNvPr id="4" name="Picture 3" descr="image.png"/>
          <p:cNvPicPr>
            <a:picLocks noChangeAspect="1"/>
          </p:cNvPicPr>
          <p:nvPr/>
        </p:nvPicPr>
        <p:blipFill>
          <a:blip r:embed="rId4"/>
          <a:stretch>
            <a:fillRect/>
          </a:stretch>
        </p:blipFill>
        <p:spPr>
          <a:xfrm>
            <a:off x="4381500" y="1939379"/>
            <a:ext cx="3429000" cy="3893641"/>
          </a:xfrm>
          <a:prstGeom prst="rect">
            <a:avLst/>
          </a:prstGeom>
        </p:spPr>
      </p:pic>
      <p:pic>
        <p:nvPicPr>
          <p:cNvPr id="5" name="Picture 4" descr="image.png"/>
          <p:cNvPicPr>
            <a:picLocks noChangeAspect="1"/>
          </p:cNvPicPr>
          <p:nvPr/>
        </p:nvPicPr>
        <p:blipFill>
          <a:blip r:embed="rId5"/>
          <a:stretch>
            <a:fillRect/>
          </a:stretch>
        </p:blipFill>
        <p:spPr>
          <a:xfrm>
            <a:off x="8191500" y="1939379"/>
            <a:ext cx="3429000" cy="3893641"/>
          </a:xfrm>
          <a:prstGeom prst="rect">
            <a:avLst/>
          </a:prstGeom>
        </p:spPr>
      </p:pic>
      <p:sp>
        <p:nvSpPr>
          <p:cNvPr id="6" name="TextBox 5"/>
          <p:cNvSpPr txBox="1"/>
          <p:nvPr/>
        </p:nvSpPr>
        <p:spPr>
          <a:xfrm>
            <a:off x="1215866" y="3130004"/>
            <a:ext cx="2140267" cy="381000"/>
          </a:xfrm>
          <a:prstGeom prst="rect">
            <a:avLst/>
          </a:prstGeom>
          <a:noFill/>
        </p:spPr>
        <p:txBody>
          <a:bodyPr wrap="square" lIns="0" rIns="0" tIns="0" bIns="0" anchor="t">
            <a:spAutoFit/>
          </a:bodyPr>
          <a:lstStyle/>
          <a:p>
            <a:pPr algn="ctr"/>
            <a:r>
              <a:rPr b="0" sz="2400" i="0" u="none">
                <a:solidFill>
                  <a:srgbClr val="F8FAFC"/>
                </a:solidFill>
                <a:latin typeface="Space Grotesk SemiBold"/>
              </a:rPr>
              <a:t>Token Maxing</a:t>
            </a:r>
          </a:p>
        </p:txBody>
      </p:sp>
      <p:sp>
        <p:nvSpPr>
          <p:cNvPr id="7" name="TextBox 6"/>
          <p:cNvSpPr txBox="1"/>
          <p:nvPr/>
        </p:nvSpPr>
        <p:spPr>
          <a:xfrm>
            <a:off x="866775" y="3653879"/>
            <a:ext cx="2838450" cy="1645741"/>
          </a:xfrm>
          <a:prstGeom prst="rect">
            <a:avLst/>
          </a:prstGeom>
          <a:noFill/>
        </p:spPr>
        <p:txBody>
          <a:bodyPr wrap="square" lIns="0" rIns="0" tIns="0" bIns="0" anchor="t">
            <a:spAutoFit/>
          </a:bodyPr>
          <a:lstStyle/>
          <a:p>
            <a:pPr algn="ctr">
              <a:lnSpc>
                <a:spcPts val="2160"/>
              </a:lnSpc>
            </a:pPr>
            <a:r>
              <a:rPr b="0" sz="1350" i="0" u="none">
                <a:solidFill>
                  <a:srgbClr val="CBD5E1"/>
                </a:solidFill>
                <a:latin typeface="Inter"/>
              </a:rPr>
              <a:t>Relying heavily on short-term conversational state by simply appending messages leads directly to context window exhaustion and massive latency spikes.</a:t>
            </a:r>
          </a:p>
        </p:txBody>
      </p:sp>
      <p:sp>
        <p:nvSpPr>
          <p:cNvPr id="8" name="TextBox 7"/>
          <p:cNvSpPr txBox="1"/>
          <p:nvPr/>
        </p:nvSpPr>
        <p:spPr>
          <a:xfrm>
            <a:off x="4820840" y="3130004"/>
            <a:ext cx="2550318" cy="381000"/>
          </a:xfrm>
          <a:prstGeom prst="rect">
            <a:avLst/>
          </a:prstGeom>
          <a:noFill/>
        </p:spPr>
        <p:txBody>
          <a:bodyPr wrap="square" lIns="0" rIns="0" tIns="0" bIns="0" anchor="t">
            <a:spAutoFit/>
          </a:bodyPr>
          <a:lstStyle/>
          <a:p>
            <a:pPr algn="ctr"/>
            <a:r>
              <a:rPr b="0" sz="2400" i="0" u="none">
                <a:solidFill>
                  <a:srgbClr val="F8FAFC"/>
                </a:solidFill>
                <a:latin typeface="Space Grotesk SemiBold"/>
              </a:rPr>
              <a:t>Memory Failures</a:t>
            </a:r>
          </a:p>
        </p:txBody>
      </p:sp>
      <p:sp>
        <p:nvSpPr>
          <p:cNvPr id="9" name="TextBox 8"/>
          <p:cNvSpPr txBox="1"/>
          <p:nvPr/>
        </p:nvSpPr>
        <p:spPr>
          <a:xfrm>
            <a:off x="4676775" y="3653879"/>
            <a:ext cx="2838450" cy="1371451"/>
          </a:xfrm>
          <a:prstGeom prst="rect">
            <a:avLst/>
          </a:prstGeom>
          <a:noFill/>
        </p:spPr>
        <p:txBody>
          <a:bodyPr wrap="square" lIns="0" rIns="0" tIns="0" bIns="0" anchor="t">
            <a:spAutoFit/>
          </a:bodyPr>
          <a:lstStyle/>
          <a:p>
            <a:pPr algn="ctr">
              <a:lnSpc>
                <a:spcPts val="2160"/>
              </a:lnSpc>
            </a:pPr>
            <a:r>
              <a:rPr b="0" sz="1350" i="0" u="none">
                <a:solidFill>
                  <a:srgbClr val="CBD5E1"/>
                </a:solidFill>
                <a:latin typeface="Inter"/>
              </a:rPr>
              <a:t>Failing to integrate structured state objects causes agents to suffer from the "lost in the middle" recall problem during long-running horizon tasks.</a:t>
            </a:r>
          </a:p>
        </p:txBody>
      </p:sp>
      <p:sp>
        <p:nvSpPr>
          <p:cNvPr id="10" name="TextBox 9"/>
          <p:cNvSpPr txBox="1"/>
          <p:nvPr/>
        </p:nvSpPr>
        <p:spPr>
          <a:xfrm>
            <a:off x="8945880" y="3130004"/>
            <a:ext cx="1920240" cy="381000"/>
          </a:xfrm>
          <a:prstGeom prst="rect">
            <a:avLst/>
          </a:prstGeom>
          <a:noFill/>
        </p:spPr>
        <p:txBody>
          <a:bodyPr wrap="square" lIns="0" rIns="0" tIns="0" bIns="0" anchor="t">
            <a:spAutoFit/>
          </a:bodyPr>
          <a:lstStyle/>
          <a:p>
            <a:pPr algn="ctr"/>
            <a:r>
              <a:rPr b="0" sz="2400" i="0" u="none">
                <a:solidFill>
                  <a:srgbClr val="F8FAFC"/>
                </a:solidFill>
                <a:latin typeface="Space Grotesk SemiBold"/>
              </a:rPr>
              <a:t>Code Sprawl</a:t>
            </a:r>
          </a:p>
        </p:txBody>
      </p:sp>
      <p:sp>
        <p:nvSpPr>
          <p:cNvPr id="11" name="TextBox 10"/>
          <p:cNvSpPr txBox="1"/>
          <p:nvPr/>
        </p:nvSpPr>
        <p:spPr>
          <a:xfrm>
            <a:off x="8486775" y="3653879"/>
            <a:ext cx="2838450" cy="1645741"/>
          </a:xfrm>
          <a:prstGeom prst="rect">
            <a:avLst/>
          </a:prstGeom>
          <a:noFill/>
        </p:spPr>
        <p:txBody>
          <a:bodyPr wrap="square" lIns="0" rIns="0" tIns="0" bIns="0" anchor="t">
            <a:spAutoFit/>
          </a:bodyPr>
          <a:lstStyle/>
          <a:p>
            <a:pPr algn="ctr">
              <a:lnSpc>
                <a:spcPts val="2160"/>
              </a:lnSpc>
            </a:pPr>
            <a:r>
              <a:rPr b="0" sz="1350" i="0" u="none">
                <a:solidFill>
                  <a:srgbClr val="CBD5E1"/>
                </a:solidFill>
                <a:latin typeface="Inter"/>
              </a:rPr>
              <a:t>The sheer volume of AI-generated code requires automated CI gateways and deterministic rule-checking to prevent vulnerabilities from flooding production.</a:t>
            </a:r>
          </a:p>
        </p:txBody>
      </p:sp>
      <p:pic>
        <p:nvPicPr>
          <p:cNvPr id="12" name="Picture 11" descr="image.png"/>
          <p:cNvPicPr>
            <a:picLocks noChangeAspect="1"/>
          </p:cNvPicPr>
          <p:nvPr/>
        </p:nvPicPr>
        <p:blipFill>
          <a:blip r:embed="rId6"/>
          <a:stretch>
            <a:fillRect/>
          </a:stretch>
        </p:blipFill>
        <p:spPr>
          <a:xfrm>
            <a:off x="2028825" y="2377529"/>
            <a:ext cx="514350" cy="457200"/>
          </a:xfrm>
          <a:prstGeom prst="rect">
            <a:avLst/>
          </a:prstGeom>
        </p:spPr>
      </p:pic>
      <p:pic>
        <p:nvPicPr>
          <p:cNvPr id="13" name="Picture 12" descr="image.png"/>
          <p:cNvPicPr>
            <a:picLocks noChangeAspect="1"/>
          </p:cNvPicPr>
          <p:nvPr/>
        </p:nvPicPr>
        <p:blipFill>
          <a:blip r:embed="rId7"/>
          <a:stretch>
            <a:fillRect/>
          </a:stretch>
        </p:blipFill>
        <p:spPr>
          <a:xfrm>
            <a:off x="5867400" y="2377529"/>
            <a:ext cx="457200" cy="457200"/>
          </a:xfrm>
          <a:prstGeom prst="rect">
            <a:avLst/>
          </a:prstGeom>
        </p:spPr>
      </p:pic>
      <p:pic>
        <p:nvPicPr>
          <p:cNvPr id="14" name="Picture 13" descr="image.png"/>
          <p:cNvPicPr>
            <a:picLocks noChangeAspect="1"/>
          </p:cNvPicPr>
          <p:nvPr/>
        </p:nvPicPr>
        <p:blipFill>
          <a:blip r:embed="rId8"/>
          <a:stretch>
            <a:fillRect/>
          </a:stretch>
        </p:blipFill>
        <p:spPr>
          <a:xfrm>
            <a:off x="9620250" y="2377529"/>
            <a:ext cx="571500" cy="457200"/>
          </a:xfrm>
          <a:prstGeom prst="rect">
            <a:avLst/>
          </a:prstGeom>
        </p:spPr>
      </p:pic>
      <p:sp>
        <p:nvSpPr>
          <p:cNvPr id="15" name="TextBox 14"/>
          <p:cNvSpPr txBox="1"/>
          <p:nvPr/>
        </p:nvSpPr>
        <p:spPr>
          <a:xfrm>
            <a:off x="571500" y="571500"/>
            <a:ext cx="11601450" cy="533400"/>
          </a:xfrm>
          <a:prstGeom prst="rect">
            <a:avLst/>
          </a:prstGeom>
          <a:noFill/>
        </p:spPr>
        <p:txBody>
          <a:bodyPr wrap="square" lIns="0" rIns="0" tIns="0" bIns="0" anchor="t">
            <a:spAutoFit/>
          </a:bodyPr>
          <a:lstStyle/>
          <a:p>
            <a:pPr algn="l"/>
            <a:r>
              <a:rPr b="1" sz="3300" i="0" u="none">
                <a:solidFill>
                  <a:srgbClr val="F8FAFC"/>
                </a:solidFill>
                <a:latin typeface="Space Grotesk"/>
              </a:rPr>
              <a:t>Challenges of Agentic Development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1876425" y="2672804"/>
            <a:ext cx="8439150" cy="1680120"/>
          </a:xfrm>
          <a:prstGeom prst="rect">
            <a:avLst/>
          </a:prstGeom>
          <a:noFill/>
        </p:spPr>
        <p:txBody>
          <a:bodyPr wrap="square" lIns="0" rIns="0" tIns="0" bIns="0" anchor="t">
            <a:spAutoFit/>
          </a:bodyPr>
          <a:lstStyle/>
          <a:p>
            <a:pPr algn="ctr">
              <a:lnSpc>
                <a:spcPts val="4409"/>
              </a:lnSpc>
            </a:pPr>
            <a:r>
              <a:rPr b="0" sz="3150" i="0" u="none">
                <a:solidFill>
                  <a:srgbClr val="F8FAFC"/>
                </a:solidFill>
                <a:latin typeface="Space Grotesk Medium"/>
              </a:rPr>
              <a:t>Don't customize the model for what it already knows. Customize the </a:t>
            </a:r>
            <a:r>
              <a:rPr b="0" sz="3150" i="0" u="none">
                <a:solidFill>
                  <a:srgbClr val="F8FAFC"/>
                </a:solidFill>
                <a:latin typeface="Space Grotesk Medium"/>
              </a:rPr>
              <a:t>harness</a:t>
            </a:r>
            <a:r>
              <a:rPr b="0" sz="3150" i="0" u="none">
                <a:solidFill>
                  <a:srgbClr val="F8FAFC"/>
                </a:solidFill>
                <a:latin typeface="Space Grotesk Medium"/>
              </a:rPr>
              <a:t> for what the model cannot reliably know.</a:t>
            </a:r>
          </a:p>
        </p:txBody>
      </p:sp>
      <p:sp>
        <p:nvSpPr>
          <p:cNvPr id="4" name="TextBox 3"/>
          <p:cNvSpPr txBox="1"/>
          <p:nvPr/>
        </p:nvSpPr>
        <p:spPr>
          <a:xfrm>
            <a:off x="3767137" y="4772025"/>
            <a:ext cx="4657725" cy="276225"/>
          </a:xfrm>
          <a:prstGeom prst="rect">
            <a:avLst/>
          </a:prstGeom>
          <a:noFill/>
        </p:spPr>
        <p:txBody>
          <a:bodyPr wrap="square" lIns="0" rIns="0" tIns="0" bIns="0" anchor="t">
            <a:spAutoFit/>
          </a:bodyPr>
          <a:lstStyle/>
          <a:p>
            <a:pPr algn="ctr">
              <a:lnSpc>
                <a:spcPts val="2879"/>
              </a:lnSpc>
            </a:pPr>
            <a:r>
              <a:rPr b="0" sz="1800" i="0" u="none">
                <a:solidFill>
                  <a:srgbClr val="38BDF8"/>
                </a:solidFill>
                <a:latin typeface="Inter SemiBold"/>
              </a:rPr>
              <a:t>System Architecture Design Imperative</a:t>
            </a:r>
          </a:p>
        </p:txBody>
      </p:sp>
      <p:sp>
        <p:nvSpPr>
          <p:cNvPr id="5" name="TextBox 4"/>
          <p:cNvSpPr txBox="1"/>
          <p:nvPr/>
        </p:nvSpPr>
        <p:spPr>
          <a:xfrm>
            <a:off x="1209675" y="3053804"/>
            <a:ext cx="561975" cy="1381125"/>
          </a:xfrm>
          <a:prstGeom prst="rect">
            <a:avLst/>
          </a:prstGeom>
          <a:noFill/>
        </p:spPr>
        <p:txBody>
          <a:bodyPr wrap="square" lIns="0" rIns="0" tIns="0" bIns="0" anchor="t">
            <a:spAutoFit/>
          </a:bodyPr>
          <a:lstStyle/>
          <a:p>
            <a:pPr algn="l">
              <a:lnSpc>
                <a:spcPts val="0"/>
              </a:lnSpc>
            </a:pPr>
            <a:r>
              <a:rPr b="0" sz="9000" i="0" u="none">
                <a:solidFill>
                  <a:srgbClr val="334155"/>
                </a:solidFill>
                <a:latin typeface="Inter Medium"/>
              </a:rPr>
              <a:t>"</a:t>
            </a:r>
          </a:p>
        </p:txBody>
      </p:sp>
      <p:sp>
        <p:nvSpPr>
          <p:cNvPr id="6" name="TextBox 5"/>
          <p:cNvSpPr txBox="1"/>
          <p:nvPr/>
        </p:nvSpPr>
        <p:spPr>
          <a:xfrm>
            <a:off x="10420350" y="4352928"/>
            <a:ext cx="561975" cy="1381125"/>
          </a:xfrm>
          <a:prstGeom prst="rect">
            <a:avLst/>
          </a:prstGeom>
          <a:noFill/>
        </p:spPr>
        <p:txBody>
          <a:bodyPr wrap="square" lIns="0" rIns="0" tIns="0" bIns="0" anchor="t">
            <a:spAutoFit/>
          </a:bodyPr>
          <a:lstStyle/>
          <a:p>
            <a:pPr algn="l">
              <a:lnSpc>
                <a:spcPts val="0"/>
              </a:lnSpc>
            </a:pPr>
            <a:r>
              <a:rPr b="0" sz="9000" i="0" u="none">
                <a:solidFill>
                  <a:srgbClr val="334155"/>
                </a:solidFill>
                <a:latin typeface="Inter Medium"/>
              </a:rPr>
              <a:t>"</a:t>
            </a:r>
          </a:p>
        </p:txBody>
      </p:sp>
      <p:sp>
        <p:nvSpPr>
          <p:cNvPr id="7" name="TextBox 6"/>
          <p:cNvSpPr txBox="1"/>
          <p:nvPr/>
        </p:nvSpPr>
        <p:spPr>
          <a:xfrm>
            <a:off x="571500" y="571500"/>
            <a:ext cx="11601450" cy="533400"/>
          </a:xfrm>
          <a:prstGeom prst="rect">
            <a:avLst/>
          </a:prstGeom>
          <a:noFill/>
        </p:spPr>
        <p:txBody>
          <a:bodyPr wrap="square" lIns="0" rIns="0" tIns="0" bIns="0" anchor="t">
            <a:spAutoFit/>
          </a:bodyPr>
          <a:lstStyle/>
          <a:p>
            <a:pPr algn="l"/>
            <a:r>
              <a:rPr b="1" sz="3300" i="0" u="none">
                <a:solidFill>
                  <a:srgbClr val="F8FAFC"/>
                </a:solidFill>
                <a:latin typeface="Space Grotesk"/>
              </a:rPr>
              <a:t>The Core Architectural Principle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6334125" y="1722239"/>
            <a:ext cx="5286375" cy="3810000"/>
          </a:xfrm>
          <a:prstGeom prst="rect">
            <a:avLst/>
          </a:prstGeom>
        </p:spPr>
      </p:pic>
      <p:sp>
        <p:nvSpPr>
          <p:cNvPr id="4" name="TextBox 3"/>
          <p:cNvSpPr txBox="1"/>
          <p:nvPr/>
        </p:nvSpPr>
        <p:spPr>
          <a:xfrm>
            <a:off x="714375" y="1721286"/>
            <a:ext cx="95250" cy="276225"/>
          </a:xfrm>
          <a:prstGeom prst="rect">
            <a:avLst/>
          </a:prstGeom>
          <a:noFill/>
        </p:spPr>
        <p:txBody>
          <a:bodyPr wrap="square" lIns="0" rIns="0" tIns="0" bIns="0" anchor="t">
            <a:spAutoFit/>
          </a:bodyPr>
          <a:lstStyle/>
          <a:p>
            <a:pPr algn="l"/>
            <a:r>
              <a:rPr b="0" sz="1350" i="0" u="none">
                <a:solidFill>
                  <a:srgbClr val="CBD5E1"/>
                </a:solidFill>
                <a:latin typeface="Inter"/>
              </a:rPr>
              <a:t>•</a:t>
            </a:r>
          </a:p>
        </p:txBody>
      </p:sp>
      <p:sp>
        <p:nvSpPr>
          <p:cNvPr id="5" name="TextBox 4"/>
          <p:cNvSpPr txBox="1"/>
          <p:nvPr/>
        </p:nvSpPr>
        <p:spPr>
          <a:xfrm>
            <a:off x="809625" y="1722239"/>
            <a:ext cx="5048250" cy="1097160"/>
          </a:xfrm>
          <a:prstGeom prst="rect">
            <a:avLst/>
          </a:prstGeom>
          <a:noFill/>
        </p:spPr>
        <p:txBody>
          <a:bodyPr wrap="square" lIns="95250" rIns="0" tIns="0" bIns="0" anchor="t">
            <a:spAutoFit/>
          </a:bodyPr>
          <a:lstStyle/>
          <a:p>
            <a:pPr algn="l">
              <a:lnSpc>
                <a:spcPts val="2160"/>
              </a:lnSpc>
            </a:pPr>
            <a:r>
              <a:rPr b="1" sz="1350" i="0" u="none">
                <a:solidFill>
                  <a:srgbClr val="CBD5E1"/>
                </a:solidFill>
                <a:latin typeface="Inter"/>
              </a:rPr>
              <a:t>In-Distribution (Model Harness):</a:t>
            </a:r>
            <a:r>
              <a:rPr b="0" sz="1350" i="0" u="none">
                <a:solidFill>
                  <a:srgbClr val="CBD5E1"/>
                </a:solidFill>
                <a:latin typeface="Inter"/>
              </a:rPr>
              <a:t> Capabilities the model inherently understands due to training. Keep these close to the model. Includes reasoning, code generation, natural language parsing, and standard patterns.</a:t>
            </a:r>
          </a:p>
        </p:txBody>
      </p:sp>
      <p:sp>
        <p:nvSpPr>
          <p:cNvPr id="6" name="TextBox 5"/>
          <p:cNvSpPr txBox="1"/>
          <p:nvPr/>
        </p:nvSpPr>
        <p:spPr>
          <a:xfrm>
            <a:off x="714375" y="3008947"/>
            <a:ext cx="95250" cy="276225"/>
          </a:xfrm>
          <a:prstGeom prst="rect">
            <a:avLst/>
          </a:prstGeom>
          <a:noFill/>
        </p:spPr>
        <p:txBody>
          <a:bodyPr wrap="square" lIns="0" rIns="0" tIns="0" bIns="0" anchor="t">
            <a:spAutoFit/>
          </a:bodyPr>
          <a:lstStyle/>
          <a:p>
            <a:pPr algn="l"/>
            <a:r>
              <a:rPr b="0" sz="1350" i="0" u="none">
                <a:solidFill>
                  <a:srgbClr val="CBD5E1"/>
                </a:solidFill>
                <a:latin typeface="Inter"/>
              </a:rPr>
              <a:t>•</a:t>
            </a:r>
          </a:p>
        </p:txBody>
      </p:sp>
      <p:sp>
        <p:nvSpPr>
          <p:cNvPr id="7" name="TextBox 6"/>
          <p:cNvSpPr txBox="1"/>
          <p:nvPr/>
        </p:nvSpPr>
        <p:spPr>
          <a:xfrm>
            <a:off x="809625" y="3009900"/>
            <a:ext cx="5048250" cy="822870"/>
          </a:xfrm>
          <a:prstGeom prst="rect">
            <a:avLst/>
          </a:prstGeom>
          <a:noFill/>
        </p:spPr>
        <p:txBody>
          <a:bodyPr wrap="square" lIns="95250" rIns="0" tIns="0" bIns="0" anchor="t">
            <a:spAutoFit/>
          </a:bodyPr>
          <a:lstStyle/>
          <a:p>
            <a:pPr algn="l">
              <a:lnSpc>
                <a:spcPts val="2160"/>
              </a:lnSpc>
            </a:pPr>
            <a:r>
              <a:rPr b="1" sz="1350" i="0" u="none">
                <a:solidFill>
                  <a:srgbClr val="CBD5E1"/>
                </a:solidFill>
                <a:latin typeface="Inter"/>
              </a:rPr>
              <a:t>Out-of-Distribution (Custom Harness):</a:t>
            </a:r>
            <a:r>
              <a:rPr b="0" sz="1350" i="0" u="none">
                <a:solidFill>
                  <a:srgbClr val="CBD5E1"/>
                </a:solidFill>
                <a:latin typeface="Inter"/>
              </a:rPr>
              <a:t> Organization or domain-specific behaviors the model cannot guarantee. Must be encoded deterministically in the harness.</a:t>
            </a:r>
          </a:p>
        </p:txBody>
      </p:sp>
      <p:sp>
        <p:nvSpPr>
          <p:cNvPr id="8" name="TextBox 7"/>
          <p:cNvSpPr txBox="1"/>
          <p:nvPr/>
        </p:nvSpPr>
        <p:spPr>
          <a:xfrm>
            <a:off x="714375" y="4022318"/>
            <a:ext cx="95250" cy="276225"/>
          </a:xfrm>
          <a:prstGeom prst="rect">
            <a:avLst/>
          </a:prstGeom>
          <a:noFill/>
        </p:spPr>
        <p:txBody>
          <a:bodyPr wrap="square" lIns="0" rIns="0" tIns="0" bIns="0" anchor="t">
            <a:spAutoFit/>
          </a:bodyPr>
          <a:lstStyle/>
          <a:p>
            <a:pPr algn="l"/>
            <a:r>
              <a:rPr b="0" sz="1350" i="0" u="none">
                <a:solidFill>
                  <a:srgbClr val="CBD5E1"/>
                </a:solidFill>
                <a:latin typeface="Inter"/>
              </a:rPr>
              <a:t>•</a:t>
            </a:r>
          </a:p>
        </p:txBody>
      </p:sp>
      <p:sp>
        <p:nvSpPr>
          <p:cNvPr id="9" name="TextBox 8"/>
          <p:cNvSpPr txBox="1"/>
          <p:nvPr/>
        </p:nvSpPr>
        <p:spPr>
          <a:xfrm>
            <a:off x="809625" y="4023270"/>
            <a:ext cx="5048250" cy="822870"/>
          </a:xfrm>
          <a:prstGeom prst="rect">
            <a:avLst/>
          </a:prstGeom>
          <a:noFill/>
        </p:spPr>
        <p:txBody>
          <a:bodyPr wrap="square" lIns="95250" rIns="0" tIns="0" bIns="0" anchor="t">
            <a:spAutoFit/>
          </a:bodyPr>
          <a:lstStyle/>
          <a:p>
            <a:pPr algn="l">
              <a:lnSpc>
                <a:spcPts val="2160"/>
              </a:lnSpc>
            </a:pPr>
            <a:r>
              <a:rPr b="1" sz="1350" i="0" u="none">
                <a:solidFill>
                  <a:srgbClr val="CBD5E1"/>
                </a:solidFill>
                <a:latin typeface="Inter"/>
              </a:rPr>
              <a:t>Explicit Rules:</a:t>
            </a:r>
            <a:r>
              <a:rPr b="0" sz="1350" i="0" u="none">
                <a:solidFill>
                  <a:srgbClr val="CBD5E1"/>
                </a:solidFill>
                <a:latin typeface="Inter"/>
              </a:rPr>
              <a:t> Enterprise policies, proprietary workflows, internal API structures, security boundaries, and approval processes belong strictly to the Custom Harness.</a:t>
            </a:r>
          </a:p>
        </p:txBody>
      </p:sp>
      <p:sp>
        <p:nvSpPr>
          <p:cNvPr id="10" name="TextBox 9"/>
          <p:cNvSpPr txBox="1"/>
          <p:nvPr/>
        </p:nvSpPr>
        <p:spPr>
          <a:xfrm>
            <a:off x="714375" y="5035688"/>
            <a:ext cx="95250" cy="276225"/>
          </a:xfrm>
          <a:prstGeom prst="rect">
            <a:avLst/>
          </a:prstGeom>
          <a:noFill/>
        </p:spPr>
        <p:txBody>
          <a:bodyPr wrap="square" lIns="0" rIns="0" tIns="0" bIns="0" anchor="t">
            <a:spAutoFit/>
          </a:bodyPr>
          <a:lstStyle/>
          <a:p>
            <a:pPr algn="l"/>
            <a:r>
              <a:rPr b="0" sz="1350" i="0" u="none">
                <a:solidFill>
                  <a:srgbClr val="CBD5E1"/>
                </a:solidFill>
                <a:latin typeface="Inter"/>
              </a:rPr>
              <a:t>•</a:t>
            </a:r>
          </a:p>
        </p:txBody>
      </p:sp>
      <p:sp>
        <p:nvSpPr>
          <p:cNvPr id="11" name="TextBox 10"/>
          <p:cNvSpPr txBox="1"/>
          <p:nvPr/>
        </p:nvSpPr>
        <p:spPr>
          <a:xfrm>
            <a:off x="809625" y="5036641"/>
            <a:ext cx="5048250" cy="822870"/>
          </a:xfrm>
          <a:prstGeom prst="rect">
            <a:avLst/>
          </a:prstGeom>
          <a:noFill/>
        </p:spPr>
        <p:txBody>
          <a:bodyPr wrap="square" lIns="95250" rIns="0" tIns="0" bIns="0" anchor="t">
            <a:spAutoFit/>
          </a:bodyPr>
          <a:lstStyle/>
          <a:p>
            <a:pPr algn="l">
              <a:lnSpc>
                <a:spcPts val="2160"/>
              </a:lnSpc>
            </a:pPr>
            <a:r>
              <a:rPr b="1" sz="1350" i="0" u="none">
                <a:solidFill>
                  <a:srgbClr val="CBD5E1"/>
                </a:solidFill>
                <a:latin typeface="Inter"/>
              </a:rPr>
              <a:t>The Divide:</a:t>
            </a:r>
            <a:r>
              <a:rPr b="0" sz="1350" i="0" u="none">
                <a:solidFill>
                  <a:srgbClr val="CBD5E1"/>
                </a:solidFill>
                <a:latin typeface="Inter"/>
              </a:rPr>
              <a:t> This strict boundary separates the cognitive intelligence of the LLM from the controlled, safe execution environment.</a:t>
            </a:r>
          </a:p>
        </p:txBody>
      </p:sp>
      <p:pic>
        <p:nvPicPr>
          <p:cNvPr id="12" name="Picture 11" descr="image.png"/>
          <p:cNvPicPr>
            <a:picLocks noChangeAspect="1"/>
          </p:cNvPicPr>
          <p:nvPr/>
        </p:nvPicPr>
        <p:blipFill>
          <a:blip r:embed="rId4"/>
          <a:stretch>
            <a:fillRect/>
          </a:stretch>
        </p:blipFill>
        <p:spPr>
          <a:xfrm>
            <a:off x="6343650" y="1731764"/>
            <a:ext cx="5267325" cy="3790950"/>
          </a:xfrm>
          <a:prstGeom prst="rect">
            <a:avLst/>
          </a:prstGeom>
        </p:spPr>
      </p:pic>
      <p:sp>
        <p:nvSpPr>
          <p:cNvPr id="13" name="TextBox 12"/>
          <p:cNvSpPr txBox="1"/>
          <p:nvPr/>
        </p:nvSpPr>
        <p:spPr>
          <a:xfrm>
            <a:off x="571500" y="571500"/>
            <a:ext cx="11601450" cy="533400"/>
          </a:xfrm>
          <a:prstGeom prst="rect">
            <a:avLst/>
          </a:prstGeom>
          <a:noFill/>
        </p:spPr>
        <p:txBody>
          <a:bodyPr wrap="square" lIns="0" rIns="0" tIns="0" bIns="0" anchor="t">
            <a:spAutoFit/>
          </a:bodyPr>
          <a:lstStyle/>
          <a:p>
            <a:pPr algn="l"/>
            <a:r>
              <a:rPr b="1" sz="3300" i="0" u="none">
                <a:solidFill>
                  <a:srgbClr val="F8FAFC"/>
                </a:solidFill>
                <a:latin typeface="Space Grotesk"/>
              </a:rPr>
              <a:t>In-Distribution vs. Out-of-Distribution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sp>
        <p:nvSpPr>
          <p:cNvPr id="3" name="Rounded Rectangle 2"/>
          <p:cNvSpPr/>
          <p:nvPr/>
        </p:nvSpPr>
        <p:spPr>
          <a:xfrm>
            <a:off x="571500" y="1881187"/>
            <a:ext cx="11049000" cy="4009876"/>
          </a:xfrm>
          <a:prstGeom prst="roundRect">
            <a:avLst>
              <a:gd name="adj" fmla="val 0"/>
            </a:avLst>
          </a:prstGeom>
          <a:solidFill>
            <a:srgbClr val="1E293B"/>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571500" y="1881187"/>
          <a:ext cx="11048999" cy="4009876"/>
        </p:xfrm>
        <a:graphic>
          <a:graphicData uri="http://schemas.openxmlformats.org/drawingml/2006/table">
            <a:tbl>
              <a:tblPr firstRow="1" bandRow="1">
                <a:tableStyleId>{5C22544A-7EE6-4342-B048-85BDC9FD1C3A}</a:tableStyleId>
                <a:lnL>
                  <a:noFill/>
                </a:lnL>
                <a:lnR>
                  <a:noFill/>
                </a:lnR>
                <a:lnT>
                  <a:noFill/>
                </a:lnT>
                <a:lnB>
                  <a:noFill/>
                </a:lnB>
                <a:lnV>
                  <a:noFill/>
                </a:lnV>
                <a:lnH>
                  <a:noFill/>
                </a:lnH>
              </a:tblPr>
              <a:tblGrid>
                <a:gridCol w="5037534"/>
                <a:gridCol w="6011465"/>
              </a:tblGrid>
              <a:tr h="668312">
                <a:tc>
                  <a:txBody>
                    <a:bodyPr/>
                    <a:lstStyle/>
                    <a:p>
                      <a:pPr algn="l"/>
                      <a:r>
                        <a:rPr b="1" sz="1500" i="0" u="none">
                          <a:solidFill>
                            <a:srgbClr val="38BDF8"/>
                          </a:solidFill>
                          <a:latin typeface="Space Grotesk"/>
                        </a:rPr>
                        <a:t>LLM Responsibility (Cognitive)</a:t>
                      </a:r>
                    </a:p>
                  </a:txBody>
                  <a:tcPr anchor="ctr" marL="63500" marR="63500" marT="25400" marB="25400">
                    <a:lnL>
                      <a:noFill/>
                    </a:lnL>
                    <a:lnR>
                      <a:noFill/>
                    </a:lnR>
                    <a:lnT>
                      <a:noFill/>
                    </a:lnT>
                    <a:lnB>
                      <a:noFill/>
                    </a:lnB>
                    <a:solidFill>
                      <a:srgbClr val="0F172A"/>
                    </a:solidFill>
                  </a:tcPr>
                </a:tc>
                <a:tc>
                  <a:txBody>
                    <a:bodyPr/>
                    <a:lstStyle/>
                    <a:p>
                      <a:pPr algn="l"/>
                      <a:r>
                        <a:rPr b="1" sz="1500" i="0" u="none">
                          <a:solidFill>
                            <a:srgbClr val="38BDF8"/>
                          </a:solidFill>
                          <a:latin typeface="Space Grotesk"/>
                        </a:rPr>
                        <a:t>Harness Responsibility (Deterministic)</a:t>
                      </a:r>
                    </a:p>
                  </a:txBody>
                  <a:tcPr anchor="ctr" marL="63500" marR="63500" marT="25400" marB="25400">
                    <a:lnL>
                      <a:noFill/>
                    </a:lnL>
                    <a:lnR>
                      <a:noFill/>
                    </a:lnR>
                    <a:lnT>
                      <a:noFill/>
                    </a:lnT>
                    <a:lnB>
                      <a:noFill/>
                    </a:lnB>
                    <a:solidFill>
                      <a:srgbClr val="0F172A"/>
                    </a:solidFill>
                  </a:tcPr>
                </a:tc>
              </a:tr>
              <a:tr h="668312">
                <a:tc>
                  <a:txBody>
                    <a:bodyPr/>
                    <a:lstStyle/>
                    <a:p>
                      <a:pPr algn="l"/>
                      <a:r>
                        <a:rPr b="0" sz="1350" i="0" u="none">
                          <a:solidFill>
                            <a:srgbClr val="E2E8F0"/>
                          </a:solidFill>
                          <a:latin typeface="Inter"/>
                        </a:rPr>
                        <a:t>Understand intent and user goals</a:t>
                      </a:r>
                    </a:p>
                  </a:txBody>
                  <a:tcPr anchor="ctr" marL="63500" marR="63500" marT="25400" marB="25400">
                    <a:lnL>
                      <a:noFill/>
                    </a:lnL>
                    <a:lnR>
                      <a:noFill/>
                    </a:lnR>
                    <a:lnT>
                      <a:noFill/>
                    </a:lnT>
                    <a:lnB>
                      <a:noFill/>
                    </a:lnB>
                    <a:noFill/>
                  </a:tcPr>
                </a:tc>
                <a:tc>
                  <a:txBody>
                    <a:bodyPr/>
                    <a:lstStyle/>
                    <a:p>
                      <a:pPr algn="l"/>
                      <a:r>
                        <a:rPr b="0" sz="1350" i="0" u="none">
                          <a:solidFill>
                            <a:srgbClr val="E2E8F0"/>
                          </a:solidFill>
                          <a:latin typeface="Inter"/>
                        </a:rPr>
                        <a:t>Enforce RBAC, Permissions, and Egress Policies</a:t>
                      </a:r>
                    </a:p>
                  </a:txBody>
                  <a:tcPr anchor="ctr" marL="63500" marR="63500" marT="25400" marB="25400">
                    <a:lnL>
                      <a:noFill/>
                    </a:lnL>
                    <a:lnR>
                      <a:noFill/>
                    </a:lnR>
                    <a:lnT>
                      <a:noFill/>
                    </a:lnT>
                    <a:lnB>
                      <a:noFill/>
                    </a:lnB>
                    <a:noFill/>
                  </a:tcPr>
                </a:tc>
              </a:tr>
              <a:tr h="668312">
                <a:tc>
                  <a:txBody>
                    <a:bodyPr/>
                    <a:lstStyle/>
                    <a:p>
                      <a:pPr algn="l"/>
                      <a:r>
                        <a:rPr b="0" sz="1350" i="0" u="none">
                          <a:solidFill>
                            <a:srgbClr val="E2E8F0"/>
                          </a:solidFill>
                          <a:latin typeface="Inter"/>
                        </a:rPr>
                        <a:t>Reason through complex problem spaces</a:t>
                      </a:r>
                    </a:p>
                  </a:txBody>
                  <a:tcPr anchor="ctr" marL="63500" marR="63500" marT="25400" marB="25400">
                    <a:lnL>
                      <a:noFill/>
                    </a:lnL>
                    <a:lnR>
                      <a:noFill/>
                    </a:lnR>
                    <a:lnT>
                      <a:noFill/>
                    </a:lnT>
                    <a:lnB>
                      <a:noFill/>
                    </a:lnB>
                    <a:noFill/>
                  </a:tcPr>
                </a:tc>
                <a:tc>
                  <a:txBody>
                    <a:bodyPr/>
                    <a:lstStyle/>
                    <a:p>
                      <a:pPr algn="l"/>
                      <a:r>
                        <a:rPr b="0" sz="1350" i="0" u="none">
                          <a:solidFill>
                            <a:srgbClr val="E2E8F0"/>
                          </a:solidFill>
                          <a:latin typeface="Inter"/>
                        </a:rPr>
                        <a:t>Manage State, Memory, and Transaction Logs</a:t>
                      </a:r>
                    </a:p>
                  </a:txBody>
                  <a:tcPr anchor="ctr" marL="63500" marR="63500" marT="25400" marB="25400">
                    <a:lnL>
                      <a:noFill/>
                    </a:lnL>
                    <a:lnR>
                      <a:noFill/>
                    </a:lnR>
                    <a:lnT>
                      <a:noFill/>
                    </a:lnT>
                    <a:lnB>
                      <a:noFill/>
                    </a:lnB>
                    <a:noFill/>
                  </a:tcPr>
                </a:tc>
              </a:tr>
              <a:tr h="668312">
                <a:tc>
                  <a:txBody>
                    <a:bodyPr/>
                    <a:lstStyle/>
                    <a:p>
                      <a:pPr algn="l"/>
                      <a:r>
                        <a:rPr b="0" sz="1350" i="0" u="none">
                          <a:solidFill>
                            <a:srgbClr val="E2E8F0"/>
                          </a:solidFill>
                          <a:latin typeface="Inter"/>
                        </a:rPr>
                        <a:t>Plan task decomposition and DAGs</a:t>
                      </a:r>
                    </a:p>
                  </a:txBody>
                  <a:tcPr anchor="ctr" marL="63500" marR="63500" marT="25400" marB="25400">
                    <a:lnL>
                      <a:noFill/>
                    </a:lnL>
                    <a:lnR>
                      <a:noFill/>
                    </a:lnR>
                    <a:lnT>
                      <a:noFill/>
                    </a:lnT>
                    <a:lnB>
                      <a:noFill/>
                    </a:lnB>
                    <a:noFill/>
                  </a:tcPr>
                </a:tc>
                <a:tc>
                  <a:txBody>
                    <a:bodyPr/>
                    <a:lstStyle/>
                    <a:p>
                      <a:pPr algn="l"/>
                      <a:r>
                        <a:rPr b="0" sz="1350" i="0" u="none">
                          <a:solidFill>
                            <a:srgbClr val="E2E8F0"/>
                          </a:solidFill>
                          <a:latin typeface="Inter"/>
                        </a:rPr>
                        <a:t>Enforce Schemas, Retries, and Bounded Loops</a:t>
                      </a:r>
                    </a:p>
                  </a:txBody>
                  <a:tcPr anchor="ctr" marL="63500" marR="63500" marT="25400" marB="25400">
                    <a:lnL>
                      <a:noFill/>
                    </a:lnL>
                    <a:lnR>
                      <a:noFill/>
                    </a:lnR>
                    <a:lnT>
                      <a:noFill/>
                    </a:lnT>
                    <a:lnB>
                      <a:noFill/>
                    </a:lnB>
                    <a:noFill/>
                  </a:tcPr>
                </a:tc>
              </a:tr>
              <a:tr h="668312">
                <a:tc>
                  <a:txBody>
                    <a:bodyPr/>
                    <a:lstStyle/>
                    <a:p>
                      <a:pPr algn="l"/>
                      <a:r>
                        <a:rPr b="0" sz="1350" i="0" u="none">
                          <a:solidFill>
                            <a:srgbClr val="E2E8F0"/>
                          </a:solidFill>
                          <a:latin typeface="Inter"/>
                        </a:rPr>
                        <a:t>Choose appropriate capabilities/tools</a:t>
                      </a:r>
                    </a:p>
                  </a:txBody>
                  <a:tcPr anchor="ctr" marL="63500" marR="63500" marT="25400" marB="25400">
                    <a:lnL>
                      <a:noFill/>
                    </a:lnL>
                    <a:lnR>
                      <a:noFill/>
                    </a:lnR>
                    <a:lnT>
                      <a:noFill/>
                    </a:lnT>
                    <a:lnB>
                      <a:noFill/>
                    </a:lnB>
                    <a:noFill/>
                  </a:tcPr>
                </a:tc>
                <a:tc>
                  <a:txBody>
                    <a:bodyPr/>
                    <a:lstStyle/>
                    <a:p>
                      <a:pPr algn="l"/>
                      <a:r>
                        <a:rPr b="0" sz="1350" i="0" u="none">
                          <a:solidFill>
                            <a:srgbClr val="E2E8F0"/>
                          </a:solidFill>
                          <a:latin typeface="Inter"/>
                        </a:rPr>
                        <a:t>Manage Resource Budgets and Sandbox Isolation</a:t>
                      </a:r>
                    </a:p>
                  </a:txBody>
                  <a:tcPr anchor="ctr" marL="63500" marR="63500" marT="25400" marB="25400">
                    <a:lnL>
                      <a:noFill/>
                    </a:lnL>
                    <a:lnR>
                      <a:noFill/>
                    </a:lnR>
                    <a:lnT>
                      <a:noFill/>
                    </a:lnT>
                    <a:lnB>
                      <a:noFill/>
                    </a:lnB>
                    <a:noFill/>
                  </a:tcPr>
                </a:tc>
              </a:tr>
              <a:tr h="668316">
                <a:tc>
                  <a:txBody>
                    <a:bodyPr/>
                    <a:lstStyle/>
                    <a:p>
                      <a:pPr algn="l"/>
                      <a:r>
                        <a:rPr b="0" sz="1350" i="0" u="none">
                          <a:solidFill>
                            <a:srgbClr val="E2E8F0"/>
                          </a:solidFill>
                          <a:latin typeface="Inter"/>
                        </a:rPr>
                        <a:t>Generate alternatives and fuzzy judgments</a:t>
                      </a:r>
                    </a:p>
                  </a:txBody>
                  <a:tcPr anchor="ctr" marL="63500" marR="63500" marT="25400" marB="25400">
                    <a:lnL>
                      <a:noFill/>
                    </a:lnL>
                    <a:lnR>
                      <a:noFill/>
                    </a:lnR>
                    <a:lnT>
                      <a:noFill/>
                    </a:lnT>
                    <a:lnB>
                      <a:noFill/>
                    </a:lnB>
                    <a:noFill/>
                  </a:tcPr>
                </a:tc>
                <a:tc>
                  <a:txBody>
                    <a:bodyPr/>
                    <a:lstStyle/>
                    <a:p>
                      <a:pPr algn="l"/>
                      <a:r>
                        <a:rPr b="0" sz="1350" i="0" u="none">
                          <a:solidFill>
                            <a:srgbClr val="E2E8F0"/>
                          </a:solidFill>
                          <a:latin typeface="Inter"/>
                        </a:rPr>
                        <a:t>Provide Checkpointing, Audit Logging, and Recovery</a:t>
                      </a:r>
                    </a:p>
                  </a:txBody>
                  <a:tcPr anchor="ctr" marL="63500" marR="63500" marT="25400" marB="25400">
                    <a:lnL>
                      <a:noFill/>
                    </a:lnL>
                    <a:lnR>
                      <a:noFill/>
                    </a:lnR>
                    <a:lnT>
                      <a:noFill/>
                    </a:lnT>
                    <a:lnB>
                      <a:noFill/>
                    </a:lnB>
                    <a:noFill/>
                  </a:tcPr>
                </a:tc>
              </a:tr>
            </a:tbl>
          </a:graphicData>
        </a:graphic>
      </p:graphicFrame>
      <p:sp>
        <p:nvSpPr>
          <p:cNvPr id="5" name="Rectangle 4"/>
          <p:cNvSpPr/>
          <p:nvPr/>
        </p:nvSpPr>
        <p:spPr>
          <a:xfrm>
            <a:off x="571500" y="2562225"/>
            <a:ext cx="5037534" cy="9525"/>
          </a:xfrm>
          <a:prstGeom prst="rect">
            <a:avLst/>
          </a:prstGeom>
          <a:solidFill>
            <a:srgbClr val="3341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09034" y="2562225"/>
            <a:ext cx="6011465" cy="9525"/>
          </a:xfrm>
          <a:prstGeom prst="rect">
            <a:avLst/>
          </a:prstGeom>
          <a:solidFill>
            <a:srgbClr val="3341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71500" y="3227040"/>
            <a:ext cx="5037534" cy="9525"/>
          </a:xfrm>
          <a:prstGeom prst="rect">
            <a:avLst/>
          </a:prstGeom>
          <a:solidFill>
            <a:srgbClr val="3341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609034" y="3227040"/>
            <a:ext cx="6011465" cy="9525"/>
          </a:xfrm>
          <a:prstGeom prst="rect">
            <a:avLst/>
          </a:prstGeom>
          <a:solidFill>
            <a:srgbClr val="3341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71500" y="3891855"/>
            <a:ext cx="5037534" cy="9525"/>
          </a:xfrm>
          <a:prstGeom prst="rect">
            <a:avLst/>
          </a:prstGeom>
          <a:solidFill>
            <a:srgbClr val="3341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609034" y="3891855"/>
            <a:ext cx="6011465" cy="9525"/>
          </a:xfrm>
          <a:prstGeom prst="rect">
            <a:avLst/>
          </a:prstGeom>
          <a:solidFill>
            <a:srgbClr val="3341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71500" y="4556670"/>
            <a:ext cx="5037534" cy="9525"/>
          </a:xfrm>
          <a:prstGeom prst="rect">
            <a:avLst/>
          </a:prstGeom>
          <a:solidFill>
            <a:srgbClr val="3341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609034" y="4556670"/>
            <a:ext cx="6011465" cy="9525"/>
          </a:xfrm>
          <a:prstGeom prst="rect">
            <a:avLst/>
          </a:prstGeom>
          <a:solidFill>
            <a:srgbClr val="3341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71500" y="5221485"/>
            <a:ext cx="5037534" cy="9525"/>
          </a:xfrm>
          <a:prstGeom prst="rect">
            <a:avLst/>
          </a:prstGeom>
          <a:solidFill>
            <a:srgbClr val="3341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609034" y="5221485"/>
            <a:ext cx="6011465" cy="9525"/>
          </a:xfrm>
          <a:prstGeom prst="rect">
            <a:avLst/>
          </a:prstGeom>
          <a:solidFill>
            <a:srgbClr val="3341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71500" y="571500"/>
            <a:ext cx="11601450" cy="533400"/>
          </a:xfrm>
          <a:prstGeom prst="rect">
            <a:avLst/>
          </a:prstGeom>
          <a:noFill/>
        </p:spPr>
        <p:txBody>
          <a:bodyPr wrap="square" lIns="0" rIns="0" tIns="0" bIns="0" anchor="t">
            <a:spAutoFit/>
          </a:bodyPr>
          <a:lstStyle/>
          <a:p>
            <a:pPr algn="l"/>
            <a:r>
              <a:rPr b="1" sz="3300" i="0" u="none">
                <a:solidFill>
                  <a:srgbClr val="F8FAFC"/>
                </a:solidFill>
                <a:latin typeface="Space Grotesk"/>
              </a:rPr>
              <a:t>Division of Responsibility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571500" y="2130772"/>
            <a:ext cx="5286375" cy="3510706"/>
          </a:xfrm>
          <a:prstGeom prst="rect">
            <a:avLst/>
          </a:prstGeom>
        </p:spPr>
      </p:pic>
      <p:pic>
        <p:nvPicPr>
          <p:cNvPr id="4" name="Picture 3" descr="image.png"/>
          <p:cNvPicPr>
            <a:picLocks noChangeAspect="1"/>
          </p:cNvPicPr>
          <p:nvPr/>
        </p:nvPicPr>
        <p:blipFill>
          <a:blip r:embed="rId4"/>
          <a:stretch>
            <a:fillRect/>
          </a:stretch>
        </p:blipFill>
        <p:spPr>
          <a:xfrm>
            <a:off x="6334125" y="2130772"/>
            <a:ext cx="5286375" cy="3510706"/>
          </a:xfrm>
          <a:prstGeom prst="rect">
            <a:avLst/>
          </a:prstGeom>
        </p:spPr>
      </p:pic>
      <p:sp>
        <p:nvSpPr>
          <p:cNvPr id="5" name="TextBox 4"/>
          <p:cNvSpPr txBox="1"/>
          <p:nvPr/>
        </p:nvSpPr>
        <p:spPr>
          <a:xfrm>
            <a:off x="962025" y="2521297"/>
            <a:ext cx="4730591" cy="381000"/>
          </a:xfrm>
          <a:prstGeom prst="rect">
            <a:avLst/>
          </a:prstGeom>
          <a:noFill/>
        </p:spPr>
        <p:txBody>
          <a:bodyPr wrap="square" lIns="0" rIns="0" tIns="0" bIns="0" anchor="t">
            <a:spAutoFit/>
          </a:bodyPr>
          <a:lstStyle/>
          <a:p>
            <a:pPr algn="l"/>
            <a:r>
              <a:rPr b="0" sz="2400" i="0" u="none">
                <a:solidFill>
                  <a:srgbClr val="38BDF8"/>
                </a:solidFill>
                <a:latin typeface="Space Grotesk SemiBold"/>
              </a:rPr>
              <a:t>1. Agents SDK Runtime</a:t>
            </a:r>
          </a:p>
        </p:txBody>
      </p:sp>
      <p:sp>
        <p:nvSpPr>
          <p:cNvPr id="6" name="TextBox 5"/>
          <p:cNvSpPr txBox="1"/>
          <p:nvPr/>
        </p:nvSpPr>
        <p:spPr>
          <a:xfrm>
            <a:off x="962025" y="3045172"/>
            <a:ext cx="4505325" cy="548580"/>
          </a:xfrm>
          <a:prstGeom prst="rect">
            <a:avLst/>
          </a:prstGeom>
          <a:noFill/>
        </p:spPr>
        <p:txBody>
          <a:bodyPr wrap="square" lIns="0" rIns="0" tIns="0" bIns="0" anchor="t">
            <a:spAutoFit/>
          </a:bodyPr>
          <a:lstStyle/>
          <a:p>
            <a:pPr algn="l">
              <a:lnSpc>
                <a:spcPts val="2160"/>
              </a:lnSpc>
            </a:pPr>
            <a:r>
              <a:rPr b="0" sz="1350" i="0" u="none">
                <a:solidFill>
                  <a:srgbClr val="CBD5E1"/>
                </a:solidFill>
                <a:latin typeface="Inter"/>
              </a:rPr>
              <a:t>The runtime answers </a:t>
            </a:r>
            <a:r>
              <a:rPr b="0" sz="1350" i="1" u="none">
                <a:solidFill>
                  <a:srgbClr val="CBD5E1"/>
                </a:solidFill>
                <a:latin typeface="Inter"/>
              </a:rPr>
              <a:t>"Where does this agent live and how does it stay durable?"</a:t>
            </a:r>
          </a:p>
        </p:txBody>
      </p:sp>
      <p:sp>
        <p:nvSpPr>
          <p:cNvPr id="7" name="TextBox 6"/>
          <p:cNvSpPr txBox="1"/>
          <p:nvPr/>
        </p:nvSpPr>
        <p:spPr>
          <a:xfrm>
            <a:off x="962025" y="3736627"/>
            <a:ext cx="4505325" cy="1371451"/>
          </a:xfrm>
          <a:prstGeom prst="rect">
            <a:avLst/>
          </a:prstGeom>
          <a:noFill/>
        </p:spPr>
        <p:txBody>
          <a:bodyPr wrap="square" lIns="0" rIns="0" tIns="0" bIns="0" anchor="t">
            <a:spAutoFit/>
          </a:bodyPr>
          <a:lstStyle/>
          <a:p>
            <a:pPr algn="l">
              <a:lnSpc>
                <a:spcPts val="2160"/>
              </a:lnSpc>
            </a:pPr>
            <a:r>
              <a:rPr b="0" sz="1350" i="0" u="none">
                <a:solidFill>
                  <a:srgbClr val="CBD5E1"/>
                </a:solidFill>
                <a:latin typeface="Inter"/>
              </a:rPr>
              <a:t>It provides the underlying resilient infrastructure. This includes the core Agent class, durable state management, session handling, fundamental routing, WebSockets, scheduling mechanisms, and basic observability metrics.</a:t>
            </a:r>
          </a:p>
        </p:txBody>
      </p:sp>
      <p:sp>
        <p:nvSpPr>
          <p:cNvPr id="8" name="TextBox 7"/>
          <p:cNvSpPr txBox="1"/>
          <p:nvPr/>
        </p:nvSpPr>
        <p:spPr>
          <a:xfrm>
            <a:off x="6724650" y="2521297"/>
            <a:ext cx="4730591" cy="381000"/>
          </a:xfrm>
          <a:prstGeom prst="rect">
            <a:avLst/>
          </a:prstGeom>
          <a:noFill/>
        </p:spPr>
        <p:txBody>
          <a:bodyPr wrap="square" lIns="0" rIns="0" tIns="0" bIns="0" anchor="t">
            <a:spAutoFit/>
          </a:bodyPr>
          <a:lstStyle/>
          <a:p>
            <a:pPr algn="l"/>
            <a:r>
              <a:rPr b="0" sz="2400" i="0" u="none">
                <a:solidFill>
                  <a:srgbClr val="38BDF8"/>
                </a:solidFill>
                <a:latin typeface="Space Grotesk SemiBold"/>
              </a:rPr>
              <a:t>2. The Agent Harness</a:t>
            </a:r>
          </a:p>
        </p:txBody>
      </p:sp>
      <p:sp>
        <p:nvSpPr>
          <p:cNvPr id="9" name="TextBox 8"/>
          <p:cNvSpPr txBox="1"/>
          <p:nvPr/>
        </p:nvSpPr>
        <p:spPr>
          <a:xfrm>
            <a:off x="6724650" y="3045172"/>
            <a:ext cx="4505325" cy="548580"/>
          </a:xfrm>
          <a:prstGeom prst="rect">
            <a:avLst/>
          </a:prstGeom>
          <a:noFill/>
        </p:spPr>
        <p:txBody>
          <a:bodyPr wrap="square" lIns="0" rIns="0" tIns="0" bIns="0" anchor="t">
            <a:spAutoFit/>
          </a:bodyPr>
          <a:lstStyle/>
          <a:p>
            <a:pPr algn="l">
              <a:lnSpc>
                <a:spcPts val="2160"/>
              </a:lnSpc>
            </a:pPr>
            <a:r>
              <a:rPr b="0" sz="1350" i="0" u="none">
                <a:solidFill>
                  <a:srgbClr val="CBD5E1"/>
                </a:solidFill>
                <a:latin typeface="Inter"/>
              </a:rPr>
              <a:t>The harness answers </a:t>
            </a:r>
            <a:r>
              <a:rPr b="0" sz="1350" i="1" u="none">
                <a:solidFill>
                  <a:srgbClr val="CBD5E1"/>
                </a:solidFill>
                <a:latin typeface="Inter"/>
              </a:rPr>
              <a:t>"What does this agent do on each turn?"</a:t>
            </a:r>
          </a:p>
        </p:txBody>
      </p:sp>
      <p:sp>
        <p:nvSpPr>
          <p:cNvPr id="10" name="TextBox 9"/>
          <p:cNvSpPr txBox="1"/>
          <p:nvPr/>
        </p:nvSpPr>
        <p:spPr>
          <a:xfrm>
            <a:off x="6724650" y="3736627"/>
            <a:ext cx="4505325" cy="1371451"/>
          </a:xfrm>
          <a:prstGeom prst="rect">
            <a:avLst/>
          </a:prstGeom>
          <a:noFill/>
        </p:spPr>
        <p:txBody>
          <a:bodyPr wrap="square" lIns="0" rIns="0" tIns="0" bIns="0" anchor="t">
            <a:spAutoFit/>
          </a:bodyPr>
          <a:lstStyle/>
          <a:p>
            <a:pPr algn="l">
              <a:lnSpc>
                <a:spcPts val="2160"/>
              </a:lnSpc>
            </a:pPr>
            <a:r>
              <a:rPr b="0" sz="1350" i="0" u="none">
                <a:solidFill>
                  <a:srgbClr val="CBD5E1"/>
                </a:solidFill>
                <a:latin typeface="Inter"/>
              </a:rPr>
              <a:t>It dictates the actual behavior. This layer sits on top of the runtime and controls model calls, prompt construction, tool selection and interception, stream handling, advanced memory strategies, and lifecycle hooks (before/after agent execution).</a:t>
            </a:r>
          </a:p>
        </p:txBody>
      </p:sp>
      <p:sp>
        <p:nvSpPr>
          <p:cNvPr id="11" name="TextBox 10"/>
          <p:cNvSpPr txBox="1"/>
          <p:nvPr/>
        </p:nvSpPr>
        <p:spPr>
          <a:xfrm>
            <a:off x="571500" y="571500"/>
            <a:ext cx="11601450" cy="533400"/>
          </a:xfrm>
          <a:prstGeom prst="rect">
            <a:avLst/>
          </a:prstGeom>
          <a:noFill/>
        </p:spPr>
        <p:txBody>
          <a:bodyPr wrap="square" lIns="0" rIns="0" tIns="0" bIns="0" anchor="t">
            <a:spAutoFit/>
          </a:bodyPr>
          <a:lstStyle/>
          <a:p>
            <a:pPr algn="l"/>
            <a:r>
              <a:rPr b="1" sz="3300" i="0" u="none">
                <a:solidFill>
                  <a:srgbClr val="F8FAFC"/>
                </a:solidFill>
                <a:latin typeface="Space Grotesk"/>
              </a:rPr>
              <a:t>Agents SDK Runtime vs. Harness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571500" y="1884164"/>
            <a:ext cx="3429000" cy="4004071"/>
          </a:xfrm>
          <a:prstGeom prst="rect">
            <a:avLst/>
          </a:prstGeom>
        </p:spPr>
      </p:pic>
      <p:pic>
        <p:nvPicPr>
          <p:cNvPr id="4" name="Picture 3" descr="image.png"/>
          <p:cNvPicPr>
            <a:picLocks noChangeAspect="1"/>
          </p:cNvPicPr>
          <p:nvPr/>
        </p:nvPicPr>
        <p:blipFill>
          <a:blip r:embed="rId4"/>
          <a:stretch>
            <a:fillRect/>
          </a:stretch>
        </p:blipFill>
        <p:spPr>
          <a:xfrm>
            <a:off x="4381500" y="1884164"/>
            <a:ext cx="3429000" cy="4004071"/>
          </a:xfrm>
          <a:prstGeom prst="rect">
            <a:avLst/>
          </a:prstGeom>
        </p:spPr>
      </p:pic>
      <p:pic>
        <p:nvPicPr>
          <p:cNvPr id="5" name="Picture 4" descr="image.png"/>
          <p:cNvPicPr>
            <a:picLocks noChangeAspect="1"/>
          </p:cNvPicPr>
          <p:nvPr/>
        </p:nvPicPr>
        <p:blipFill>
          <a:blip r:embed="rId5"/>
          <a:stretch>
            <a:fillRect/>
          </a:stretch>
        </p:blipFill>
        <p:spPr>
          <a:xfrm>
            <a:off x="8191500" y="1884164"/>
            <a:ext cx="3429000" cy="4004071"/>
          </a:xfrm>
          <a:prstGeom prst="rect">
            <a:avLst/>
          </a:prstGeom>
        </p:spPr>
      </p:pic>
      <p:sp>
        <p:nvSpPr>
          <p:cNvPr id="6" name="TextBox 5"/>
          <p:cNvSpPr txBox="1"/>
          <p:nvPr/>
        </p:nvSpPr>
        <p:spPr>
          <a:xfrm>
            <a:off x="695801" y="4179689"/>
            <a:ext cx="3180397" cy="295275"/>
          </a:xfrm>
          <a:prstGeom prst="rect">
            <a:avLst/>
          </a:prstGeom>
          <a:noFill/>
        </p:spPr>
        <p:txBody>
          <a:bodyPr wrap="square" lIns="0" rIns="0" tIns="0" bIns="0" anchor="t">
            <a:spAutoFit/>
          </a:bodyPr>
          <a:lstStyle/>
          <a:p>
            <a:pPr algn="ctr"/>
            <a:r>
              <a:rPr b="0" sz="1800" i="0" u="none">
                <a:solidFill>
                  <a:srgbClr val="F8FAFC"/>
                </a:solidFill>
                <a:latin typeface="Space Grotesk SemiBold"/>
              </a:rPr>
              <a:t>Context Plane</a:t>
            </a:r>
          </a:p>
        </p:txBody>
      </p:sp>
      <p:sp>
        <p:nvSpPr>
          <p:cNvPr id="7" name="TextBox 6"/>
          <p:cNvSpPr txBox="1"/>
          <p:nvPr/>
        </p:nvSpPr>
        <p:spPr>
          <a:xfrm>
            <a:off x="771525" y="4570214"/>
            <a:ext cx="3028950" cy="731341"/>
          </a:xfrm>
          <a:prstGeom prst="rect">
            <a:avLst/>
          </a:prstGeom>
          <a:noFill/>
        </p:spPr>
        <p:txBody>
          <a:bodyPr wrap="square" lIns="0" rIns="0" tIns="0" bIns="0" anchor="t">
            <a:spAutoFit/>
          </a:bodyPr>
          <a:lstStyle/>
          <a:p>
            <a:pPr algn="ctr">
              <a:lnSpc>
                <a:spcPts val="1920"/>
              </a:lnSpc>
            </a:pPr>
            <a:r>
              <a:rPr b="0" sz="1200" i="0" u="none">
                <a:solidFill>
                  <a:srgbClr val="CBD5E1"/>
                </a:solidFill>
                <a:latin typeface="Inter"/>
              </a:rPr>
              <a:t>Manages progressive disclosure, memory summarization, and Retrieval-Augmented Generation (RAG) to prevent exhaustion.</a:t>
            </a:r>
          </a:p>
        </p:txBody>
      </p:sp>
      <p:sp>
        <p:nvSpPr>
          <p:cNvPr id="8" name="TextBox 7"/>
          <p:cNvSpPr txBox="1"/>
          <p:nvPr/>
        </p:nvSpPr>
        <p:spPr>
          <a:xfrm>
            <a:off x="4505801" y="4179689"/>
            <a:ext cx="3180397" cy="295275"/>
          </a:xfrm>
          <a:prstGeom prst="rect">
            <a:avLst/>
          </a:prstGeom>
          <a:noFill/>
        </p:spPr>
        <p:txBody>
          <a:bodyPr wrap="square" lIns="0" rIns="0" tIns="0" bIns="0" anchor="t">
            <a:spAutoFit/>
          </a:bodyPr>
          <a:lstStyle/>
          <a:p>
            <a:pPr algn="ctr"/>
            <a:r>
              <a:rPr b="0" sz="1800" i="0" u="none">
                <a:solidFill>
                  <a:srgbClr val="F8FAFC"/>
                </a:solidFill>
                <a:latin typeface="Space Grotesk SemiBold"/>
              </a:rPr>
              <a:t>Policy Plane</a:t>
            </a:r>
          </a:p>
        </p:txBody>
      </p:sp>
      <p:sp>
        <p:nvSpPr>
          <p:cNvPr id="9" name="TextBox 8"/>
          <p:cNvSpPr txBox="1"/>
          <p:nvPr/>
        </p:nvSpPr>
        <p:spPr>
          <a:xfrm>
            <a:off x="4581525" y="4570214"/>
            <a:ext cx="3028950" cy="731341"/>
          </a:xfrm>
          <a:prstGeom prst="rect">
            <a:avLst/>
          </a:prstGeom>
          <a:noFill/>
        </p:spPr>
        <p:txBody>
          <a:bodyPr wrap="square" lIns="0" rIns="0" tIns="0" bIns="0" anchor="t">
            <a:spAutoFit/>
          </a:bodyPr>
          <a:lstStyle/>
          <a:p>
            <a:pPr algn="ctr">
              <a:lnSpc>
                <a:spcPts val="1920"/>
              </a:lnSpc>
            </a:pPr>
            <a:r>
              <a:rPr b="0" sz="1200" i="0" u="none">
                <a:solidFill>
                  <a:srgbClr val="CBD5E1"/>
                </a:solidFill>
                <a:latin typeface="Inter"/>
              </a:rPr>
              <a:t>Enforces granular security boundaries, executes unguided tasks in MicroVMs, and evaluates organizational rules.</a:t>
            </a:r>
          </a:p>
        </p:txBody>
      </p:sp>
      <p:sp>
        <p:nvSpPr>
          <p:cNvPr id="10" name="TextBox 9"/>
          <p:cNvSpPr txBox="1"/>
          <p:nvPr/>
        </p:nvSpPr>
        <p:spPr>
          <a:xfrm>
            <a:off x="8315801" y="4179689"/>
            <a:ext cx="3180397" cy="295275"/>
          </a:xfrm>
          <a:prstGeom prst="rect">
            <a:avLst/>
          </a:prstGeom>
          <a:noFill/>
        </p:spPr>
        <p:txBody>
          <a:bodyPr wrap="square" lIns="0" rIns="0" tIns="0" bIns="0" anchor="t">
            <a:spAutoFit/>
          </a:bodyPr>
          <a:lstStyle/>
          <a:p>
            <a:pPr algn="ctr"/>
            <a:r>
              <a:rPr b="0" sz="1800" i="0" u="none">
                <a:solidFill>
                  <a:srgbClr val="F8FAFC"/>
                </a:solidFill>
                <a:latin typeface="Space Grotesk SemiBold"/>
              </a:rPr>
              <a:t>Telemetry Plane</a:t>
            </a:r>
          </a:p>
        </p:txBody>
      </p:sp>
      <p:sp>
        <p:nvSpPr>
          <p:cNvPr id="11" name="TextBox 10"/>
          <p:cNvSpPr txBox="1"/>
          <p:nvPr/>
        </p:nvSpPr>
        <p:spPr>
          <a:xfrm>
            <a:off x="8391525" y="4570214"/>
            <a:ext cx="3028950" cy="975121"/>
          </a:xfrm>
          <a:prstGeom prst="rect">
            <a:avLst/>
          </a:prstGeom>
          <a:noFill/>
        </p:spPr>
        <p:txBody>
          <a:bodyPr wrap="square" lIns="0" rIns="0" tIns="0" bIns="0" anchor="t">
            <a:spAutoFit/>
          </a:bodyPr>
          <a:lstStyle/>
          <a:p>
            <a:pPr algn="ctr">
              <a:lnSpc>
                <a:spcPts val="1920"/>
              </a:lnSpc>
            </a:pPr>
            <a:r>
              <a:rPr b="0" sz="1200" i="0" u="none">
                <a:solidFill>
                  <a:srgbClr val="CBD5E1"/>
                </a:solidFill>
                <a:latin typeface="Inter"/>
              </a:rPr>
              <a:t>Emits OpenTelemetry signals, traces prompt paths, manages cost budgets, and tracks immutable execution provenance.</a:t>
            </a:r>
          </a:p>
        </p:txBody>
      </p:sp>
      <p:pic>
        <p:nvPicPr>
          <p:cNvPr id="12" name="Picture 11" descr="image.png"/>
          <p:cNvPicPr>
            <a:picLocks noChangeAspect="1"/>
          </p:cNvPicPr>
          <p:nvPr/>
        </p:nvPicPr>
        <p:blipFill>
          <a:blip r:embed="rId6"/>
          <a:stretch>
            <a:fillRect/>
          </a:stretch>
        </p:blipFill>
        <p:spPr>
          <a:xfrm>
            <a:off x="771525" y="2084189"/>
            <a:ext cx="3028950" cy="1905000"/>
          </a:xfrm>
          <a:prstGeom prst="rect">
            <a:avLst/>
          </a:prstGeom>
        </p:spPr>
      </p:pic>
      <p:pic>
        <p:nvPicPr>
          <p:cNvPr id="13" name="Picture 12" descr="image.png"/>
          <p:cNvPicPr>
            <a:picLocks noChangeAspect="1"/>
          </p:cNvPicPr>
          <p:nvPr/>
        </p:nvPicPr>
        <p:blipFill>
          <a:blip r:embed="rId7"/>
          <a:stretch>
            <a:fillRect/>
          </a:stretch>
        </p:blipFill>
        <p:spPr>
          <a:xfrm>
            <a:off x="4581525" y="2084189"/>
            <a:ext cx="3028950" cy="1905000"/>
          </a:xfrm>
          <a:prstGeom prst="rect">
            <a:avLst/>
          </a:prstGeom>
        </p:spPr>
      </p:pic>
      <p:pic>
        <p:nvPicPr>
          <p:cNvPr id="14" name="Picture 13" descr="image.png"/>
          <p:cNvPicPr>
            <a:picLocks noChangeAspect="1"/>
          </p:cNvPicPr>
          <p:nvPr/>
        </p:nvPicPr>
        <p:blipFill>
          <a:blip r:embed="rId8"/>
          <a:stretch>
            <a:fillRect/>
          </a:stretch>
        </p:blipFill>
        <p:spPr>
          <a:xfrm>
            <a:off x="8391525" y="2084189"/>
            <a:ext cx="3028950" cy="1905000"/>
          </a:xfrm>
          <a:prstGeom prst="rect">
            <a:avLst/>
          </a:prstGeom>
        </p:spPr>
      </p:pic>
      <p:sp>
        <p:nvSpPr>
          <p:cNvPr id="15" name="TextBox 14"/>
          <p:cNvSpPr txBox="1"/>
          <p:nvPr/>
        </p:nvSpPr>
        <p:spPr>
          <a:xfrm>
            <a:off x="571500" y="571500"/>
            <a:ext cx="11601450" cy="533400"/>
          </a:xfrm>
          <a:prstGeom prst="rect">
            <a:avLst/>
          </a:prstGeom>
          <a:noFill/>
        </p:spPr>
        <p:txBody>
          <a:bodyPr wrap="square" lIns="0" rIns="0" tIns="0" bIns="0" anchor="t">
            <a:spAutoFit/>
          </a:bodyPr>
          <a:lstStyle/>
          <a:p>
            <a:pPr algn="l"/>
            <a:r>
              <a:rPr b="1" sz="3300" i="0" u="none">
                <a:solidFill>
                  <a:srgbClr val="F8FAFC"/>
                </a:solidFill>
                <a:latin typeface="Space Grotesk"/>
              </a:rPr>
              <a:t>The Planes of Execution Orchestration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sp>
        <p:nvSpPr>
          <p:cNvPr id="3" name="Rectangle 2"/>
          <p:cNvSpPr/>
          <p:nvPr/>
        </p:nvSpPr>
        <p:spPr>
          <a:xfrm>
            <a:off x="5715000" y="2765077"/>
            <a:ext cx="762000" cy="38100"/>
          </a:xfrm>
          <a:prstGeom prst="rect">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330404" y="3088927"/>
            <a:ext cx="9531191" cy="733425"/>
          </a:xfrm>
          <a:prstGeom prst="rect">
            <a:avLst/>
          </a:prstGeom>
          <a:noFill/>
        </p:spPr>
        <p:txBody>
          <a:bodyPr wrap="square" lIns="0" rIns="0" tIns="0" bIns="0" anchor="t">
            <a:spAutoFit/>
          </a:bodyPr>
          <a:lstStyle/>
          <a:p>
            <a:pPr algn="ctr"/>
            <a:r>
              <a:rPr b="1" sz="4500" i="0" u="none">
                <a:solidFill>
                  <a:srgbClr val="F8FAFC"/>
                </a:solidFill>
                <a:latin typeface="Space Grotesk"/>
              </a:rPr>
              <a:t>Moving Up the Abstraction Layer</a:t>
            </a:r>
          </a:p>
        </p:txBody>
      </p:sp>
      <p:sp>
        <p:nvSpPr>
          <p:cNvPr id="5" name="TextBox 4"/>
          <p:cNvSpPr txBox="1"/>
          <p:nvPr/>
        </p:nvSpPr>
        <p:spPr>
          <a:xfrm>
            <a:off x="2424112" y="4012852"/>
            <a:ext cx="7343775" cy="365670"/>
          </a:xfrm>
          <a:prstGeom prst="rect">
            <a:avLst/>
          </a:prstGeom>
          <a:noFill/>
        </p:spPr>
        <p:txBody>
          <a:bodyPr wrap="square" lIns="0" rIns="0" tIns="0" bIns="0" anchor="t">
            <a:spAutoFit/>
          </a:bodyPr>
          <a:lstStyle/>
          <a:p>
            <a:pPr algn="ctr">
              <a:lnSpc>
                <a:spcPts val="2879"/>
              </a:lnSpc>
            </a:pPr>
            <a:r>
              <a:rPr b="0" sz="1800" i="0" u="none">
                <a:solidFill>
                  <a:srgbClr val="CBD5E1"/>
                </a:solidFill>
                <a:latin typeface="Inter"/>
              </a:rPr>
              <a:t>Don't just build the system. Build the system that builds the system.</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571500" y="4057650"/>
            <a:ext cx="11049000" cy="38100"/>
          </a:xfrm>
          <a:prstGeom prst="rect">
            <a:avLst/>
          </a:prstGeom>
        </p:spPr>
      </p:pic>
      <p:sp>
        <p:nvSpPr>
          <p:cNvPr id="4" name="TextBox 3"/>
          <p:cNvSpPr txBox="1"/>
          <p:nvPr/>
        </p:nvSpPr>
        <p:spPr>
          <a:xfrm>
            <a:off x="507968" y="4410075"/>
            <a:ext cx="2668302" cy="266700"/>
          </a:xfrm>
          <a:prstGeom prst="rect">
            <a:avLst/>
          </a:prstGeom>
          <a:noFill/>
        </p:spPr>
        <p:txBody>
          <a:bodyPr wrap="square" lIns="0" rIns="0" tIns="0" bIns="0" anchor="t">
            <a:spAutoFit/>
          </a:bodyPr>
          <a:lstStyle/>
          <a:p>
            <a:pPr algn="ctr"/>
            <a:r>
              <a:rPr b="0" sz="1650" i="0" u="none">
                <a:solidFill>
                  <a:srgbClr val="38BDF8"/>
                </a:solidFill>
                <a:latin typeface="Space Grotesk SemiBold"/>
              </a:rPr>
              <a:t>Level 1: Agent</a:t>
            </a:r>
          </a:p>
        </p:txBody>
      </p:sp>
      <p:sp>
        <p:nvSpPr>
          <p:cNvPr id="5" name="TextBox 4"/>
          <p:cNvSpPr txBox="1"/>
          <p:nvPr/>
        </p:nvSpPr>
        <p:spPr>
          <a:xfrm>
            <a:off x="571500" y="4772025"/>
            <a:ext cx="2541240" cy="731341"/>
          </a:xfrm>
          <a:prstGeom prst="rect">
            <a:avLst/>
          </a:prstGeom>
          <a:noFill/>
        </p:spPr>
        <p:txBody>
          <a:bodyPr wrap="square" lIns="0" rIns="0" tIns="0" bIns="0" anchor="t">
            <a:spAutoFit/>
          </a:bodyPr>
          <a:lstStyle/>
          <a:p>
            <a:pPr algn="ctr">
              <a:lnSpc>
                <a:spcPts val="1920"/>
              </a:lnSpc>
            </a:pPr>
            <a:r>
              <a:rPr b="0" sz="1200" i="0" u="none">
                <a:solidFill>
                  <a:srgbClr val="CBD5E1"/>
                </a:solidFill>
                <a:latin typeface="Inter"/>
              </a:rPr>
              <a:t>The baseline setup combining a Model, basic Instructions, and raw Tool access.</a:t>
            </a:r>
          </a:p>
        </p:txBody>
      </p:sp>
      <p:sp>
        <p:nvSpPr>
          <p:cNvPr id="6" name="TextBox 5"/>
          <p:cNvSpPr txBox="1"/>
          <p:nvPr/>
        </p:nvSpPr>
        <p:spPr>
          <a:xfrm>
            <a:off x="3343888" y="2507158"/>
            <a:ext cx="2668302" cy="266700"/>
          </a:xfrm>
          <a:prstGeom prst="rect">
            <a:avLst/>
          </a:prstGeom>
          <a:noFill/>
        </p:spPr>
        <p:txBody>
          <a:bodyPr wrap="square" lIns="0" rIns="0" tIns="0" bIns="0" anchor="t">
            <a:spAutoFit/>
          </a:bodyPr>
          <a:lstStyle/>
          <a:p>
            <a:pPr algn="ctr"/>
            <a:r>
              <a:rPr b="0" sz="1650" i="0" u="none">
                <a:solidFill>
                  <a:srgbClr val="38BDF8"/>
                </a:solidFill>
                <a:latin typeface="Space Grotesk SemiBold"/>
              </a:rPr>
              <a:t>Level 2: Harness</a:t>
            </a:r>
          </a:p>
        </p:txBody>
      </p:sp>
      <p:sp>
        <p:nvSpPr>
          <p:cNvPr id="7" name="TextBox 6"/>
          <p:cNvSpPr txBox="1"/>
          <p:nvPr/>
        </p:nvSpPr>
        <p:spPr>
          <a:xfrm>
            <a:off x="3407419" y="2869108"/>
            <a:ext cx="2541240" cy="731341"/>
          </a:xfrm>
          <a:prstGeom prst="rect">
            <a:avLst/>
          </a:prstGeom>
          <a:noFill/>
        </p:spPr>
        <p:txBody>
          <a:bodyPr wrap="square" lIns="0" rIns="0" tIns="0" bIns="0" anchor="t">
            <a:spAutoFit/>
          </a:bodyPr>
          <a:lstStyle/>
          <a:p>
            <a:pPr algn="ctr">
              <a:lnSpc>
                <a:spcPts val="1920"/>
              </a:lnSpc>
            </a:pPr>
            <a:r>
              <a:rPr b="0" sz="1200" i="0" u="none">
                <a:solidFill>
                  <a:srgbClr val="CBD5E1"/>
                </a:solidFill>
                <a:latin typeface="Inter"/>
              </a:rPr>
              <a:t>Agents fortified with Skills, State tracking, Policy engines, and Orchestration loops.</a:t>
            </a:r>
          </a:p>
        </p:txBody>
      </p:sp>
      <p:sp>
        <p:nvSpPr>
          <p:cNvPr id="8" name="TextBox 7"/>
          <p:cNvSpPr txBox="1"/>
          <p:nvPr/>
        </p:nvSpPr>
        <p:spPr>
          <a:xfrm>
            <a:off x="6179808" y="4410075"/>
            <a:ext cx="2668302" cy="266700"/>
          </a:xfrm>
          <a:prstGeom prst="rect">
            <a:avLst/>
          </a:prstGeom>
          <a:noFill/>
        </p:spPr>
        <p:txBody>
          <a:bodyPr wrap="square" lIns="0" rIns="0" tIns="0" bIns="0" anchor="t">
            <a:spAutoFit/>
          </a:bodyPr>
          <a:lstStyle/>
          <a:p>
            <a:pPr algn="ctr"/>
            <a:r>
              <a:rPr b="0" sz="1650" i="0" u="none">
                <a:solidFill>
                  <a:srgbClr val="38BDF8"/>
                </a:solidFill>
                <a:latin typeface="Space Grotesk SemiBold"/>
              </a:rPr>
              <a:t>Level 3: Meta-Harness</a:t>
            </a:r>
          </a:p>
        </p:txBody>
      </p:sp>
      <p:sp>
        <p:nvSpPr>
          <p:cNvPr id="9" name="TextBox 8"/>
          <p:cNvSpPr txBox="1"/>
          <p:nvPr/>
        </p:nvSpPr>
        <p:spPr>
          <a:xfrm>
            <a:off x="6243339" y="4772025"/>
            <a:ext cx="2541240" cy="731341"/>
          </a:xfrm>
          <a:prstGeom prst="rect">
            <a:avLst/>
          </a:prstGeom>
          <a:noFill/>
        </p:spPr>
        <p:txBody>
          <a:bodyPr wrap="square" lIns="0" rIns="0" tIns="0" bIns="0" anchor="t">
            <a:spAutoFit/>
          </a:bodyPr>
          <a:lstStyle/>
          <a:p>
            <a:pPr algn="ctr">
              <a:lnSpc>
                <a:spcPts val="1920"/>
              </a:lnSpc>
            </a:pPr>
            <a:r>
              <a:rPr b="0" sz="1200" i="0" u="none">
                <a:solidFill>
                  <a:srgbClr val="CBD5E1"/>
                </a:solidFill>
                <a:latin typeface="Inter"/>
              </a:rPr>
              <a:t>Higher-level orchestration that dynamically constructs and configures specific Harnesses.</a:t>
            </a:r>
          </a:p>
        </p:txBody>
      </p:sp>
      <p:sp>
        <p:nvSpPr>
          <p:cNvPr id="10" name="TextBox 9"/>
          <p:cNvSpPr txBox="1"/>
          <p:nvPr/>
        </p:nvSpPr>
        <p:spPr>
          <a:xfrm>
            <a:off x="9015728" y="2507158"/>
            <a:ext cx="2668302" cy="266700"/>
          </a:xfrm>
          <a:prstGeom prst="rect">
            <a:avLst/>
          </a:prstGeom>
          <a:noFill/>
        </p:spPr>
        <p:txBody>
          <a:bodyPr wrap="square" lIns="0" rIns="0" tIns="0" bIns="0" anchor="t">
            <a:spAutoFit/>
          </a:bodyPr>
          <a:lstStyle/>
          <a:p>
            <a:pPr algn="ctr"/>
            <a:r>
              <a:rPr b="0" sz="1650" i="0" u="none">
                <a:solidFill>
                  <a:srgbClr val="38BDF8"/>
                </a:solidFill>
                <a:latin typeface="Space Grotesk SemiBold"/>
              </a:rPr>
              <a:t>Level 4: System Factory</a:t>
            </a:r>
          </a:p>
        </p:txBody>
      </p:sp>
      <p:sp>
        <p:nvSpPr>
          <p:cNvPr id="11" name="TextBox 10"/>
          <p:cNvSpPr txBox="1"/>
          <p:nvPr/>
        </p:nvSpPr>
        <p:spPr>
          <a:xfrm>
            <a:off x="9079259" y="2869108"/>
            <a:ext cx="2541240" cy="731341"/>
          </a:xfrm>
          <a:prstGeom prst="rect">
            <a:avLst/>
          </a:prstGeom>
          <a:noFill/>
        </p:spPr>
        <p:txBody>
          <a:bodyPr wrap="square" lIns="0" rIns="0" tIns="0" bIns="0" anchor="t">
            <a:spAutoFit/>
          </a:bodyPr>
          <a:lstStyle/>
          <a:p>
            <a:pPr algn="ctr">
              <a:lnSpc>
                <a:spcPts val="1920"/>
              </a:lnSpc>
            </a:pPr>
            <a:r>
              <a:rPr b="0" sz="1200" i="0" u="none">
                <a:solidFill>
                  <a:srgbClr val="CBD5E1"/>
                </a:solidFill>
                <a:latin typeface="Inter"/>
              </a:rPr>
              <a:t>Automated architectures that determine which systems to build for specific complex objectives.</a:t>
            </a:r>
          </a:p>
        </p:txBody>
      </p:sp>
      <p:sp>
        <p:nvSpPr>
          <p:cNvPr id="12" name="Rounded Rectangle 11"/>
          <p:cNvSpPr/>
          <p:nvPr/>
        </p:nvSpPr>
        <p:spPr>
          <a:xfrm>
            <a:off x="1727820" y="3962400"/>
            <a:ext cx="228600" cy="228600"/>
          </a:xfrm>
          <a:prstGeom prst="roundRect">
            <a:avLst>
              <a:gd name="adj" fmla="val 50000"/>
            </a:avLst>
          </a:prstGeom>
          <a:solidFill>
            <a:srgbClr val="0F172A"/>
          </a:solidFill>
          <a:ln w="381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563740" y="3962400"/>
            <a:ext cx="228600" cy="228600"/>
          </a:xfrm>
          <a:prstGeom prst="roundRect">
            <a:avLst>
              <a:gd name="adj" fmla="val 50000"/>
            </a:avLst>
          </a:prstGeom>
          <a:solidFill>
            <a:srgbClr val="0F172A"/>
          </a:solidFill>
          <a:ln w="381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7399659" y="3962400"/>
            <a:ext cx="228600" cy="228600"/>
          </a:xfrm>
          <a:prstGeom prst="roundRect">
            <a:avLst>
              <a:gd name="adj" fmla="val 50000"/>
            </a:avLst>
          </a:prstGeom>
          <a:solidFill>
            <a:srgbClr val="0F172A"/>
          </a:solidFill>
          <a:ln w="381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10235579" y="3962400"/>
            <a:ext cx="228600" cy="228600"/>
          </a:xfrm>
          <a:prstGeom prst="roundRect">
            <a:avLst>
              <a:gd name="adj" fmla="val 50000"/>
            </a:avLst>
          </a:prstGeom>
          <a:solidFill>
            <a:srgbClr val="0F172A"/>
          </a:solidFill>
          <a:ln w="381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71500" y="571500"/>
            <a:ext cx="11601450" cy="533400"/>
          </a:xfrm>
          <a:prstGeom prst="rect">
            <a:avLst/>
          </a:prstGeom>
          <a:noFill/>
        </p:spPr>
        <p:txBody>
          <a:bodyPr wrap="square" lIns="0" rIns="0" tIns="0" bIns="0" anchor="t">
            <a:spAutoFit/>
          </a:bodyPr>
          <a:lstStyle/>
          <a:p>
            <a:pPr algn="l"/>
            <a:r>
              <a:rPr b="1" sz="3300" i="0" u="none">
                <a:solidFill>
                  <a:srgbClr val="F8FAFC"/>
                </a:solidFill>
                <a:latin typeface="Space Grotesk"/>
              </a:rPr>
              <a:t>The Path to System Factories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571500" y="571500"/>
            <a:ext cx="5550693" cy="533400"/>
          </a:xfrm>
          <a:prstGeom prst="rect">
            <a:avLst/>
          </a:prstGeom>
          <a:noFill/>
        </p:spPr>
        <p:txBody>
          <a:bodyPr wrap="square" lIns="0" rIns="0" tIns="0" bIns="0" anchor="t">
            <a:spAutoFit/>
          </a:bodyPr>
          <a:lstStyle/>
          <a:p>
            <a:pPr algn="l"/>
            <a:r>
              <a:rPr b="1" sz="3300" i="0" u="none">
                <a:solidFill>
                  <a:srgbClr val="F8FAFC"/>
                </a:solidFill>
                <a:latin typeface="Space Grotesk"/>
              </a:rPr>
              <a:t>The Data Flywheel</a:t>
            </a:r>
          </a:p>
        </p:txBody>
      </p:sp>
      <p:pic>
        <p:nvPicPr>
          <p:cNvPr id="4" name="Picture 3" descr="image.png"/>
          <p:cNvPicPr>
            <a:picLocks noChangeAspect="1"/>
          </p:cNvPicPr>
          <p:nvPr/>
        </p:nvPicPr>
        <p:blipFill>
          <a:blip r:embed="rId3"/>
          <a:stretch>
            <a:fillRect/>
          </a:stretch>
        </p:blipFill>
        <p:spPr>
          <a:xfrm>
            <a:off x="6334125" y="0"/>
            <a:ext cx="5857875" cy="6858000"/>
          </a:xfrm>
          <a:prstGeom prst="rect">
            <a:avLst/>
          </a:prstGeom>
        </p:spPr>
      </p:pic>
      <p:sp>
        <p:nvSpPr>
          <p:cNvPr id="5" name="TextBox 4"/>
          <p:cNvSpPr txBox="1"/>
          <p:nvPr/>
        </p:nvSpPr>
        <p:spPr>
          <a:xfrm>
            <a:off x="571500" y="2104132"/>
            <a:ext cx="5550693" cy="381000"/>
          </a:xfrm>
          <a:prstGeom prst="rect">
            <a:avLst/>
          </a:prstGeom>
          <a:noFill/>
        </p:spPr>
        <p:txBody>
          <a:bodyPr wrap="square" lIns="0" rIns="0" tIns="0" bIns="0" anchor="t">
            <a:spAutoFit/>
          </a:bodyPr>
          <a:lstStyle/>
          <a:p>
            <a:pPr algn="l"/>
            <a:r>
              <a:rPr b="0" sz="2400" i="0" u="none">
                <a:solidFill>
                  <a:srgbClr val="38BDF8"/>
                </a:solidFill>
                <a:latin typeface="Space Grotesk SemiBold"/>
              </a:rPr>
              <a:t>Continuous Learning Loops</a:t>
            </a:r>
          </a:p>
        </p:txBody>
      </p:sp>
      <p:sp>
        <p:nvSpPr>
          <p:cNvPr id="6" name="TextBox 5"/>
          <p:cNvSpPr txBox="1"/>
          <p:nvPr/>
        </p:nvSpPr>
        <p:spPr>
          <a:xfrm>
            <a:off x="571500" y="2628007"/>
            <a:ext cx="5286375" cy="822870"/>
          </a:xfrm>
          <a:prstGeom prst="rect">
            <a:avLst/>
          </a:prstGeom>
          <a:noFill/>
        </p:spPr>
        <p:txBody>
          <a:bodyPr wrap="square" lIns="0" rIns="0" tIns="0" bIns="0" anchor="t">
            <a:spAutoFit/>
          </a:bodyPr>
          <a:lstStyle/>
          <a:p>
            <a:pPr algn="l">
              <a:lnSpc>
                <a:spcPts val="2160"/>
              </a:lnSpc>
            </a:pPr>
            <a:r>
              <a:rPr b="0" sz="1350" i="0" u="none">
                <a:solidFill>
                  <a:srgbClr val="CBD5E1"/>
                </a:solidFill>
                <a:latin typeface="Inter"/>
              </a:rPr>
              <a:t>Teams often treat the LLM as a magic bullet rather than implementing continuous evaluation traces. A custom harness changes this dynamic.</a:t>
            </a:r>
          </a:p>
        </p:txBody>
      </p:sp>
      <p:sp>
        <p:nvSpPr>
          <p:cNvPr id="7" name="TextBox 6"/>
          <p:cNvSpPr txBox="1"/>
          <p:nvPr/>
        </p:nvSpPr>
        <p:spPr>
          <a:xfrm>
            <a:off x="571500" y="3641377"/>
            <a:ext cx="5286375" cy="822870"/>
          </a:xfrm>
          <a:prstGeom prst="rect">
            <a:avLst/>
          </a:prstGeom>
          <a:noFill/>
        </p:spPr>
        <p:txBody>
          <a:bodyPr wrap="square" lIns="0" rIns="0" tIns="0" bIns="0" anchor="t">
            <a:spAutoFit/>
          </a:bodyPr>
          <a:lstStyle/>
          <a:p>
            <a:pPr algn="l">
              <a:lnSpc>
                <a:spcPts val="2160"/>
              </a:lnSpc>
            </a:pPr>
            <a:r>
              <a:rPr b="0" sz="1350" i="0" u="none">
                <a:solidFill>
                  <a:srgbClr val="CBD5E1"/>
                </a:solidFill>
                <a:latin typeface="Inter"/>
              </a:rPr>
              <a:t>By capturing telemetry on tool-call success rates, latency, and task completion, harnesses enable private evaluations and robust benchmarking.</a:t>
            </a:r>
          </a:p>
        </p:txBody>
      </p:sp>
      <p:sp>
        <p:nvSpPr>
          <p:cNvPr id="8" name="TextBox 7"/>
          <p:cNvSpPr txBox="1"/>
          <p:nvPr/>
        </p:nvSpPr>
        <p:spPr>
          <a:xfrm>
            <a:off x="571500" y="4654748"/>
            <a:ext cx="5286375" cy="822870"/>
          </a:xfrm>
          <a:prstGeom prst="rect">
            <a:avLst/>
          </a:prstGeom>
          <a:noFill/>
        </p:spPr>
        <p:txBody>
          <a:bodyPr wrap="square" lIns="0" rIns="0" tIns="0" bIns="0" anchor="t">
            <a:spAutoFit/>
          </a:bodyPr>
          <a:lstStyle/>
          <a:p>
            <a:pPr algn="l">
              <a:lnSpc>
                <a:spcPts val="2160"/>
              </a:lnSpc>
            </a:pPr>
            <a:r>
              <a:rPr b="0" sz="1350" i="0" u="none">
                <a:solidFill>
                  <a:srgbClr val="CBD5E1"/>
                </a:solidFill>
                <a:latin typeface="Inter"/>
              </a:rPr>
              <a:t>This data feeds directly into fine-tuning Small Language Models (SLMs), creating a compounding value cycle that transforms fragile AI into durable, self-improving enterprise systems.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3009900" y="4240410"/>
            <a:ext cx="6172200" cy="523875"/>
          </a:xfrm>
          <a:prstGeom prst="rect">
            <a:avLst/>
          </a:prstGeom>
        </p:spPr>
      </p:pic>
      <p:sp>
        <p:nvSpPr>
          <p:cNvPr id="4" name="TextBox 3"/>
          <p:cNvSpPr txBox="1"/>
          <p:nvPr/>
        </p:nvSpPr>
        <p:spPr>
          <a:xfrm>
            <a:off x="295275" y="2093565"/>
            <a:ext cx="11601450" cy="971550"/>
          </a:xfrm>
          <a:prstGeom prst="rect">
            <a:avLst/>
          </a:prstGeom>
          <a:noFill/>
        </p:spPr>
        <p:txBody>
          <a:bodyPr wrap="square" lIns="0" rIns="0" tIns="0" bIns="0" anchor="t">
            <a:spAutoFit/>
          </a:bodyPr>
          <a:lstStyle/>
          <a:p>
            <a:pPr algn="ctr"/>
            <a:r>
              <a:rPr b="1" sz="6000" i="0" u="none">
                <a:solidFill>
                  <a:srgbClr val="F8FAFC"/>
                </a:solidFill>
                <a:latin typeface="Space Grotesk"/>
              </a:rPr>
              <a:t>Questions?</a:t>
            </a:r>
          </a:p>
        </p:txBody>
      </p:sp>
      <p:sp>
        <p:nvSpPr>
          <p:cNvPr id="5" name="TextBox 4"/>
          <p:cNvSpPr txBox="1"/>
          <p:nvPr/>
        </p:nvSpPr>
        <p:spPr>
          <a:xfrm>
            <a:off x="571500" y="3255615"/>
            <a:ext cx="11049000" cy="365670"/>
          </a:xfrm>
          <a:prstGeom prst="rect">
            <a:avLst/>
          </a:prstGeom>
          <a:noFill/>
        </p:spPr>
        <p:txBody>
          <a:bodyPr wrap="square" lIns="0" rIns="0" tIns="0" bIns="0" anchor="t">
            <a:spAutoFit/>
          </a:bodyPr>
          <a:lstStyle/>
          <a:p>
            <a:pPr algn="ctr">
              <a:lnSpc>
                <a:spcPts val="2879"/>
              </a:lnSpc>
            </a:pPr>
            <a:r>
              <a:rPr b="0" sz="1800" i="0" u="none">
                <a:solidFill>
                  <a:srgbClr val="94A3B8"/>
                </a:solidFill>
                <a:latin typeface="Inter"/>
              </a:rPr>
              <a:t>Thank you for exploring the future of Agentic Architecture.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sp>
        <p:nvSpPr>
          <p:cNvPr id="3" name="Rectangle 2"/>
          <p:cNvSpPr/>
          <p:nvPr/>
        </p:nvSpPr>
        <p:spPr>
          <a:xfrm>
            <a:off x="571500" y="1730871"/>
            <a:ext cx="11049000" cy="9828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71500" y="2713732"/>
            <a:ext cx="11049000" cy="78477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71500" y="3498502"/>
            <a:ext cx="11049000" cy="78477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71500" y="4283273"/>
            <a:ext cx="11049000" cy="9828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71500" y="2704207"/>
            <a:ext cx="11049000" cy="9525"/>
          </a:xfrm>
          <a:prstGeom prst="rect">
            <a:avLst/>
          </a:prstGeom>
          <a:solidFill>
            <a:srgbClr val="7575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71500" y="2704207"/>
            <a:ext cx="11049000" cy="9525"/>
          </a:xfrm>
          <a:prstGeom prst="rect">
            <a:avLst/>
          </a:prstGeom>
          <a:solidFill>
            <a:srgbClr val="7575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71500" y="3488977"/>
            <a:ext cx="11049000" cy="9525"/>
          </a:xfrm>
          <a:prstGeom prst="rect">
            <a:avLst/>
          </a:prstGeom>
          <a:solidFill>
            <a:srgbClr val="7575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71500" y="3488977"/>
            <a:ext cx="11049000" cy="9525"/>
          </a:xfrm>
          <a:prstGeom prst="rect">
            <a:avLst/>
          </a:prstGeom>
          <a:solidFill>
            <a:srgbClr val="7575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71500" y="4273748"/>
            <a:ext cx="11049000" cy="9525"/>
          </a:xfrm>
          <a:prstGeom prst="rect">
            <a:avLst/>
          </a:prstGeom>
          <a:solidFill>
            <a:srgbClr val="7575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71500" y="4273748"/>
            <a:ext cx="11049000" cy="9525"/>
          </a:xfrm>
          <a:prstGeom prst="rect">
            <a:avLst/>
          </a:prstGeom>
          <a:solidFill>
            <a:srgbClr val="7575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71500" y="5256609"/>
            <a:ext cx="11049000" cy="9525"/>
          </a:xfrm>
          <a:prstGeom prst="rect">
            <a:avLst/>
          </a:prstGeom>
          <a:solidFill>
            <a:srgbClr val="7575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71500" y="5256609"/>
            <a:ext cx="11049000" cy="9525"/>
          </a:xfrm>
          <a:prstGeom prst="rect">
            <a:avLst/>
          </a:prstGeom>
          <a:solidFill>
            <a:srgbClr val="7575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image.png"/>
          <p:cNvPicPr>
            <a:picLocks noChangeAspect="1"/>
          </p:cNvPicPr>
          <p:nvPr/>
        </p:nvPicPr>
        <p:blipFill>
          <a:blip r:embed="rId3"/>
          <a:stretch>
            <a:fillRect/>
          </a:stretch>
        </p:blipFill>
        <p:spPr>
          <a:xfrm>
            <a:off x="571500" y="1979414"/>
            <a:ext cx="857250" cy="476250"/>
          </a:xfrm>
          <a:prstGeom prst="rect">
            <a:avLst/>
          </a:prstGeom>
        </p:spPr>
      </p:pic>
      <p:sp>
        <p:nvSpPr>
          <p:cNvPr id="16" name="TextBox 15"/>
          <p:cNvSpPr txBox="1"/>
          <p:nvPr/>
        </p:nvSpPr>
        <p:spPr>
          <a:xfrm>
            <a:off x="1666875" y="1873746"/>
            <a:ext cx="9953625" cy="396180"/>
          </a:xfrm>
          <a:prstGeom prst="rect">
            <a:avLst/>
          </a:prstGeom>
          <a:noFill/>
        </p:spPr>
        <p:txBody>
          <a:bodyPr wrap="square" lIns="0" rIns="0" tIns="0" bIns="0" anchor="t">
            <a:spAutoFit/>
          </a:bodyPr>
          <a:lstStyle/>
          <a:p>
            <a:pPr algn="l">
              <a:lnSpc>
                <a:spcPts val="1560"/>
              </a:lnSpc>
            </a:pPr>
            <a:r>
              <a:rPr b="0" sz="975" i="0" u="none">
                <a:solidFill>
                  <a:srgbClr val="CBD5E1"/>
                </a:solidFill>
                <a:latin typeface="Inter"/>
              </a:rPr>
              <a:t>https://preview.redd.it/claudes-unprompted-self-portrait-run-the-same-prompt-and-v0-5iqqpvrajvyg1.png?width=640&amp;crop=smart&amp;auto=webp&amp;s=ca4b975a798f1a188c7a24b81695974dabd3f474</a:t>
            </a:r>
          </a:p>
        </p:txBody>
      </p:sp>
      <p:sp>
        <p:nvSpPr>
          <p:cNvPr id="17" name="TextBox 16"/>
          <p:cNvSpPr txBox="1"/>
          <p:nvPr/>
        </p:nvSpPr>
        <p:spPr>
          <a:xfrm>
            <a:off x="1666875" y="2317551"/>
            <a:ext cx="9953625" cy="243780"/>
          </a:xfrm>
          <a:prstGeom prst="rect">
            <a:avLst/>
          </a:prstGeom>
          <a:noFill/>
        </p:spPr>
        <p:txBody>
          <a:bodyPr wrap="square" lIns="0" rIns="0" tIns="0" bIns="0" anchor="t">
            <a:spAutoFit/>
          </a:bodyPr>
          <a:lstStyle/>
          <a:p>
            <a:pPr algn="l">
              <a:lnSpc>
                <a:spcPts val="1920"/>
              </a:lnSpc>
            </a:pPr>
            <a:r>
              <a:rPr b="0" sz="1200" i="0" u="none">
                <a:solidFill>
                  <a:srgbClr val="CBD5E1"/>
                </a:solidFill>
                <a:latin typeface="Inter"/>
              </a:rPr>
              <a:t>Source: </a:t>
            </a:r>
            <a:r>
              <a:rPr b="0" sz="1200" i="0" u="none">
                <a:solidFill>
                  <a:srgbClr val="4F46E5"/>
                </a:solidFill>
                <a:latin typeface="Inter"/>
              </a:rPr>
              <a:t>www.reddit.com</a:t>
            </a:r>
          </a:p>
        </p:txBody>
      </p:sp>
      <p:pic>
        <p:nvPicPr>
          <p:cNvPr id="18" name="Picture 17" descr="image.png"/>
          <p:cNvPicPr>
            <a:picLocks noChangeAspect="1"/>
          </p:cNvPicPr>
          <p:nvPr/>
        </p:nvPicPr>
        <p:blipFill>
          <a:blip r:embed="rId4"/>
          <a:stretch>
            <a:fillRect/>
          </a:stretch>
        </p:blipFill>
        <p:spPr>
          <a:xfrm>
            <a:off x="571500" y="2863155"/>
            <a:ext cx="857250" cy="476250"/>
          </a:xfrm>
          <a:prstGeom prst="rect">
            <a:avLst/>
          </a:prstGeom>
        </p:spPr>
      </p:pic>
      <p:sp>
        <p:nvSpPr>
          <p:cNvPr id="19" name="TextBox 18"/>
          <p:cNvSpPr txBox="1"/>
          <p:nvPr/>
        </p:nvSpPr>
        <p:spPr>
          <a:xfrm>
            <a:off x="1666875" y="2856607"/>
            <a:ext cx="9953625" cy="198090"/>
          </a:xfrm>
          <a:prstGeom prst="rect">
            <a:avLst/>
          </a:prstGeom>
          <a:noFill/>
        </p:spPr>
        <p:txBody>
          <a:bodyPr wrap="square" lIns="0" rIns="0" tIns="0" bIns="0" anchor="t">
            <a:spAutoFit/>
          </a:bodyPr>
          <a:lstStyle/>
          <a:p>
            <a:pPr algn="l">
              <a:lnSpc>
                <a:spcPts val="1560"/>
              </a:lnSpc>
            </a:pPr>
            <a:r>
              <a:rPr b="0" sz="975" i="0" u="none">
                <a:solidFill>
                  <a:srgbClr val="CBD5E1"/>
                </a:solidFill>
                <a:latin typeface="Inter"/>
              </a:rPr>
              <a:t>https://derivative.ca/sites/default/files/styles/content_colorbox/public/field/body-images/radial2.jpeg</a:t>
            </a:r>
          </a:p>
        </p:txBody>
      </p:sp>
      <p:sp>
        <p:nvSpPr>
          <p:cNvPr id="20" name="TextBox 19"/>
          <p:cNvSpPr txBox="1"/>
          <p:nvPr/>
        </p:nvSpPr>
        <p:spPr>
          <a:xfrm>
            <a:off x="1666875" y="3102322"/>
            <a:ext cx="9953625" cy="243780"/>
          </a:xfrm>
          <a:prstGeom prst="rect">
            <a:avLst/>
          </a:prstGeom>
          <a:noFill/>
        </p:spPr>
        <p:txBody>
          <a:bodyPr wrap="square" lIns="0" rIns="0" tIns="0" bIns="0" anchor="t">
            <a:spAutoFit/>
          </a:bodyPr>
          <a:lstStyle/>
          <a:p>
            <a:pPr algn="l">
              <a:lnSpc>
                <a:spcPts val="1920"/>
              </a:lnSpc>
            </a:pPr>
            <a:r>
              <a:rPr b="0" sz="1200" i="0" u="none">
                <a:solidFill>
                  <a:srgbClr val="CBD5E1"/>
                </a:solidFill>
                <a:latin typeface="Inter"/>
              </a:rPr>
              <a:t>Source: </a:t>
            </a:r>
            <a:r>
              <a:rPr b="0" sz="1200" i="0" u="none">
                <a:solidFill>
                  <a:srgbClr val="4F46E5"/>
                </a:solidFill>
                <a:latin typeface="Inter"/>
              </a:rPr>
              <a:t>derivative.ca</a:t>
            </a:r>
          </a:p>
        </p:txBody>
      </p:sp>
      <p:pic>
        <p:nvPicPr>
          <p:cNvPr id="21" name="Picture 20" descr="image.png"/>
          <p:cNvPicPr>
            <a:picLocks noChangeAspect="1"/>
          </p:cNvPicPr>
          <p:nvPr/>
        </p:nvPicPr>
        <p:blipFill>
          <a:blip r:embed="rId5"/>
          <a:stretch>
            <a:fillRect/>
          </a:stretch>
        </p:blipFill>
        <p:spPr>
          <a:xfrm>
            <a:off x="571500" y="3647926"/>
            <a:ext cx="857250" cy="476250"/>
          </a:xfrm>
          <a:prstGeom prst="rect">
            <a:avLst/>
          </a:prstGeom>
        </p:spPr>
      </p:pic>
      <p:sp>
        <p:nvSpPr>
          <p:cNvPr id="22" name="TextBox 21"/>
          <p:cNvSpPr txBox="1"/>
          <p:nvPr/>
        </p:nvSpPr>
        <p:spPr>
          <a:xfrm>
            <a:off x="1666875" y="3641377"/>
            <a:ext cx="9953625" cy="198090"/>
          </a:xfrm>
          <a:prstGeom prst="rect">
            <a:avLst/>
          </a:prstGeom>
          <a:noFill/>
        </p:spPr>
        <p:txBody>
          <a:bodyPr wrap="square" lIns="0" rIns="0" tIns="0" bIns="0" anchor="t">
            <a:spAutoFit/>
          </a:bodyPr>
          <a:lstStyle/>
          <a:p>
            <a:pPr algn="l">
              <a:lnSpc>
                <a:spcPts val="1560"/>
              </a:lnSpc>
            </a:pPr>
            <a:r>
              <a:rPr b="0" sz="975" i="0" u="none">
                <a:solidFill>
                  <a:srgbClr val="CBD5E1"/>
                </a:solidFill>
                <a:latin typeface="Inter"/>
              </a:rPr>
              <a:t>https://media.craiyon.com/2025-08-18/9hVZF9DQSVGauFB6RgwSpw.webp</a:t>
            </a:r>
          </a:p>
        </p:txBody>
      </p:sp>
      <p:sp>
        <p:nvSpPr>
          <p:cNvPr id="23" name="TextBox 22"/>
          <p:cNvSpPr txBox="1"/>
          <p:nvPr/>
        </p:nvSpPr>
        <p:spPr>
          <a:xfrm>
            <a:off x="1666875" y="3887092"/>
            <a:ext cx="9953625" cy="243780"/>
          </a:xfrm>
          <a:prstGeom prst="rect">
            <a:avLst/>
          </a:prstGeom>
          <a:noFill/>
        </p:spPr>
        <p:txBody>
          <a:bodyPr wrap="square" lIns="0" rIns="0" tIns="0" bIns="0" anchor="t">
            <a:spAutoFit/>
          </a:bodyPr>
          <a:lstStyle/>
          <a:p>
            <a:pPr algn="l">
              <a:lnSpc>
                <a:spcPts val="1920"/>
              </a:lnSpc>
            </a:pPr>
            <a:r>
              <a:rPr b="0" sz="1200" i="0" u="none">
                <a:solidFill>
                  <a:srgbClr val="CBD5E1"/>
                </a:solidFill>
                <a:latin typeface="Inter"/>
              </a:rPr>
              <a:t>Source: </a:t>
            </a:r>
            <a:r>
              <a:rPr b="0" sz="1200" i="0" u="none">
                <a:solidFill>
                  <a:srgbClr val="4F46E5"/>
                </a:solidFill>
                <a:latin typeface="Inter"/>
              </a:rPr>
              <a:t>www.craiyon.com</a:t>
            </a:r>
          </a:p>
        </p:txBody>
      </p:sp>
      <p:pic>
        <p:nvPicPr>
          <p:cNvPr id="24" name="Picture 23" descr="image.png"/>
          <p:cNvPicPr>
            <a:picLocks noChangeAspect="1"/>
          </p:cNvPicPr>
          <p:nvPr/>
        </p:nvPicPr>
        <p:blipFill>
          <a:blip r:embed="rId6"/>
          <a:stretch>
            <a:fillRect/>
          </a:stretch>
        </p:blipFill>
        <p:spPr>
          <a:xfrm>
            <a:off x="571500" y="4531816"/>
            <a:ext cx="857250" cy="476250"/>
          </a:xfrm>
          <a:prstGeom prst="rect">
            <a:avLst/>
          </a:prstGeom>
        </p:spPr>
      </p:pic>
      <p:sp>
        <p:nvSpPr>
          <p:cNvPr id="25" name="TextBox 24"/>
          <p:cNvSpPr txBox="1"/>
          <p:nvPr/>
        </p:nvSpPr>
        <p:spPr>
          <a:xfrm>
            <a:off x="1666875" y="4426148"/>
            <a:ext cx="9953625" cy="396180"/>
          </a:xfrm>
          <a:prstGeom prst="rect">
            <a:avLst/>
          </a:prstGeom>
          <a:noFill/>
        </p:spPr>
        <p:txBody>
          <a:bodyPr wrap="square" lIns="0" rIns="0" tIns="0" bIns="0" anchor="t">
            <a:spAutoFit/>
          </a:bodyPr>
          <a:lstStyle/>
          <a:p>
            <a:pPr algn="l">
              <a:lnSpc>
                <a:spcPts val="1560"/>
              </a:lnSpc>
            </a:pPr>
            <a:r>
              <a:rPr b="0" sz="975" i="0" u="none">
                <a:solidFill>
                  <a:srgbClr val="CBD5E1"/>
                </a:solidFill>
                <a:latin typeface="Inter"/>
              </a:rPr>
              <a:t>https://img.magnific.com/premium-vector/dashboard-displays-system-data-performance-metrics-analysis-tech-environment-scheduled-review_520737-17054.jpg?semt=ais_hybrid&amp;w=740&amp;q=80</a:t>
            </a:r>
          </a:p>
        </p:txBody>
      </p:sp>
      <p:sp>
        <p:nvSpPr>
          <p:cNvPr id="26" name="TextBox 25"/>
          <p:cNvSpPr txBox="1"/>
          <p:nvPr/>
        </p:nvSpPr>
        <p:spPr>
          <a:xfrm>
            <a:off x="1666875" y="4869953"/>
            <a:ext cx="9953625" cy="243780"/>
          </a:xfrm>
          <a:prstGeom prst="rect">
            <a:avLst/>
          </a:prstGeom>
          <a:noFill/>
        </p:spPr>
        <p:txBody>
          <a:bodyPr wrap="square" lIns="0" rIns="0" tIns="0" bIns="0" anchor="t">
            <a:spAutoFit/>
          </a:bodyPr>
          <a:lstStyle/>
          <a:p>
            <a:pPr algn="l">
              <a:lnSpc>
                <a:spcPts val="1920"/>
              </a:lnSpc>
            </a:pPr>
            <a:r>
              <a:rPr b="0" sz="1200" i="0" u="none">
                <a:solidFill>
                  <a:srgbClr val="CBD5E1"/>
                </a:solidFill>
                <a:latin typeface="Inter"/>
              </a:rPr>
              <a:t>Source: </a:t>
            </a:r>
            <a:r>
              <a:rPr b="0" sz="1200" i="0" u="none">
                <a:solidFill>
                  <a:srgbClr val="4F46E5"/>
                </a:solidFill>
                <a:latin typeface="Inter"/>
              </a:rPr>
              <a:t>www.magnific.com</a:t>
            </a:r>
          </a:p>
        </p:txBody>
      </p:sp>
      <p:pic>
        <p:nvPicPr>
          <p:cNvPr id="27" name="Picture 26" descr="image.png"/>
          <p:cNvPicPr>
            <a:picLocks noChangeAspect="1"/>
          </p:cNvPicPr>
          <p:nvPr/>
        </p:nvPicPr>
        <p:blipFill>
          <a:blip r:embed="rId7"/>
          <a:stretch>
            <a:fillRect/>
          </a:stretch>
        </p:blipFill>
        <p:spPr>
          <a:xfrm>
            <a:off x="571500" y="5415557"/>
            <a:ext cx="857250" cy="476250"/>
          </a:xfrm>
          <a:prstGeom prst="rect">
            <a:avLst/>
          </a:prstGeom>
        </p:spPr>
      </p:pic>
      <p:sp>
        <p:nvSpPr>
          <p:cNvPr id="28" name="TextBox 27"/>
          <p:cNvSpPr txBox="1"/>
          <p:nvPr/>
        </p:nvSpPr>
        <p:spPr>
          <a:xfrm>
            <a:off x="1666875" y="5409009"/>
            <a:ext cx="9953625" cy="198090"/>
          </a:xfrm>
          <a:prstGeom prst="rect">
            <a:avLst/>
          </a:prstGeom>
          <a:noFill/>
        </p:spPr>
        <p:txBody>
          <a:bodyPr wrap="square" lIns="0" rIns="0" tIns="0" bIns="0" anchor="t">
            <a:spAutoFit/>
          </a:bodyPr>
          <a:lstStyle/>
          <a:p>
            <a:pPr algn="l">
              <a:lnSpc>
                <a:spcPts val="1560"/>
              </a:lnSpc>
            </a:pPr>
            <a:r>
              <a:rPr b="0" sz="975" i="0" u="none">
                <a:solidFill>
                  <a:srgbClr val="CBD5E1"/>
                </a:solidFill>
                <a:latin typeface="Inter"/>
              </a:rPr>
              <a:t>https://www.scienceabbey.com/wp-content/uploads/2025/06/the-science-of-energy.png</a:t>
            </a:r>
          </a:p>
        </p:txBody>
      </p:sp>
      <p:sp>
        <p:nvSpPr>
          <p:cNvPr id="29" name="TextBox 28"/>
          <p:cNvSpPr txBox="1"/>
          <p:nvPr/>
        </p:nvSpPr>
        <p:spPr>
          <a:xfrm>
            <a:off x="1666875" y="5654724"/>
            <a:ext cx="9953625" cy="243780"/>
          </a:xfrm>
          <a:prstGeom prst="rect">
            <a:avLst/>
          </a:prstGeom>
          <a:noFill/>
        </p:spPr>
        <p:txBody>
          <a:bodyPr wrap="square" lIns="0" rIns="0" tIns="0" bIns="0" anchor="t">
            <a:spAutoFit/>
          </a:bodyPr>
          <a:lstStyle/>
          <a:p>
            <a:pPr algn="l">
              <a:lnSpc>
                <a:spcPts val="1920"/>
              </a:lnSpc>
            </a:pPr>
            <a:r>
              <a:rPr b="0" sz="1200" i="0" u="none">
                <a:solidFill>
                  <a:srgbClr val="CBD5E1"/>
                </a:solidFill>
                <a:latin typeface="Inter"/>
              </a:rPr>
              <a:t>Source: </a:t>
            </a:r>
            <a:r>
              <a:rPr b="0" sz="1200" i="0" u="none">
                <a:solidFill>
                  <a:srgbClr val="4F46E5"/>
                </a:solidFill>
                <a:latin typeface="Inter"/>
              </a:rPr>
              <a:t>www.scienceabbey.com</a:t>
            </a:r>
          </a:p>
        </p:txBody>
      </p:sp>
      <p:sp>
        <p:nvSpPr>
          <p:cNvPr id="30" name="TextBox 29"/>
          <p:cNvSpPr txBox="1"/>
          <p:nvPr/>
        </p:nvSpPr>
        <p:spPr>
          <a:xfrm>
            <a:off x="571500" y="571500"/>
            <a:ext cx="11601450" cy="533400"/>
          </a:xfrm>
          <a:prstGeom prst="rect">
            <a:avLst/>
          </a:prstGeom>
          <a:noFill/>
        </p:spPr>
        <p:txBody>
          <a:bodyPr wrap="square" lIns="0" rIns="0" tIns="0" bIns="0" anchor="t">
            <a:spAutoFit/>
          </a:bodyPr>
          <a:lstStyle/>
          <a:p>
            <a:pPr algn="l"/>
            <a:r>
              <a:rPr b="1" sz="3300" i="0" u="none">
                <a:solidFill>
                  <a:srgbClr val="F8FAFC"/>
                </a:solidFill>
                <a:latin typeface="Space Grotesk"/>
              </a:rPr>
              <a:t>Image Sources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